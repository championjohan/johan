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A5E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0A2A5E"/>
                </a:solidFill>
                <a:latin typeface="맑은 고딕"/>
              </a:rPr>
              <a:t>연간 등록금 상한 비교 (만원)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등록금</c:v>
                </c:pt>
              </c:strCache>
            </c:strRef>
          </c:tx>
          <c:spPr>
            <a:solidFill>
              <a:srgbClr val="1640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40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40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40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D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B30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한양대</c:v>
                  </c:pt>
                  <c:pt idx="1">
                    <c:v>한동대</c:v>
                  </c:pt>
                  <c:pt idx="2">
                    <c:v>전남대</c:v>
                  </c:pt>
                  <c:pt idx="3">
                    <c:v>테일러스</c:v>
                  </c:pt>
                  <c:pt idx="4">
                    <c:v>선웨이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</c:v>
                </c:pt>
                <c:pt idx="1">
                  <c:v>800</c:v>
                </c:pt>
                <c:pt idx="2">
                  <c:v>500</c:v>
                </c:pt>
                <c:pt idx="3">
                  <c:v>1710</c:v>
                </c:pt>
                <c:pt idx="4">
                  <c:v>1290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9525" cap="flat">
              <a:solidFill>
                <a:srgbClr val="D8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2A5E"/>
                </a:solidFill>
                <a:latin typeface="맑은 고딕"/>
              </a:defRPr>
            </a:pPr>
            <a:r>
              <a:rPr sz="1250" b="0" i="0" u="none" strike="noStrike">
                <a:solidFill>
                  <a:srgbClr val="0A2A5E"/>
                </a:solidFill>
                <a:latin typeface="맑은 고딕"/>
              </a:rPr>
              <a:t>졸업까지 총 예산 상한 (만원)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졸업까지 총 예산</c:v>
                </c:pt>
              </c:strCache>
            </c:strRef>
          </c:tx>
          <c:spPr>
            <a:solidFill>
              <a:srgbClr val="E85D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D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30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407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테일러스 3년제</c:v>
                  </c:pt>
                  <c:pt idx="1">
                    <c:v>선웨이 3년제</c:v>
                  </c:pt>
                  <c:pt idx="2">
                    <c:v>4년제 공학
(파운데이션 포함)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11150</c:v>
                </c:pt>
                <c:pt idx="1">
                  <c:v>10190</c:v>
                </c:pt>
                <c:pt idx="2">
                  <c:v>19350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  <c:min val="0"/>
        </c:scaling>
        <c:delete val="0"/>
        <c:axPos val="l"/>
        <c:majorGridlines>
          <c:spPr>
            <a:ln w="9525" cap="flat">
              <a:solidFill>
                <a:srgbClr val="D8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2027학년도 말레이시아 유학 안내 개정판입니다. 원본 안내문에서 인티대학교를 빼고 테일러스·선웨이 2개교로 재편했으며, 입학 행정 타임라인과 팩트체크를 새로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개정의 핵심은 두 가지입니다. 첫째 추천 대학 교체, 둘째 원문 18개 항목 중 9개를 사실과 달라 수정했다는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말레이시아를 택하는 근거는 영어 환경, 비용, 진로 옵션, 적응 용이성 네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유형 중 사립대가 입학 기회와 진로 유연성에서 가장 유리합니다.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말레이시아 사립대 학비는 국내 사립대와 비슷하거나 약간 높습니다. 선웨이가 테일러스보다 연 500만 원가량 저렴합니다.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테일러스의 결정적 강점은 호텔·관광 세계 26위입니다. 사립대 1위라는 원문 표현은 사실과 달라 2위로 바로잡았습니다.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학비는 호텔경영 3년 기준 총 4,510만 원 수준입니다. 미국 편입 경로는 합격 보장이 아니라는 점을 반드시 안내해야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선웨이는 학비 가성비와 랭커스터 복수 학위가 핵심입니다. QS 354위와 THE 303위를 혼동하지 않도록 주의하십시오.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선웨이의 랭커스터 복수 학위와 ASU 파트너십은 공식 자료로 확인됩니다. 반면 코넬·NYU 연계는 과장된 표현입니다.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대학 중 어디를 택할지는 전공으로 먼저 결정하십시오. 호텔·관광이면 테일러스, 금융·컴퓨팅이면 선웨이입니다.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어워드와 디그리는 같은 뜻입니다. Award가 더 넓은 개념이라 테일러스처럼 디플로마 복수 인증이 있는 곳이 이 표현을 씁니다. 공동 학위는 학위증이 한 장인 전혀 다른 제도입니다.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영어 점수가 가장 큰 변수입니다. TOEFL 60점은 본과 직행 최저선이라 여유를 두는 편이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실수가 원서를 늦게 내는 것입니다. 4단계에서 12~16주 전 접수를 못 맞추면 다음 인테이크로 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아포스티유는 말레이시아에 통하지 않습니다. 영사확인으로 진행해야 하며, 이 절차에만 2~3주가 더 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A플랜의 핵심은 2026년 10월 원서 접수입니다. 원안은 10~11월이었지만 비자 심사를 감안해 10월로 앞당겼습니다.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B플랜은 어학 확보 기간이 짧은 것이 최대 약점입니다. 무리하지 말고 C플랜을 예비로 준비해 두십시오.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이번 개정의 핵심입니다. 특히 1~4번은 학부모 설명회에서 그대로 쓰면 신뢰를 잃을 수 있는 표현입니다.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예산은 원안보다 1,700만에서 2,000만 원 늘어납니다. 특히 공대 지망자는 5년 예산을 잡아야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 세 가지입니다. 전공으로 결정할 것, A플랜을 기본으로 할 것, 보장할 수 없는 표현을 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685800"/>
            <a:ext cx="1234440" cy="1234440"/>
          </a:xfrm>
          <a:prstGeom prst="star5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2148840"/>
            <a:ext cx="502920" cy="502920"/>
          </a:xfrm>
          <a:prstGeom prst="star5">
            <a:avLst/>
          </a:prstGeom>
          <a:solidFill>
            <a:srgbClr val="E85D1F"/>
          </a:solidFill>
          <a:ln w="12700">
            <a:solidFill>
              <a:srgbClr val="E85D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2027학년도 · 개정판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031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입학안내문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 · 선웨이 대학교 · 입학 행정 타임라인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자료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358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World University Rankings 2027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· 일정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5358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대학 2026 공식 학사일정 및 학비표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환율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5358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1링깃(RM) ≈ 339원 (2026.09)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33688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33688" y="5358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14일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개정에서 달라진 것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IM 말레이시아 입학안내문의 구성은 유지하되, 추천 대학을 교체하고 행정 일정과 예산을 실측값으로 다시 계산했습니다.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860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항목 검증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표의 랭킹·일정·학위·예산 전 항목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99432" y="22860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항목 수정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1272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달라 바로잡은 항목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75904" y="22860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491472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플랜 신설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1272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A(1~2월) · B(4월) · C(8~9월 예비)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7764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68696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안내문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 개정판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 대학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인티대학교 · 선웨이대학교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5D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테일러스대학교 · 선웨이대학교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 일정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· B · C 3개 플랜 (검정고시 ~ 입학 전 구간)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 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학비 + 생활비 2개 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입학금 · 비자 갱신비 · 6% 서비스세 · 점심/용돈 추가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표기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항목 공개 출처 링크 28건 명시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기준일 2026년 9월 14일 · 대학 학비와 입학 조건은 연 단위로 개정되므로 최종 지원 전 각 대학 입학처 재확인 필요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MALAYSIA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말레이시아인가?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배우고, 영국·호주 학위를 본교보다 낮은 비용으로 취득하며, 한국인이 적응하기 수월한 다인종 사회라는 세 가지가 맞물립니다.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94960" cy="128016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441448"/>
            <a:ext cx="566928" cy="566928"/>
          </a:xfrm>
          <a:prstGeom prst="ellipse">
            <a:avLst/>
          </a:prstGeom>
          <a:solidFill>
            <a:srgbClr val="E85D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환경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60904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사립대 수업은 전 과목 영어로 진행되며 공식 비즈니스 언어도 영어입니다. 영미권 교육기관과 학위 연계가 폭넓습니다.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2148840"/>
            <a:ext cx="5394960" cy="128016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441448"/>
            <a:ext cx="566928" cy="56692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경제적인 유학비용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660904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학비가 국내 사립대와 비슷한 수준(약 900만~1,800만 원)이며, 해외 프로그램도 본교 대비 낮은 금액으로 취득할 수 있습니다.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30168"/>
            <a:ext cx="5394960" cy="128016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922776"/>
            <a:ext cx="566928" cy="566928"/>
          </a:xfrm>
          <a:prstGeom prst="ellipse">
            <a:avLst/>
          </a:prstGeom>
          <a:solidFill>
            <a:srgbClr val="1640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8130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진로 옵션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142232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자체 학위와 해외대학 연계 프로그램(트위닝 · 트랜스퍼 · 복수 학위)을 함께 운영합니다.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3630168"/>
            <a:ext cx="5394960" cy="128016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922776"/>
            <a:ext cx="566928" cy="566928"/>
          </a:xfrm>
          <a:prstGeom prst="ellipse">
            <a:avLst/>
          </a:prstGeom>
          <a:solidFill>
            <a:srgbClr val="E85D1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8130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유학생활 적응 용이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142232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국가이자 다인종 사회로 한국인 선호도가 높고 문화적 적응이 비교적 수월합니다.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44068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0A2A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5440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우수한 교육 환경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0128" y="544068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0A2A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10128" y="5440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대학 프로그램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53328" y="544068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0A2A5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53328" y="5440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경제적이고 효율적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TYPES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 유형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말레이시아는 연 3회 입학 기회와 해외대학 연계 진로를 동시에 갖춘 사립대학교 경로를 추천합니다.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59152"/>
            <a:ext cx="237744" cy="237744"/>
          </a:xfrm>
          <a:prstGeom prst="rect">
            <a:avLst/>
          </a:prstGeom>
          <a:solidFill>
            <a:srgbClr val="5A6B8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국립대학교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43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말라야 대학교 (UM)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004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4015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1회 (하반기)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9136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114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500만 원 / 연간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6268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8280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수업이나 말레이어가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교양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10312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FF3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359152"/>
            <a:ext cx="237744" cy="237744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사립대학교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860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5D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추천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743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2004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4015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3회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9136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114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900만~1,800만 원 / 연간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6268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8280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 + 해외 명문대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진로 선택 가능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19872" y="210312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2359152"/>
            <a:ext cx="237744" cy="237744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59952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 캠퍼스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94192" y="2743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· 노팅엄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32004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34015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1~2회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94192" y="39136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394192" y="4114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1,200만~1,800만 원 / 연간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394192" y="46268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94192" y="48280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본교 교환학생 자유,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학비가 높은 편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지원 자격 : 고교 졸업 학력 + 공인 영어 성적 · 사립대는 학력 서류 개별 심사(case-by-case)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COMPARISON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말레이시아 대학 학비 비교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금액은 학비만 기준입니다. IM 공동체 운영비 · 입학금 · 비자 갱신비는 마지막 예산 슬라이드에서 별도로 합산합니다.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210312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2331720"/>
          <a:ext cx="5413248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133856"/>
                <a:gridCol w="777240"/>
                <a:gridCol w="1216152"/>
                <a:gridCol w="120700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사립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국립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등록금(1년)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800~900만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5D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1,430~1,710만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6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910~1,290만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학비(3~4년)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3,200~3,600만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4,530~6,830만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2,740~5,160만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조건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수시 1~3등급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수시 1~2등급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6.0급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 심사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6.0급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 심사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199632" y="4572000"/>
            <a:ext cx="5413248" cy="777240"/>
          </a:xfrm>
          <a:prstGeom prst="roundRect">
            <a:avLst>
              <a:gd name="adj" fmla="val 5882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382512" y="4681728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주의 · 2025년 7월 1일부터 외국인 학생 학비에 6% 서비스세(SST)가 부과됩니다. 위 금액에 약 6%를 더해 산정하십시오.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1링깃(RM) ≈ 339원 · 2026년 9월 기준 · 단위 만원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대학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 Taylor's University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1969년 설립된 말레이시아 최상위권 사립대학교입니다. 호텔·관광 분야는 7년 연속 세계 Top 20~30위권을 유지하고 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3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 순위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3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3580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3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6752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6752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 세계 순위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46704"/>
            <a:ext cx="662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말레이시아 사립대 순서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UTP #=261  ▸  테일러스 #272  ▸  UCSI #282  ▸  선웨이 #354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6908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3416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3월 · 8월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졸업 또는 검정고시 — 개별 심사(case-by-case). 본과 직행은 보장되지 않음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60~78) / 파운데이션 IELTS 5.0~5.5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호텔경영·관광(세계 #26위), 경영학 계열 전체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공학사(기계·화학 등), BSc 이학사(약학·데이터사이언스 등)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120학점 내외 (경영·호텔) / 4년제 130~140학점 (공대·약대)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TAYLOR'S — 학비 및 글로벌 학위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학비와 진학 경로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— 국제학생 기준 (2026)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5577840" cy="914400"/>
        </p:xfrm>
        <a:graphic>
          <a:graphicData uri="http://schemas.openxmlformats.org/drawingml/2006/table">
            <a:tbl>
              <a:tblPr/>
              <a:tblGrid>
                <a:gridCol w="1444752"/>
                <a:gridCol w="1298448"/>
                <a:gridCol w="182880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 환산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28,600~68,590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970만~2,330만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전체 범위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95,066~446,690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3,220만~1억 5,140만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국제호텔경영 3년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133,146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4,510만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기계공학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50,184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6,810만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화학공학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42,240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5,730만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1,430만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44074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6% 서비스세(SST) 별도 · 의약 계열이 상단값에 해당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학위 · 편입 경로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46520" y="1901952"/>
            <a:ext cx="5175504" cy="1417320"/>
          </a:xfrm>
          <a:prstGeom prst="roundRect">
            <a:avLst>
              <a:gd name="adj" fmla="val 3226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47688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(검증됨)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47688" y="2322576"/>
            <a:ext cx="4773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경영 : UWE Bristol (영국), QUT (호주)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호텔·관광 : Université Toulouse–Jean Jaurès (UT2J, 프랑스), Académie de Toulouse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46520" y="3456432"/>
            <a:ext cx="5175504" cy="1207008"/>
          </a:xfrm>
          <a:prstGeom prst="roundRect">
            <a:avLst>
              <a:gd name="adj" fmla="val 3788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47688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C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학점 이전 (ADTP) — 주의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647688" y="3858768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 수학 후 미국·캐나다·호주 대학으로 편입하는 학점 이전 경로입니다.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대학은 매년 개별 지원·경쟁 심사이며 합격은 보장되지 않습니다.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4800600"/>
            <a:ext cx="5175504" cy="9144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47688" y="4892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 후 진로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647688" y="5148072"/>
            <a:ext cx="4773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체인 호텔 매니저, 관광·MICE, 이벤트 디렉터 / 말레이시아·싱가포르 다국적 기업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대학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 Sunway University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설립, Jeffrey Cheah 재단이 지원하는 사립대학교입니다. 90개국 이상의 다국적 학생이 재학 중입니다.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EF6E2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#354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 순위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EF6E2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3580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상승 계단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2121408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EF6E2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67528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6752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복수학위 추가비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46704"/>
            <a:ext cx="662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혼동 주의 · 선웨이 홈페이지의 "Top 303"은 QS가 아니라 THE 2026 기준입니다.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기준 순위는 공동 #354위입니다.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6908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3416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8월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졸업 또는 검정고시 — 개별 심사. 에세이·서류 심사가 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 이상) / 파운데이션·디플로마 IELTS 5.0~5.5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 인문사회과학 전반, BSc 경영학 · 호텔경영학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공학사(전자·화학 등), BSc 컴퓨터공학 · 바이오메디컬 · 순수과학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120학점 내외 (영국식) / 4년제 130~140학점 (캡스톤 포함)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SUNWAY — 학비 및 글로벌 학위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학비와 진학 경로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— 국제학생 기준 (2026)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5577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83080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 환산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17,850~29,350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경영계열(연)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USD 6,820~9,091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910만~1,290만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전체 범위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15,475~500,845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자격증·디플로마·의학 포함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703320"/>
            <a:ext cx="5577840" cy="960120"/>
          </a:xfrm>
          <a:prstGeom prst="roundRect">
            <a:avLst>
              <a:gd name="adj" fmla="val 4762"/>
            </a:avLst>
          </a:prstGeom>
          <a:solidFill>
            <a:srgbClr val="FEF6E2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" y="382219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4E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국제학생은 RM 18,000 또는 1학기분 중 큰 금액을 선납해야 합니다.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4E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6% 서비스세(SST)는 별도입니다.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학위 · 편입 경로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46520" y="1901952"/>
            <a:ext cx="5175504" cy="1572768"/>
          </a:xfrm>
          <a:prstGeom prst="roundRect">
            <a:avLst>
              <a:gd name="adj" fmla="val 2907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47688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— 랭커스터 대학교 (검증됨)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47688" y="2322576"/>
            <a:ext cx="4773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 시 선웨이·랭커스터 2개 학위증 발급, 양교 동문 자격.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 없음 — 기본 등록금에 포함.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랭커스터 협력 프로그램(경영·컴퓨팅·심리 등)에 한합니다.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46520" y="3611880"/>
            <a:ext cx="5175504" cy="960120"/>
          </a:xfrm>
          <a:prstGeom prst="roundRect">
            <a:avLst>
              <a:gd name="adj" fmla="val 4762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647688" y="3703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공식 파트너십 — ASU (검증됨)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647688" y="3959352"/>
            <a:ext cx="4773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애리조나주립대 Cintana Alliance 파트너 · 20개 이상 패스웨이 · 최대 90학점 이전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46520" y="4709160"/>
            <a:ext cx="5175504" cy="1005840"/>
          </a:xfrm>
          <a:prstGeom prst="roundRect">
            <a:avLst>
              <a:gd name="adj" fmla="val 4545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647688" y="4800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3C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편입 대학 — 주의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647688" y="5056632"/>
            <a:ext cx="4773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코넬 · NYU 등은 선배 편입 실적이며, 공식 연계나 합격 보장이 아닙니다.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E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대학 한눈에 비교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학비만 보면 선웨이가 연 500만~600만 원 저렴합니다. 다만 결정 기준은 비용이 아니라 전공이어야 합니다.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6849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EC3E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5D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Taylor's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B30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Sunway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QS 2027 세계 랭킹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#272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#=354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사립대 순위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 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3월 · 8월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8월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간판 전공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호텔·관광 (세계 #26위)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경영·금융, 컴퓨팅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복수 학위 파트너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UWE Bristol · QUT · UT2J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랭커스터 (추가비용 $0)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 공식 파트너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 학점 이전 중심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ASU (Cintana Alliance)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 (학사)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1,430만~1,710만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910만~1,290만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학비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970만~2,330만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E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62356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1E3A6B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56235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 지망이면 테일러스가 1순위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44768" y="562356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1E3A6B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27648" y="56235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가성비 + 영국 학위가 목표면 선웨이가 1순위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용어 바로잡기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"듀얼 어워드(Dual Award)"와 "듀얼 디그리(Dual Degree)"는 사실상 같은 것을 가리킵니다. 구분해야 할 것은 "공동 학위(Joint Degree)"입니다.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5528" y="228600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Dual Award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학위(인증)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" y="298094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87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" y="2980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학위증 2장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474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대학이 학위증을 1장씩 수여.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Award는 학위·디플로마·수료증을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포괄하는 상위 개념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526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+ UWE Bristol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+ UT2J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214884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0" y="228600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Dual Degree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학위(학위)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98094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873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2980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학위증 2장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474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대학이 학위증을 1장씩 수여.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대상을 학위(degree)로 한정한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표현으로, 실질은 Dual Award와 동일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26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+ 랭커스터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19872" y="214884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BECEA"/>
          </a:solidFill>
          <a:ln w="12700">
            <a:solidFill>
              <a:srgbClr val="B5342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48472" y="228600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Joint Degree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학위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48472" y="298094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534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48472" y="2980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학위증 1장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48472" y="3474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학위증 1장에 두 대학 명의가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기재되는 방식.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제도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4526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사례 없음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413248"/>
            <a:ext cx="11057839" cy="822960"/>
          </a:xfrm>
          <a:prstGeom prst="roundRect">
            <a:avLst>
              <a:gd name="adj" fmla="val 5556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68096" y="5504688"/>
            <a:ext cx="10655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권고 · 원본 PDF는 "듀얼디그리 / 공동 학위"를 나란히 적었으나, 선웨이–랭커스터는 학위증 2장이므로 공동 학위가 아닙니다.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슬라이드에는 "복수 학위(Dual Award / Dual Degree)"로 병기하고 "공동 학위"는 삭제하십시오.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지원 자격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네 가지 조건이 모두 준비된 학생만 지원 가능합니다.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7839" cy="804672"/>
          </a:xfrm>
          <a:prstGeom prst="roundRect">
            <a:avLst>
              <a:gd name="adj" fmla="val 5682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22576"/>
            <a:ext cx="457200" cy="457200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2677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리뉴젠 공동체 1년 이상 훈련자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2267712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공동체 디렉터 추천서 제출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090672"/>
            <a:ext cx="11057839" cy="804672"/>
          </a:xfrm>
          <a:prstGeom prst="roundRect">
            <a:avLst>
              <a:gd name="adj" fmla="val 5682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264408"/>
            <a:ext cx="457200" cy="457200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2095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고등과정 학력 이수자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209544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고교 12학년 졸업 : 내신 평균 70점 이상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고졸 검정고시 : 평균 70~80점 이상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32504"/>
            <a:ext cx="11057839" cy="804672"/>
          </a:xfrm>
          <a:prstGeom prst="roundRect">
            <a:avLst>
              <a:gd name="adj" fmla="val 5682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E85D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1513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공인 점수 취득자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4151376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IELTS 5.5~6.0 이상 또는 TOEFL iBT 60점 이상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본과 직행 목표 시 IELTS 6.0 / TOEFL iBT 70대 권장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974336"/>
            <a:ext cx="11057839" cy="804672"/>
          </a:xfrm>
          <a:prstGeom prst="roundRect">
            <a:avLst>
              <a:gd name="adj" fmla="val 5682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148072"/>
            <a:ext cx="457200" cy="457200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50932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필아메리카존 코스 수료자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5093208"/>
            <a:ext cx="6263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과정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항목 주의 · TOEFL iBT 60점은 IELTS 6.0의 하한선이므로 전공에 따라 미달될 수 있습니다. 본과 직행을 노린다면 70점대를 목표로 하십시오.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PROCESS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절차 6단계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원서 접수 시점이 전체 일정을 좌우합니다. 개강 8주 전 마감이 원칙이며, 국제학생은 12~16주 전 접수를 권장합니다.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13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디렉터 상담 후 입학 시기 결정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개인의 학력 조건에 맞추어 지망 학교와 학과를 설정합니다.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99432" y="2313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필아메리카존 유학 과정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10896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과정을 통해 유학과 어학을 준비합니다.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19872" y="214884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75904" y="2313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606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IM말레이시아 입학 신청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10896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IM말레이시아에 필요한 서류를 준비하여 신청합니다.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3192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DF0EC"/>
          </a:solidFill>
          <a:ln w="12700">
            <a:solidFill>
              <a:srgbClr val="E85D1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389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 서류 준비 및 원서 접수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2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개강 최소 8주 전 접수. 국제학생은 12~16주 전 권장.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99432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389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입학허가서(Offer Letter) 수령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489204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 기준 1~2주 심사 후 발송. 수락 서명 후 재제출합니다.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19872" y="393192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75904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43891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신청 및 입국비자 진행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4892040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EMGS를 통해 학생 비자를 신청·대행합니다.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VISA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발급 절차와 리드타임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6093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5727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입학허가서 수령 및 서명 후 제출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19933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9568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서포팅레터 첨부 후 EMGS 비자신청서 제출 및 비용 납부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310896" cy="256032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3774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3408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비자 서류 심사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705856" y="2340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761488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27614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7249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최종 승인 여부 결정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145536"/>
            <a:ext cx="310896" cy="256032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1455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1089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승인 후 비자허가서(VAL) 발급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05856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4~8주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529584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52958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34930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항공권 구매 후 입국 비자(SEV 혹은 eVisa) 신청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913632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913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3877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입국 비자 승인 후 입국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297680"/>
            <a:ext cx="310896" cy="256032"/>
          </a:xfrm>
          <a:prstGeom prst="rect">
            <a:avLst/>
          </a:prstGeom>
          <a:solidFill>
            <a:srgbClr val="16407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42976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261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입국 후 1주일 이내 현지 신체검사 진행 후 여권 제출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681728"/>
            <a:ext cx="310896" cy="256032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66928" y="46817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46451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스티커가 붙은 여권 수령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705856" y="4645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후 2~4주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35240" y="1572768"/>
            <a:ext cx="3986784" cy="1417320"/>
          </a:xfrm>
          <a:prstGeom prst="roundRect">
            <a:avLst>
              <a:gd name="adj" fmla="val 3226"/>
            </a:avLst>
          </a:prstGeom>
          <a:solidFill>
            <a:srgbClr val="EAF3EC"/>
          </a:solidFill>
          <a:ln w="12700">
            <a:solidFill>
              <a:srgbClr val="187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836408" y="168249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리드타임 결론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36408" y="201168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비자 절차에 4~8주가 소요되므로,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예정일 3~4개월 전에 VAL 신청을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시작해야 안전합니다.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3127248"/>
            <a:ext cx="3986784" cy="1920240"/>
          </a:xfrm>
          <a:prstGeom prst="roundRect">
            <a:avLst>
              <a:gd name="adj" fmla="val 2381"/>
            </a:avLst>
          </a:prstGeom>
          <a:solidFill>
            <a:srgbClr val="FBECEA"/>
          </a:solidFill>
          <a:ln w="12700">
            <a:solidFill>
              <a:srgbClr val="B5342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836408" y="323697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인증 방식 주의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836408" y="3547872"/>
            <a:ext cx="3584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24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말레이시아는 헤이그 아포스티유 협약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24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비가입국입니다.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24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발급 검정고시 합격증명서·성적증명서는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24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아포스티유가 아니라 영사확인(외교부 →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24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주한 말레이시아 대사관)을 밟아야 합니다.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35240" y="5184648"/>
            <a:ext cx="3986784" cy="932688"/>
          </a:xfrm>
          <a:prstGeom prst="roundRect">
            <a:avLst>
              <a:gd name="adj" fmla="val 4902"/>
            </a:avLst>
          </a:prstGeom>
          <a:solidFill>
            <a:srgbClr val="F3F6FB"/>
          </a:solidFill>
          <a:ln w="12700">
            <a:solidFill>
              <a:srgbClr val="D8E1E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836408" y="5294376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대학 편입 시에도 말레이시아 대학 서류는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주말레이시아 한국대사관 영사확인이 필요합니다.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A플랜 · 2027년 1~2월 입학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1월 / 테일러스 2월 인테이크 기준. 가장 여유 있는 최적 진입 시기입니다.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52160"/>
                <a:gridCol w="351129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 및 행정 절차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고졸 검정고시 제1회 원서 접수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 교육청 공고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제1회 응시 (평균 80점 이상 목표)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시험일 4월 초·중순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2026.05 중순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합격자 발표 → 영문 합격증명서·성적증명서 발급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후 영사확인 절차 착수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2026.05 하순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11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필리핀 IM해외선교본부 6개월 과정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몰입 훈련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/ TOEFL 1차 응시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미달 시 10월 재응시 (성적 유효 2년)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D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원서 접수 (선웨이 1월 / 테일러스 2월)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개강 12~16주 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2026.10~11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EMGS 비자 신청 및 심사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4~8주 소요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Offer Letter · VAL 수령 → eVisa 신청, 항공권 예약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출국 최종 점검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2027.01 / 02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선웨이(1월) · 테일러스(2월) 정식 입학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여유 있는 최적 진입 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B · C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 · C플랜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 · 2027년 4월 입학 (선웨이 · 테일러스 공통)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5733288"/>
                <a:gridCol w="351129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 및 행정 절차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고졸 검정고시 제2회 원서 접수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2026.08.11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제2회 응시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08.28 합격자 발표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영문 증명서 발급 + 영사확인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 준비 병행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2026.09 ~ 2027.02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필리핀 IM해외선교본부 6개월 과정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2026.11~12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/ TOEFL 응시 — 과정 중반에 확보 필수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34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B플랜 최대 리스크 구간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2026.12 ~ 2027.01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5D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원서 접수 (4월 인테이크)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534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원안의 "2~3월 접수"는 비자 리드타임상 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2027.01~02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EMGS 비자 심사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 수령, eVisa 신청, 항공권 예약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· 테일러스 4월 인테이크 정식 입학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학제 졸업 후 가장 빠른 입학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440680"/>
            <a:ext cx="11057839" cy="1024128"/>
          </a:xfrm>
          <a:prstGeom prst="roundRect">
            <a:avLst>
              <a:gd name="adj" fmla="val 4464"/>
            </a:avLst>
          </a:prstGeom>
          <a:solidFill>
            <a:srgbClr val="FEF6E2"/>
          </a:solidFill>
          <a:ln w="12700">
            <a:solidFill>
              <a:srgbClr val="F5B301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5E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" y="551383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C플랜 (예비) · 2027년 8~9월 입학 — 가장 안전한 대안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5788152"/>
            <a:ext cx="106555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4E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B플랜은 어학 성적을 필리핀 과정 6개월 중 3개월차에 확보해야 하는 부담이 있습니다. 목표 점수 미달 시 8월(선웨이 파운데이션) / 9월(선웨이·테일러스 학사)로 이월하십시오.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4E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2회(8월) → 필리핀 과정 완주(익년 2월) → 어학 재응시(3~4월) → 원서 접수(5월) → 비자(6~7월) → 8~9월 입학. 전 구간에 1개월 이상 여유가 확보됩니다.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팩트체크 — 반드시 고쳐야 할 항목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제시된 원문 표 18개 항목을 공개 자료로 검증했습니다. 아래는 발표 자리에서 반박당할 위험이 큰 상위 7건입니다.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187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4건 · 사실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24328" y="2084832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A166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24328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 · 부분 정확 · 보완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2084832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B534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9건 · 수정 필요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0662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703173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원문 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결과 및 수정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80점이면 파운데이션 없이 본과 직행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불가. 말레이시아 사립대는 원칙적으로 Pre-U 자격을 요구하며 한국 고교 학력은 개별 심사. 공대·약대·컴공은 파운데이션 사실상 필수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B플랜 2~3월 원서 접수 → 4월 입학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불가. 원서 마감 개강 8주 전 + EMGS 비자 4~8주 → 전년 12월~1월 초 접수로 수정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코넬 · 존스홉킨스 · NYU 등 "공식 연계"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과장. ADP/ADTP는 학점 이전 경로이며 대부분 선배 편입 실적. 검증된 공식 파트너십은 선웨이–ASU뿐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한동대 "4학기 수료 시 100% 공인 인정"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과장. 국외대학은 4개 학기 수료 또는 졸업이수학점의 2/4(4년제)·2/3(3년제) 이상 필요. 지원 자격일 뿐 합격 보장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"말레이시아 사립대 1위"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2위로 수정. UTP #=261 &gt; 테일러스 #272 &gt; UCSI #282 &gt; 선웨이 #354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듀얼학위 "영국 서식스대"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서식스대는 근거 없음. 실제는 UWE Bristol · QUT(경영), UT2J(호텔·관광)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 — IM 입학금 · 비자 갱신비 누락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3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입학금 500만 원(1회), 학생비자 매년 갱신 약 US$1,000, 6% 서비스세 합산 필요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11개 항목(입학 시기 · 영어 조건 · 생활비 · 환율 · 검정고시 일정 등)의 전체 검증표는 배포 문서 10장에 수록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solidFill>
            <a:srgbClr val="E85D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84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046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 — 수정판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누락돼 있던 IM 입학금 · 비자 갱신비 · 6% 서비스세 · 점심/용돈을 모두 반영한 금액입니다.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210312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2103120"/>
          <a:ext cx="5733288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417320"/>
                <a:gridCol w="1417320"/>
                <a:gridCol w="1417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3년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3년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5년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910~1,290만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1,430~1,710만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6% 서비스세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55~77만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86~103만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점심·교통·용돈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260~380만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260~380만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260~380만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소계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3,430~3,550만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2,810~3,230만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3,360~3,770만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수학 기간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34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1년 + 본과 4년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790만~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1,150만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8,930만~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190만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7,300만~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9,350만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897880" y="5440680"/>
            <a:ext cx="5733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원안 대비 총액이 1,700만~2,000만 원 증가합니다. 공대·약대는 파운데이션 1년이 선행하므로 실제 소요는 5년입니다.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1링깃(RM) ≈ 339원 · IM 입학금 500만 원(1회성) 포함 · 단위 만원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5074920"/>
            <a:ext cx="914400" cy="914400"/>
          </a:xfrm>
          <a:prstGeom prst="star5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및 다음 단계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0607040" cy="1170432"/>
          </a:xfrm>
          <a:prstGeom prst="roundRect">
            <a:avLst>
              <a:gd name="adj" fmla="val 3906"/>
            </a:avLst>
          </a:prstGeom>
          <a:solidFill>
            <a:srgbClr val="1E3A6B"/>
          </a:solidFill>
          <a:ln w="12700">
            <a:solidFill>
              <a:srgbClr val="2C4E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57984"/>
            <a:ext cx="512064" cy="512064"/>
          </a:xfrm>
          <a:prstGeom prst="ellipse">
            <a:avLst/>
          </a:prstGeom>
          <a:solidFill>
            <a:srgbClr val="E85D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99339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전공으로 먼저 결정하십시오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340864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호텔·관광이면 테일러스(세계 #26위), 금융·컴퓨팅이면 선웨이(랭커스터 복수 학위 · 학비 연 500만 원 저렴). 비용 차이는 선택 기준이 아닙니다.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0607040" cy="1170432"/>
          </a:xfrm>
          <a:prstGeom prst="roundRect">
            <a:avLst>
              <a:gd name="adj" fmla="val 3906"/>
            </a:avLst>
          </a:prstGeom>
          <a:solidFill>
            <a:srgbClr val="1E3A6B"/>
          </a:solidFill>
          <a:ln w="12700">
            <a:solidFill>
              <a:srgbClr val="2C4E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529584"/>
            <a:ext cx="512064" cy="51206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36499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A플랜을 기본값으로 삼으십시오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12464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검정고시 → 5월 발표 → 10월 원서 접수 → 2027년 1~2월 입학. B플랜 4월 입학은 어학 확보 기간이 3개월뿐이라 C플랜(8~9월)을 예비로 준비하십시오.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0607040" cy="1170432"/>
          </a:xfrm>
          <a:prstGeom prst="roundRect">
            <a:avLst>
              <a:gd name="adj" fmla="val 3906"/>
            </a:avLst>
          </a:prstGeom>
          <a:solidFill>
            <a:srgbClr val="1E3A6B"/>
          </a:solidFill>
          <a:ln w="12700">
            <a:solidFill>
              <a:srgbClr val="2C4E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901184"/>
            <a:ext cx="512064" cy="512064"/>
          </a:xfrm>
          <a:prstGeom prst="ellipse">
            <a:avLst/>
          </a:prstGeom>
          <a:solidFill>
            <a:srgbClr val="FF7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4901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73659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보장할 수 없는 표현을 삭제하십시오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5084064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"본과 직행 가능" "미국 명문대 공식 연계" "한동대 100% 인정" 세 표현은 근거가 없습니다. 설명회에서 그대로 쓰면 신뢰를 잃습니다.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35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AE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안내문은 2026년 9월 14일 기준 공개 자료로 작성되었습니다. 학비 · 입학 시기 · 입학 조건은 대학이 연 단위로 개정하므로, 최종 지원 전 각 대학 공식 입학처에 반드시 재확인하시기 바랍니다.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 말레이시아 입학안내문 2027</dc:title>
  <dc:subject>PptxGenJS Presentation</dc:subject>
  <dc:creator>IM 말레이시아</dc:creator>
  <cp:lastModifiedBy>IM 말레이시아</cp:lastModifiedBy>
  <cp:revision>1</cp:revision>
  <dcterms:created xsi:type="dcterms:W3CDTF">2026-09-14T21:58:42Z</dcterms:created>
  <dcterms:modified xsi:type="dcterms:W3CDTF">2026-09-14T21:58:42Z</dcterms:modified>
</cp:coreProperties>
</file>