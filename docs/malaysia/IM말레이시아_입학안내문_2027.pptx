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A2A5E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0A2A5E"/>
                </a:solidFill>
                <a:latin typeface="맑은 고딕"/>
              </a:rPr>
              <a:t>연간 등록금 상한 비교 (만원)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연간 등록금</c:v>
                </c:pt>
              </c:strCache>
            </c:strRef>
          </c:tx>
          <c:spPr>
            <a:solidFill>
              <a:srgbClr val="1640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40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407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407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5D1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B30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한양대</c:v>
                  </c:pt>
                  <c:pt idx="1">
                    <c:v>한동대</c:v>
                  </c:pt>
                  <c:pt idx="2">
                    <c:v>전남대</c:v>
                  </c:pt>
                  <c:pt idx="3">
                    <c:v>테일러스</c:v>
                  </c:pt>
                  <c:pt idx="4">
                    <c:v>선웨이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900</c:v>
                </c:pt>
                <c:pt idx="1">
                  <c:v>800</c:v>
                </c:pt>
                <c:pt idx="2">
                  <c:v>500</c:v>
                </c:pt>
                <c:pt idx="3">
                  <c:v>1710</c:v>
                </c:pt>
                <c:pt idx="4">
                  <c:v>1290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4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D8E1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A5E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0A2A5E"/>
                </a:solidFill>
                <a:latin typeface="맑은 고딕"/>
              </a:rPr>
              <a:t>5년 총예산 상한 (만원)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5년 총예산 상한</c:v>
                </c:pt>
              </c:strCache>
            </c:strRef>
          </c:tx>
          <c:spPr>
            <a:solidFill>
              <a:srgbClr val="F5B30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B30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5D1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선웨이 공학 5년</c:v>
                  </c:pt>
                  <c:pt idx="1">
                    <c:v>테일러스 공학 5년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16880</c:v>
                </c:pt>
                <c:pt idx="1">
                  <c:v>19100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4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00"/>
          <c:min val="0"/>
        </c:scaling>
        <c:delete val="0"/>
        <c:axPos val="l"/>
        <c:majorGridlines>
          <c:spPr>
            <a:ln w="9525" cap="flat">
              <a:solidFill>
                <a:srgbClr val="D8E1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A2A5E"/>
                </a:solidFill>
                <a:latin typeface="맑은 고딕"/>
              </a:defRPr>
            </a:pPr>
            <a:r>
              <a:rPr sz="1250" b="0" i="0" u="none" strike="noStrike">
                <a:solidFill>
                  <a:srgbClr val="0A2A5E"/>
                </a:solidFill>
                <a:latin typeface="맑은 고딕"/>
              </a:rPr>
              <a:t>졸업까지 총 예산 상한 (만원)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졸업까지 총 예산</c:v>
                </c:pt>
              </c:strCache>
            </c:strRef>
          </c:tx>
          <c:spPr>
            <a:solidFill>
              <a:srgbClr val="E85D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5D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B30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407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테일러스 3년제</c:v>
                  </c:pt>
                  <c:pt idx="1">
                    <c:v>선웨이 3년제</c:v>
                  </c:pt>
                  <c:pt idx="2">
                    <c:v>공학 5년
(파운데이션 포함)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11150</c:v>
                </c:pt>
                <c:pt idx="1">
                  <c:v>10190</c:v>
                </c:pt>
                <c:pt idx="2">
                  <c:v>19100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4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00"/>
          <c:min val="0"/>
        </c:scaling>
        <c:delete val="0"/>
        <c:axPos val="l"/>
        <c:majorGridlines>
          <c:spPr>
            <a:ln w="9525" cap="flat">
              <a:solidFill>
                <a:srgbClr val="D8E1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2027학년도 말레이시아 유학 안내 개정판입니다. 원본 안내문에서 인티대학교를 빼고 테일러스·선웨이 2개교로 재편했으며, 입학 행정 타임라인과 팩트체크를 새로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개정의 핵심은 두 가지입니다. 첫째 추천 대학 교체, 둘째 원문 18개 항목 중 9개를 사실과 달라 수정했다는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말레이시아를 택하는 근거는 영어 환경, 비용, 진로 옵션, 적응 용이성 네 가지입니다.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유형 중 사립대가 입학 기회와 진로 유연성에서 가장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말레이시아 사립대 학비는 국내 사립대와 비슷하거나 약간 높습니다. 선웨이가 테일러스보다 연 500만 원가량 저렴합니다.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테일러스의 결정적 강점은 호텔·관광 세계 26위입니다. 사립대 1위라는 원문 표현은 사실과 달라 2위로 바로잡았습니다.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학비는 호텔경영 3년 기준 총 4,510만 원 수준입니다. 미국 편입 경로는 합격 보장이 아니라는 점을 반드시 안내해야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선웨이는 학비 가성비와 랭커스터 복수 학위가 핵심입니다. QS 354위와 THE 303위를 혼동하지 않도록 주의하십시오.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선웨이의 랭커스터 복수 학위와 ASU 파트너십은 공식 자료로 확인됩니다. 반면 코넬·NYU 연계는 과장된 표현입니다.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대학 중 어디를 택할지는 전공으로 먼저 결정하십시오. 호텔·관광이면 테일러스, 금융·컴퓨팅이면 선웨이입니다.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어워드와 디그리는 같은 뜻입니다. Award가 더 넓은 개념이라 테일러스처럼 디플로마 복수 인증이 있는 곳이 이 표현을 씁니다. 공동 학위는 학위증이 한 장인 전혀 다른 제도입니다.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트위닝과 학점 이전을 구분하는 것이 핵심입니다. 트위닝은 입학 시점에 해외 본교 프로그램에 이미 등록되어 경로가 확정되지만, ADTP는 매년 새로 지원해야 하고 합격 보장이 없습니다. 비용은 3+0가 압도적으로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테일러스는 협약 내용이 전공과 연도에 따라 바뀐다고 공식적으로 밝히고 있습니다. 지원 시점에 해당 학부 사무실로 반드시 직접 확인해야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공학 지망이면 선웨이가 5년 총예산에서 2,200만에서 2,600만 원 유리합니다. 다만 테일러스는 2+2 트위닝 경로가 있어 해외 학위가 목표라면 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영어 점수가 가장 큰 변수입니다. TOEFL 60점은 본과 직행 최저선이라 여유를 두는 편이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흔한 실수가 원서를 늦게 내는 것입니다. 4단계에서 12~16주 전 접수를 못 맞추면 다음 인테이크로 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아포스티유는 말레이시아에 통하지 않습니다. 영사확인으로 진행해야 하며, 이 절차에만 2~3주가 더 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A플랜의 핵심은 2026년 10월 원서 접수입니다. 원안은 10~11월이었지만 비자 심사를 감안해 10월로 앞당겼습니다.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B플랜은 어학 확보 기간이 짧은 것이 최대 약점입니다. 무리하지 말고 C플랜을 예비로 준비해 두십시오.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이번 개정의 핵심입니다. 특히 1~4번은 학부모 설명회에서 그대로 쓰면 신뢰를 잃을 수 있는 표현입니다.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예산은 원안보다 1,700만에서 2,000만 원 늘어납니다. 특히 공대 지망자는 5년 예산을 잡아야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정리하면 세 가지입니다. 전공으로 결정할 것, A플랜을 기본으로 할 것, 보장할 수 없는 표현을 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85800"/>
            <a:ext cx="1234440" cy="1234440"/>
          </a:xfrm>
          <a:prstGeom prst="star5">
            <a:avLst/>
          </a:prstGeom>
          <a:solidFill>
            <a:srgbClr val="F5B301"/>
          </a:solidFill>
          <a:ln w="12700">
            <a:solidFill>
              <a:srgbClr val="F5B30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92840" y="2148840"/>
            <a:ext cx="502920" cy="502920"/>
          </a:xfrm>
          <a:prstGeom prst="star5">
            <a:avLst/>
          </a:prstGeom>
          <a:solidFill>
            <a:srgbClr val="E85D1F"/>
          </a:solidFill>
          <a:ln w="12700">
            <a:solidFill>
              <a:srgbClr val="E85D1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5B30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2027학년도 · 개정판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10312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</a:t>
            </a:r>
            <a:endParaRPr lang="en-US" sz="52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입학안내문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1605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 · 선웨이 대학교 · 입학 행정 타임라인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51206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30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자료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53583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World University Rankings 2027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51206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30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· 일정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55848" y="53583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대학 2026 공식 학사일정 및 학비표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51206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30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환율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53583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1링깃(RM) ≈ 339원 (2026.09)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33688" y="51206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30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작성일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933688" y="53583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 14일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SUMMARY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개정에서 달라진 것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IM 말레이시아 입학안내문의 구성은 유지하되, 추천 대학을 교체하고 행정 일정과 예산을 실측값으로 다시 계산했습니다.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860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1938528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항목 검증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2724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표의 랭킹·일정·학위·예산 전 항목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9432" y="22860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5715000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항목 수정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312724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달라 바로잡은 항목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19872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75904" y="22860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491472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플랜 신설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312724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A(1~2월) · B(4월) · C(8~9월 예비)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77640"/>
          <a:ext cx="11057839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5568696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원본 안내문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 개정판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대학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인티대학교 · 선웨이대학교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5D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테일러스대학교 · 선웨이대학교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 일정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· B · C 3개 플랜 (검정고시 ~ 입학 전 구간)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 산정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+ 생활비 2개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입학금 · 비자 갱신비 · 6% 서비스세 · 점심/용돈 추가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표기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항목 공개 출처 링크 28건 명시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기준일 2026년 9월 14일 · 대학 학비와 입학 조건은 연 단위로 개정되므로 최종 지원 전 각 대학 입학처 재확인 필요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MALAYSIA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말레이시아인가?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배우고, 영국·호주 학위를 본교보다 낮은 비용으로 취득하며, 한국인이 적응하기 수월한 다인종 사회라는 세 가지가 맞물립니다.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5394960" cy="1280160"/>
          </a:xfrm>
          <a:prstGeom prst="roundRect">
            <a:avLst>
              <a:gd name="adj" fmla="val 3571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441448"/>
            <a:ext cx="566928" cy="566928"/>
          </a:xfrm>
          <a:prstGeom prst="ellipse">
            <a:avLst/>
          </a:prstGeom>
          <a:solidFill>
            <a:srgbClr val="E85D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3317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환경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660904"/>
            <a:ext cx="4224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사립대 수업은 전 과목 영어로 진행되며 공식 비즈니스 언어도 영어입니다. 영미권 교육기관과 학위 연계가 폭넓습니다.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6208" y="2148840"/>
            <a:ext cx="5394960" cy="1280160"/>
          </a:xfrm>
          <a:prstGeom prst="roundRect">
            <a:avLst>
              <a:gd name="adj" fmla="val 3571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2441448"/>
            <a:ext cx="566928" cy="566928"/>
          </a:xfrm>
          <a:prstGeom prst="ellipse">
            <a:avLst/>
          </a:prstGeom>
          <a:solidFill>
            <a:srgbClr val="F5B30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23317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경제적인 유학비용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2660904"/>
            <a:ext cx="4224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학비가 국내 사립대와 비슷한 수준(약 900만~1,800만 원)이며, 해외 프로그램도 본교 대비 낮은 금액으로 취득할 수 있습니다.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630168"/>
            <a:ext cx="5394960" cy="1280160"/>
          </a:xfrm>
          <a:prstGeom prst="roundRect">
            <a:avLst>
              <a:gd name="adj" fmla="val 3571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3922776"/>
            <a:ext cx="566928" cy="566928"/>
          </a:xfrm>
          <a:prstGeom prst="ellipse">
            <a:avLst/>
          </a:prstGeom>
          <a:solidFill>
            <a:srgbClr val="16407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8130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진로 옵션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142232"/>
            <a:ext cx="4224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자체 학위와 해외대학 연계 프로그램(트위닝 · 트랜스퍼 · 복수 학위)을 함께 운영합니다.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6208" y="3630168"/>
            <a:ext cx="5394960" cy="1280160"/>
          </a:xfrm>
          <a:prstGeom prst="roundRect">
            <a:avLst>
              <a:gd name="adj" fmla="val 3571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92240" y="3922776"/>
            <a:ext cx="566928" cy="566928"/>
          </a:xfrm>
          <a:prstGeom prst="ellipse">
            <a:avLst/>
          </a:prstGeom>
          <a:solidFill>
            <a:srgbClr val="E85D1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922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130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유학생활 적응 용이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0" y="4142232"/>
            <a:ext cx="4224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국가이자 다인종 사회로 한국인 선호도가 높고 문화적 적응이 비교적 수월합니다.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440680"/>
            <a:ext cx="2514600" cy="438912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4068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우수한 교육 환경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10128" y="5440680"/>
            <a:ext cx="2514600" cy="438912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310128" y="544068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대학 프로그램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53328" y="5440680"/>
            <a:ext cx="2514600" cy="438912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53328" y="544068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경제적이고 효율적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TYPES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유형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말레이시아는 연 3회 입학 기회와 해외대학 연계 진로를 동시에 갖춘 사립대학교 경로를 추천합니다.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3520440" cy="3200400"/>
          </a:xfrm>
          <a:prstGeom prst="roundRect">
            <a:avLst>
              <a:gd name="adj" fmla="val 1429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2359152"/>
            <a:ext cx="237744" cy="237744"/>
          </a:xfrm>
          <a:prstGeom prst="rect">
            <a:avLst/>
          </a:prstGeom>
          <a:solidFill>
            <a:srgbClr val="5A6B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07008" y="22860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국립대학교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7432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말라야 대학교 (UM)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20040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40156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1회 (하반기)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9136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11480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 원 / 연간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62686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82803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수업이나 말레이어가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교양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1429"/>
            </a:avLst>
          </a:prstGeom>
          <a:solidFill>
            <a:srgbClr val="FFF3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2359152"/>
            <a:ext cx="237744" cy="237744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83480" y="22860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사립대학교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2860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5D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추천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27432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320040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340156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3회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617720" y="39136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617720" y="411480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900만~1,800만 원 / 연간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62686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2803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 명문대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연계 진로 선택 가능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19872" y="2103120"/>
            <a:ext cx="3520440" cy="3200400"/>
          </a:xfrm>
          <a:prstGeom prst="roundRect">
            <a:avLst>
              <a:gd name="adj" fmla="val 1429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94192" y="2359152"/>
            <a:ext cx="237744" cy="237744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59952" y="22860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394192" y="27432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4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94192" y="320040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394192" y="340156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1~2회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394192" y="39136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411480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1,200만~1,800만 원 / 연간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394192" y="462686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8394192" y="482803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본교 교환학생 자유,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학비가 높은 편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지원 자격 : 고교 졸업 학력 + 공인 영어 성적 · 사립대는 학력 서류 개별 심사(case-by-case)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 COMPARISON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말레이시아 대학 학비 비교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금액은 학비만 기준입니다. IM 공동체 운영비 · 입학금 · 비자 갱신비는 마지막 예산 슬라이드에서 별도로 합산합니다.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2103120"/>
          <a:ext cx="53949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2331720"/>
          <a:ext cx="5413248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1133856"/>
                <a:gridCol w="777240"/>
                <a:gridCol w="1216152"/>
                <a:gridCol w="1207008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 사립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 국립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등록금(1년)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800~900만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5D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1,430~1,710만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A64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910~1,290만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학비(3~4년)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3,200~3,600만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4,530~6,830만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2,740~5,160만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조건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수시 1~3등급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수시 1~2등급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6.0급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개별 심사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6.0급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개별 심사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199632" y="4572000"/>
            <a:ext cx="5413248" cy="777240"/>
          </a:xfrm>
          <a:prstGeom prst="roundRect">
            <a:avLst>
              <a:gd name="adj" fmla="val 5882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6382512" y="4681728"/>
            <a:ext cx="5047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주의 · 2025년 7월 1일부터 외국인 학생 학비에 6% 서비스세(SST)가 부과됩니다. 위 금액에 약 6%를 더해 산정하십시오.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1링깃(RM) ≈ 339원 · 2026년 9월 기준 · 단위 만원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대학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 Taylor's University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1969년 설립된 말레이시아 최상위권 사립대학교입니다. 호텔·관광 분야는 7년 연속 세계 Top 20~30위권을 유지하고 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FF3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#272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9864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FF3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03580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2위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03580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3036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FF3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36752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36752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 순위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346704"/>
            <a:ext cx="6629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말레이시아 사립대 순서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UTP #=261  ▸  테일러스 #272  ▸  UCSI #282  ▸  선웨이 #354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69080"/>
          <a:ext cx="11057839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43416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3월 · 8월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 — 개별 심사(case-by-case). 본과 직행은 보장되지 않음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60~78) / 파운데이션 IELTS 5.0~5.5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호텔경영·관광(세계 #26위), 경영학 계열 전체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공학사(기계·화학 등), BSc 이학사(약학·데이터사이언스 등)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(경영·호텔) / 4년제 130~140학점 (공대·약대)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TAYLOR'S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학비와 진학 경로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— 국제학생 기준 (2026)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5577840" cy="914400"/>
        </p:xfrm>
        <a:graphic>
          <a:graphicData uri="http://schemas.openxmlformats.org/drawingml/2006/table">
            <a:tbl>
              <a:tblPr/>
              <a:tblGrid>
                <a:gridCol w="1444752"/>
                <a:gridCol w="1298448"/>
                <a:gridCol w="182880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44,044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전체 범위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95,066~446,690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3,220만~1억 5,140만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전공별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국제호텔경영 3년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133,146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 4년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50,184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화학공학 4년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42,240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5,730만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1,430만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66928" y="43891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6% SST 별도 · 학사 상단값(RM 446,690)은 의약 계열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4681728"/>
            <a:ext cx="5577840" cy="1298448"/>
          </a:xfrm>
          <a:prstGeom prst="roundRect">
            <a:avLst>
              <a:gd name="adj" fmla="val 3521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8096" y="47731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63C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학비 주의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5029200"/>
            <a:ext cx="5212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 정보 사이트의 "RM 28,600~68,590"은 파운데이션이 아니라 국제 프리유니버시티(A Level · SACE, 18~24개월)를 합친 범위입니다.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테일러스에는 의대 파운데이션이 따로 없고 의학·약학도 FIS로 진학하므로 전공별 편차가 크지 않습니다.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1536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학위 · 편입 경로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46520" y="1901952"/>
            <a:ext cx="5175504" cy="1417320"/>
          </a:xfrm>
          <a:prstGeom prst="roundRect">
            <a:avLst>
              <a:gd name="adj" fmla="val 3226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647688" y="2011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(검증됨)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647688" y="2322576"/>
            <a:ext cx="4773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경영 : UWE Bristol (영국), QUT (호주)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호텔·관광 : Université Toulouse–Jean Jaurès (UT2J, 프랑스), Académie de Toulouse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46520" y="3456432"/>
            <a:ext cx="5175504" cy="1207008"/>
          </a:xfrm>
          <a:prstGeom prst="roundRect">
            <a:avLst>
              <a:gd name="adj" fmla="val 3788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647688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3C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학점 이전 (ADTP) — 주의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647688" y="3858768"/>
            <a:ext cx="4773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 수학 후 미국·캐나다·호주 대학으로 편입하는 학점 이전 경로입니다.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대학은 매년 개별 지원·경쟁 심사이며 합격은 보장되지 않습니다.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4800600"/>
            <a:ext cx="5175504" cy="91440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647688" y="4892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 후 진로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647688" y="5148072"/>
            <a:ext cx="4773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체인 호텔 매니저, 관광·MICE, 이벤트 디렉터 / 말레이시아·싱가포르 다국적 기업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대학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 Sunway University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 설립, Jeffrey Cheah 재단이 지원하는 사립대학교입니다. 90개국 이상의 다국적 학생이 재학 중입니다.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#354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9864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03580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03580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상승 계단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3036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36752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36752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복수학위 추가비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346704"/>
            <a:ext cx="6629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혼동 주의 · 선웨이 홈페이지의 "Top 303"은 QS가 아니라 THE 2026 기준입니다.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기준 순위는 공동 #354위입니다.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69080"/>
          <a:ext cx="11057839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43416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8월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 — 개별 심사. 에세이·서류 심사가 엄격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 이상) / 파운데이션·디플로마 IELTS 5.0~5.5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 인문사회과학 전반, BSc 경영학 · 호텔경영학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공학사(전자·화학 등), BSc 컴퓨터공학 · 바이오메디컬 · 순수과학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(영국식) / 4년제 130~140학점 (캡스톤 포함)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SUNWAY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학비와 진학 경로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— 국제학생 기준 (2026)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5577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783080"/>
                <a:gridCol w="21031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17,850~29,350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 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경영계열(연)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USD 6,820~9,091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 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전체 범위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15,475~500,845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자격증·디플로마·의학 포함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703320"/>
            <a:ext cx="5577840" cy="960120"/>
          </a:xfrm>
          <a:prstGeom prst="roundRect">
            <a:avLst>
              <a:gd name="adj" fmla="val 4762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8096" y="3822192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신입 국제학생은 RM 18,000 또는 1학기분 중 큰 금액을 선납해야 합니다.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6% 서비스세(SST)는 별도입니다.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536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학위 · 편입 경로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46520" y="1901952"/>
            <a:ext cx="5175504" cy="1572768"/>
          </a:xfrm>
          <a:prstGeom prst="roundRect">
            <a:avLst>
              <a:gd name="adj" fmla="val 2907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647688" y="2011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— 랭커스터 대학교 (검증됨)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647688" y="2322576"/>
            <a:ext cx="47731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 시 선웨이·랭커스터 2개 학위증 발급, 양교 동문 자격.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 없음 — 기본 등록금에 포함.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랭커스터 협력 프로그램(경영·컴퓨팅·심리 등)에 한합니다.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46520" y="3611880"/>
            <a:ext cx="5175504" cy="960120"/>
          </a:xfrm>
          <a:prstGeom prst="roundRect">
            <a:avLst>
              <a:gd name="adj" fmla="val 4762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647688" y="37033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공식 파트너십 — ASU (검증됨)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647688" y="3959352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애리조나주립대 Cintana Alliance 파트너 · 20개 이상 패스웨이 · 최대 90학점 이전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46520" y="4709160"/>
            <a:ext cx="5175504" cy="1005840"/>
          </a:xfrm>
          <a:prstGeom prst="roundRect">
            <a:avLst>
              <a:gd name="adj" fmla="val 4545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647688" y="48006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63C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편입 대학 — 주의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647688" y="5056632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코넬 · NYU 등은 선배 편입 실적이며, 공식 연계나 합격 보장이 아닙니다.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E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대학 한눈에 비교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학비만 보면 선웨이가 연 500만~600만 원 저렴합니다. 다만 결정 기준은 비용이 아니라 전공이어야 합니다.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03120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77640"/>
                <a:gridCol w="396849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EC3E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5D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Taylor's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Sunway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세계 랭킹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#272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#=354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사립대 순위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 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3월 · 8월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8월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간판 전공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호텔·관광 (세계 #26위)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경영·금융, 컴퓨팅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복수 학위 파트너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UWE Bristol · QUT · UT2J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랭커스터 (추가비용 $0)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 공식 파트너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 학점 이전 중심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ASU (Cintana Alliance)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(학사)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1,430만~1,710만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학비 (1년 총액)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623560"/>
            <a:ext cx="5486400" cy="658368"/>
          </a:xfrm>
          <a:prstGeom prst="roundRect">
            <a:avLst>
              <a:gd name="adj" fmla="val 6944"/>
            </a:avLst>
          </a:prstGeom>
          <a:solidFill>
            <a:srgbClr val="1E3A6B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49808" y="562356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 지망이면 테일러스가 1순위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44768" y="5623560"/>
            <a:ext cx="5486400" cy="658368"/>
          </a:xfrm>
          <a:prstGeom prst="roundRect">
            <a:avLst>
              <a:gd name="adj" fmla="val 6944"/>
            </a:avLst>
          </a:prstGeom>
          <a:solidFill>
            <a:srgbClr val="1E3A6B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27648" y="562356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가성비 + 영국 학위가 목표면 선웨이가 1순위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용어 바로잡기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"듀얼 어워드(Dual Award)"와 "듀얼 디그리(Dual Degree)"는 사실상 같은 것을 가리킵니다. 구분해야 할 것은 "공동 학위(Joint Degree)"입니다.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3520440" cy="3063240"/>
          </a:xfrm>
          <a:prstGeom prst="roundRect">
            <a:avLst>
              <a:gd name="adj" fmla="val 1493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95528" y="228600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Dual Award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학위(인증)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5528" y="2980944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873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9809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학위증 2장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3474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대학이 학위증을 1장씩 수여.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Award는 학위·디플로마·수료증을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포괄하는 상위 개념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45262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72744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+ UWE Bristol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+ UT2J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43400" y="2148840"/>
            <a:ext cx="3520440" cy="3063240"/>
          </a:xfrm>
          <a:prstGeom prst="roundRect">
            <a:avLst>
              <a:gd name="adj" fmla="val 1493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572000" y="228600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Dual Degree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학위(학위)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0" y="2980944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873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0" y="29809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학위증 2장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474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대학이 학위증을 1장씩 수여.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대상을 학위(degree)로 한정한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표현으로, 실질은 Dual Award와 동일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5262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472744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+ 랭커스터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19872" y="2148840"/>
            <a:ext cx="3520440" cy="3063240"/>
          </a:xfrm>
          <a:prstGeom prst="roundRect">
            <a:avLst>
              <a:gd name="adj" fmla="val 1493"/>
            </a:avLst>
          </a:prstGeom>
          <a:solidFill>
            <a:srgbClr val="FBECEA"/>
          </a:solidFill>
          <a:ln w="12700">
            <a:solidFill>
              <a:srgbClr val="B5342B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48472" y="228600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Joint Degree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 학위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348472" y="2980944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B534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48472" y="29809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학위증 1장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348472" y="3474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학위증 1장에 두 대학 명의가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기재되는 방식.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완전히 다른 제도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45262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348472" y="472744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B534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사례 없음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57839" cy="822960"/>
          </a:xfrm>
          <a:prstGeom prst="roundRect">
            <a:avLst>
              <a:gd name="adj" fmla="val 5556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68096" y="5504688"/>
            <a:ext cx="106555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권고 · 원본 PDF는 "듀얼디그리 / 공동 학위"를 나란히 적었으나, 선웨이–랭커스터는 학위증 2장이므로 공동 학위가 아닙니다.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슬라이드에는 "복수 학위(Dual Award / Dual Degree)"로 병기하고 "공동 학위"는 삭제하십시오.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TWINNING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제도 — 무엇이고 어디까지 가능한가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대학에서 해외 본교 학위 과정을 이수하고 해외 본교 명의의 학위를 받는 제도입니다. "3+0", "2+1"의 숫자는 [말레이시아 수학 연수] + [해외 수학 연수]를 뜻합니다.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66544"/>
          <a:ext cx="5358384" cy="914400"/>
        </p:xfrm>
        <a:graphic>
          <a:graphicData uri="http://schemas.openxmlformats.org/drawingml/2006/table">
            <a:tbl>
              <a:tblPr/>
              <a:tblGrid>
                <a:gridCol w="1170432"/>
                <a:gridCol w="1828800"/>
                <a:gridCol w="713232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3+0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3년 + 해외 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8734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 또는 복수 학위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2년 + 해외 1년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1년 + 해외 2년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2+2 · 1+3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4년제 과정 (공학 등)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학점 이전 ADTP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 이수 후 편입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편입 대학 학위 · 보장 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108192" y="2066544"/>
            <a:ext cx="5522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혼동하기 쉬운 3가지 구분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08192" y="2395728"/>
          <a:ext cx="5522976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463040"/>
                <a:gridCol w="184708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학위증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보장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트위닝 3+0 / 2+1 / 1+2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1장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8734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진급 요건 충족 시 보장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복수 학위 Dual Award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8734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학점 이전 ADP / ADTP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편입 대학 1장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없음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108192" y="4078224"/>
            <a:ext cx="5522976" cy="786384"/>
          </a:xfrm>
          <a:prstGeom prst="roundRect">
            <a:avLst>
              <a:gd name="adj" fmla="val 5814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09360" y="4187952"/>
            <a:ext cx="5138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E4A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트위닝은 경로가 미리 확정된 제도이고, 학점 이전은 본인이 매년 새로 지원하는 경로입니다.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E4A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시 반드시 구분해서 확인하십시오.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4407408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— 3+0가 압도적으로 유리합니다</a:t>
            </a:r>
            <a:endParaRPr lang="en-US" sz="13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36592"/>
          <a:ext cx="5358384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20240"/>
                <a:gridCol w="224942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30,000~50,000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1,020만~1,700만 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£15,000~30,000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2,670만~5,340만 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A$20,000~45,000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1,900만~4,275만 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108192" y="5029200"/>
            <a:ext cx="5522976" cy="1234440"/>
          </a:xfrm>
          <a:prstGeom prst="roundRect">
            <a:avLst>
              <a:gd name="adj" fmla="val 3704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6309360" y="5120640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63C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경영학 3년 학위 기준 학비 비교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309360" y="5394960"/>
            <a:ext cx="5138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3+0 (선웨이–랭커스터) : 약 3,050만 원 — 학위증 2장, 해외 체류 없음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1+2 (말레이 1년 + 영국 2년) : 약 8,830만 원 + 영국 생활비 4,280만~5,340만 원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1년은 말레이시아 1년의 2~3배. 3+0도 영국 본교 학위증은 동일하게 받습니다.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£1 ≈ 1,780원 · A$1 ≈ 950원 · RM 1 ≈ 339원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TWINNING PARTNERS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가능 대학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4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92224"/>
          <a:ext cx="11055096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34440"/>
                <a:gridCol w="8220456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프로그램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랭커스터 (영국)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3+0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과정 말레이시아 이수 후 선웨이·랭커스터 학위증 2장. 추가 비용 없음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랭커스터 이동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1+2 · 교환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Global Mobility Scholarship 적용 시 교환학기 등록금 100% 면제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빅토리아대 (호주)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3+0 / 2+1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Sunway College가 말레이시아 유일 파트너(1994~). VU Bachelor of Business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ASU (미국)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패스웨이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Cintana Alliance 공식 파트너 · 20개 이상 패스웨이 · 최대 90학점 이전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 (미국)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1+3 / 2+2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트위닝 아닌 학점 이전 · 개별 지원 · 경쟁 심사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66928" y="36758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실제 편입 사례(합격 보장 아님) : 코넬 · NYU · 존스홉킨스 · 미시간 · 퍼듀 · 위스콘신 · 보스턴 · 펜스테이트 · 오하이오주립 · 러트거스 · NC주립 · 미시간주립 · 인디애나 · 시러큐스 · 콜로라도광산대 · 포덤 · 마켓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041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3C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</a:t>
            </a:r>
            <a:endParaRPr lang="en-US" sz="14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315968"/>
          <a:ext cx="11055096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977640"/>
                <a:gridCol w="5020056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국가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Business School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1+2 · 1+3 (BIS 1+2.5)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호주 · 뉴질랜드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Business 복수 학위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3+0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UWE Bristol(영국) · QUT(호주)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Hospitality · Tourism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1+2 · 2+1.5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호주 등 (복수 학위 UT2J 프랑스)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Computer Science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1+2 · 1+2.5 · 2+1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호주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Engineering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2+2 (기계 2월) · 2+2.5 (7월) · 1+3 (MEng 화공)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호주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66928" y="6144768"/>
            <a:ext cx="11055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거론되는 파트너(전공·연도별 변동) — 영국 : UWE Bristol · Birmingham · Leeds · Reading · St George's / 호주 : Adelaide · Monash · Queensland · QUT · RMIT · UTS · Newcastle · Flinders · Deakin · South Australia · Melbourne / 뉴질랜드 : Auckland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계열 5년 총비용 — 선웨이 vs 테일러스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공학·이학 계열은 파운데이션 1년이 본과 4년에 선행하므로 실제 소요는 5년입니다.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2103120"/>
          <a:ext cx="4297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2103120"/>
          <a:ext cx="650138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487168"/>
                <a:gridCol w="241401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17,850~29,350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610만~995만 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44,044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1,493만 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화학공학 4년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153,570 (5,206만)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168,960 (5,728만)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 4년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153,800 (5,214만)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200,736 (6,805만)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전자전기 4년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154,540 (5,239만)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확인 필요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 학비 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(기계공학)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5,820만~6,210만 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 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4572000"/>
          <a:ext cx="6501384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212848"/>
                <a:gridCol w="213969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총예산 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5년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5년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+ 6% SST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6,170만~6,580만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8,800만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비자 갱신 · IM 운영비 · 용돈 · 입학금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9,700만~10,300만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9,700만~10,300만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예산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5,870만~1억 6,880만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8,500만~1억 9,100만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66928" y="5029200"/>
            <a:ext cx="4297680" cy="1234440"/>
          </a:xfrm>
          <a:prstGeom prst="roundRect">
            <a:avLst>
              <a:gd name="adj" fmla="val 3704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768096" y="5120640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선웨이가 약 2,200만~2,600만 원 유리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768096" y="5413248"/>
            <a:ext cx="3895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다만 테일러스 기계공학은 영국·호주 대학과의 2+2 트위닝이 열려 있으므로, 해외 학위가 목표라면 비용만으로 결정하지 마십시오.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1링깃(RM) ≈ 339원 · IM 공동체 기준 · 6% 서비스세 포함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지원 자격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네 가지 조건이 모두 준비된 학생만 지원 가능합니다.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1057839" cy="804672"/>
          </a:xfrm>
          <a:prstGeom prst="roundRect">
            <a:avLst>
              <a:gd name="adj" fmla="val 5682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322576"/>
            <a:ext cx="457200" cy="457200"/>
          </a:xfrm>
          <a:prstGeom prst="ellipse">
            <a:avLst/>
          </a:prstGeom>
          <a:solidFill>
            <a:srgbClr val="0A2A5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226771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리뉴젠 공동체 1년 이상 훈련자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230368" y="2267712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공동체 디렉터 추천서 제출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090672"/>
            <a:ext cx="11057839" cy="804672"/>
          </a:xfrm>
          <a:prstGeom prst="roundRect">
            <a:avLst>
              <a:gd name="adj" fmla="val 5682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264408"/>
            <a:ext cx="457200" cy="457200"/>
          </a:xfrm>
          <a:prstGeom prst="ellipse">
            <a:avLst/>
          </a:prstGeom>
          <a:solidFill>
            <a:srgbClr val="0A2A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고등과정 학력 이수자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3209544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고교 12학년 졸업 : 내신 평균 70점 이상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고졸 검정고시 : 평균 70~80점 이상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032504"/>
            <a:ext cx="11057839" cy="804672"/>
          </a:xfrm>
          <a:prstGeom prst="roundRect">
            <a:avLst>
              <a:gd name="adj" fmla="val 5682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206240"/>
            <a:ext cx="457200" cy="457200"/>
          </a:xfrm>
          <a:prstGeom prst="ellipse">
            <a:avLst/>
          </a:prstGeom>
          <a:solidFill>
            <a:srgbClr val="E85D1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15137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공인 점수 취득자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4151376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5.5~6.0 이상 또는 TOEFL iBT 60점 이상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본과 직행 목표 시 IELTS 6.0 / TOEFL iBT 70대 권장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974336"/>
            <a:ext cx="11057839" cy="804672"/>
          </a:xfrm>
          <a:prstGeom prst="roundRect">
            <a:avLst>
              <a:gd name="adj" fmla="val 5682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5148072"/>
            <a:ext cx="457200" cy="457200"/>
          </a:xfrm>
          <a:prstGeom prst="ellipse">
            <a:avLst/>
          </a:prstGeom>
          <a:solidFill>
            <a:srgbClr val="0A2A5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5148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81328" y="509320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필아메리카존 코스 수료자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30368" y="5093208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항목 주의 · TOEFL iBT 60점은 IELTS 6.0의 하한선이므로 전공에 따라 미달될 수 있습니다. 본과 직행을 노린다면 70점대를 목표로 하십시오.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PROCESS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절차 6단계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 원서 접수 시점이 전체 일정을 좌우합니다. 개강 8주 전 마감이 원칙이며, 국제학생은 12~16주 전 접수를 권장합니다.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134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4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0604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디렉터 상담 후 입학 시기 결정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0896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개인의 학력 조건에 맞추어 지망 학교와 학과를 설정합니다.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9432" y="23134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4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60604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필아메리카존 유학 과정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310896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과정을 통해 유학과 어학을 준비합니다.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19872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75904" y="23134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4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60604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 입학 신청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310896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IM말레이시아에 필요한 서류를 준비하여 신청합니다.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93192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2960" y="4096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38912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 서류 준비 및 원서 접수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개강 최소 8주 전 접수. 국제학생은 12~16주 전 권장.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43400" y="393192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4599432" y="4096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4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99432" y="438912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입학허가서(Offer Letter) 수령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99432" y="489204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기준 1~2주 심사 후 발송. 수락 서명 후 재제출합니다.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119872" y="393192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375904" y="4096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4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375904" y="438912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신청 및 입국비자 진행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375904" y="489204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EMGS를 통해 학생 비자를 신청·대행합니다.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VISA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발급 절차와 리드타임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28" y="1609344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60934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15727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 수령 및 서명 후 제출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1993392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199339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95681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서포팅레터 첨부 후 EMGS 비자신청서 제출 및 비용 납부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377440"/>
            <a:ext cx="310896" cy="256032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3774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3408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서류 심사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705856" y="2340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D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2~4주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761488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276148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27249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최종 승인 여부 결정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145536"/>
            <a:ext cx="310896" cy="256032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14553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1089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승인 후 비자허가서(VAL) 발급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705856" y="310896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D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4~8주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3529584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52958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34930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항공권 구매 후 입국 비자(SEV 혹은 eVisa) 신청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3913632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9136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3877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비자 승인 후 입국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297680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66928" y="429768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후 1주일 이내 현지 신체검사 진행 후 여권 제출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681728"/>
            <a:ext cx="310896" cy="256032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6928" y="4681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" y="4645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스티커가 붙은 여권 수령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705856" y="464515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D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후 2~4주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635240" y="1572768"/>
            <a:ext cx="3986784" cy="1417320"/>
          </a:xfrm>
          <a:prstGeom prst="roundRect">
            <a:avLst>
              <a:gd name="adj" fmla="val 3226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836408" y="168249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행정 리드타임 결론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7836408" y="2011680"/>
            <a:ext cx="3584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비자 절차에 4~8주가 소요되므로,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예정일 3~4개월 전에 VAL 신청을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시작해야 안전합니다.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35240" y="3127248"/>
            <a:ext cx="3986784" cy="1920240"/>
          </a:xfrm>
          <a:prstGeom prst="roundRect">
            <a:avLst>
              <a:gd name="adj" fmla="val 2381"/>
            </a:avLst>
          </a:prstGeom>
          <a:solidFill>
            <a:srgbClr val="FBECEA"/>
          </a:solidFill>
          <a:ln w="12700">
            <a:solidFill>
              <a:srgbClr val="B5342B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836408" y="323697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34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인증 방식 주의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836408" y="3547872"/>
            <a:ext cx="3584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24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말레이시아는 헤이그 아포스티유 협약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24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비가입국입니다.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24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발급 검정고시 합격증명서·성적증명서는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24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아포스티유가 아니라 영사확인(외교부 →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24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주한 말레이시아 대사관)을 밟아야 합니다.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635240" y="5184648"/>
            <a:ext cx="3986784" cy="932688"/>
          </a:xfrm>
          <a:prstGeom prst="roundRect">
            <a:avLst>
              <a:gd name="adj" fmla="val 4902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7836408" y="5294376"/>
            <a:ext cx="3584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대학 편입 시에도 말레이시아 대학 서류는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주말레이시아 한국대사관 영사확인이 필요합니다.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 · 2027년 1~2월 입학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1월 / 테일러스 2월 인테이크 기준. 가장 여유 있는 최적 진입 시기입니다.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03120"/>
          <a:ext cx="11057839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52160"/>
                <a:gridCol w="3511296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제1회 원서 접수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시·도 교육청 공고 확인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제1회 응시 (평균 80점 이상 목표)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4월 초·중순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2026.05 중순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합격자 발표 → 영문 합격증명서·성적증명서 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후 영사확인 절차 착수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2026.05 하순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~ 11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1차 응시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미달 시 10월 재응시 (성적 유효 2년)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5D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(선웨이 1월 / 테일러스 2월)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2026.10~11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신청 및 심사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 소요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Offer Letter · VAL 수령 → eVisa 신청, 항공권 예약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출국 최종 점검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2027.01 / 02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선웨이(1월) · 테일러스(2월) 정식 입학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여유 있는 최적 진입 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B · 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 · C플랜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 · 2027년 4월 입학 (선웨이 · 테일러스 공통)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57839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5733288"/>
                <a:gridCol w="3511296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제2회 원서 접수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2026.08.11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제2회 응시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08.28 합격자 발표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영문 증명서 발급 + 영사확인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 준비 병행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2026.09 ~ 2027.02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2026.11~12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응시 — 과정 중반에 확보 필수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B플랜 최대 리스크 구간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2026.12 ~ 2027.01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5D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(4월 인테이크)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원안의 "2~3월 접수"는 비자 리드타임상 불가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2027.01~02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심사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 수령, eVisa 신청, 항공권 예약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· 테일러스 4월 인테이크 정식 입학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 학제 졸업 후 가장 빠른 입학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440680"/>
            <a:ext cx="11057839" cy="1024128"/>
          </a:xfrm>
          <a:prstGeom prst="roundRect">
            <a:avLst>
              <a:gd name="adj" fmla="val 4464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8096" y="5513832"/>
            <a:ext cx="10655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C플랜 (예비) · 2027년 8~9월 입학 — 가장 안전한 대안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5788152"/>
            <a:ext cx="106555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B플랜은 어학 성적을 필리핀 과정 6개월 중 3개월차에 확보해야 하는 부담이 있습니다. 목표 점수 미달 시 8월(선웨이 파운데이션) / 9월(선웨이·테일러스 학사)로 이월하십시오.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2회(8월) → 필리핀 과정 완주(익년 2월) → 어학 재응시(3~4월) → 원서 접수(5월) → 비자(6~7월) → 8~9월 입학. 전 구간에 1개월 이상 여유가 확보됩니다.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CHECK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팩트체크 — 반드시 고쳐야 할 항목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제시된 원문 표 18개 항목을 공개 자료로 검증했습니다. 아래는 발표 자리에서 반박당할 위험이 큰 상위 7건입니다.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084832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1873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 · 사실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624328" y="2084832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A1660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24328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5건 · 부분 정확 · 보완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81728" y="2084832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B534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1728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9건 · 수정 필요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06624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822960"/>
                <a:gridCol w="703173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원문 내용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 결과 및 수정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80점이면 파운데이션 없이 본과 직행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불가. 말레이시아 사립대는 원칙적으로 Pre-U 자격을 요구하며 한국 고교 학력은 개별 심사. 공대·약대·컴공은 파운데이션 사실상 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B플랜 2~3월 원서 접수 → 4월 입학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일정 불가. 원서 마감 개강 8주 전 + EMGS 비자 4~8주 → 전년 12월~1월 초 접수로 수정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코넬 · 존스홉킨스 · NYU 등 "공식 연계"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과장. ADP/ADTP는 학점 이전 경로이며 대부분 선배 편입 실적. 검증된 공식 파트너십은 선웨이–ASU뿐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한동대 "4학기 수료 시 100% 공인 인정"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과장. 국외대학은 4개 학기 수료 또는 졸업이수학점의 2/4(4년제)·2/3(3년제) 이상 필요. 지원 자격일 뿐 합격 보장 아님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"말레이시아 사립대 1위"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2위로 수정. UTP #=261 &gt; 테일러스 #272 &gt; UCSI #282 &gt; 선웨이 #354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듀얼학위 "영국 서식스대"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서식스대는 근거 없음. 실제는 UWE Bristol · QUT(경영), UT2J(호텔·관광)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 — IM 입학금 · 비자 갱신비 누락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입학금 500만 원(1회), 학생비자 매년 갱신 약 US$1,000, 6% 서비스세 합산 필요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11개 항목(입학 시기 · 영어 조건 · 생활비 · 환율 · 검정고시 일정 등)의 전체 검증표는 배포 문서 10장에 수록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 — 수정판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누락돼 있던 IM 입학금 · 비자 갱신비 · 6% 서비스세 · 점심/용돈을 모두 반영한 금액입니다.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2103120"/>
          <a:ext cx="50292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103120"/>
          <a:ext cx="5733288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1417320"/>
                <a:gridCol w="1417320"/>
                <a:gridCol w="1417320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3년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3년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5년 (5년제)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910~1,290만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1,430~1,710만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6% 서비스세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55~77만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86~103만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점심·교통·용돈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260~380만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260~380만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260~380만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3,430~3,550만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2,810~3,230만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3,360~3,770만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수학 기간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본과 4년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790만~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1,150만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8,930만~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190만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5,870만~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9,100만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897880" y="5504688"/>
            <a:ext cx="5733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B534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5년 : 선웨이 1억 5,870만~1억 6,880만 / 테일러스 1억 8,500만~1억 9,100만 (슬라이드 13 상세)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B534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원안 대비 총액이 1,700만~2,000만 원 증가하며, 공대·약대는 파운데이션 1년이 선행해 실제 소요는 5년입니다.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1링깃(RM) ≈ 339원 · IM 입학금 500만 원(1회성) 포함 · 단위 만원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44200" y="5074920"/>
            <a:ext cx="914400" cy="914400"/>
          </a:xfrm>
          <a:prstGeom prst="star5">
            <a:avLst/>
          </a:prstGeom>
          <a:solidFill>
            <a:srgbClr val="F5B301"/>
          </a:solidFill>
          <a:ln w="12700">
            <a:solidFill>
              <a:srgbClr val="F5B30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및 다음 단계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389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0607040" cy="1170432"/>
          </a:xfrm>
          <a:prstGeom prst="roundRect">
            <a:avLst>
              <a:gd name="adj" fmla="val 3906"/>
            </a:avLst>
          </a:prstGeom>
          <a:solidFill>
            <a:srgbClr val="1E3A6B"/>
          </a:solidFill>
          <a:ln w="12700">
            <a:solidFill>
              <a:srgbClr val="2C4E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2157984"/>
            <a:ext cx="512064" cy="512064"/>
          </a:xfrm>
          <a:prstGeom prst="ellipse">
            <a:avLst/>
          </a:prstGeom>
          <a:solidFill>
            <a:srgbClr val="E85D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9536" y="2157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993392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전공으로 먼저 결정하십시오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2340864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호텔·관광이면 테일러스(세계 #26위), 금융·컴퓨팅이면 선웨이(랭커스터 복수 학위 · 학비 연 500만 원 저렴). 비용 차이는 선택 기준이 아닙니다.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10607040" cy="1170432"/>
          </a:xfrm>
          <a:prstGeom prst="roundRect">
            <a:avLst>
              <a:gd name="adj" fmla="val 3906"/>
            </a:avLst>
          </a:prstGeom>
          <a:solidFill>
            <a:srgbClr val="1E3A6B"/>
          </a:solidFill>
          <a:ln w="12700">
            <a:solidFill>
              <a:srgbClr val="2C4E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3529584"/>
            <a:ext cx="512064" cy="512064"/>
          </a:xfrm>
          <a:prstGeom prst="ellipse">
            <a:avLst/>
          </a:prstGeom>
          <a:solidFill>
            <a:srgbClr val="F5B30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3529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3364992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A플랜을 기본값으로 삼으십시오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3712464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4월 검정고시 → 5월 발표 → 10월 원서 접수 → 2027년 1~2월 입학. B플랜 4월 입학은 어학 확보 기간이 3개월뿐이라 C플랜(8~9월)을 예비로 준비하십시오.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72000"/>
            <a:ext cx="10607040" cy="1170432"/>
          </a:xfrm>
          <a:prstGeom prst="roundRect">
            <a:avLst>
              <a:gd name="adj" fmla="val 3906"/>
            </a:avLst>
          </a:prstGeom>
          <a:solidFill>
            <a:srgbClr val="1E3A6B"/>
          </a:solidFill>
          <a:ln w="12700">
            <a:solidFill>
              <a:srgbClr val="2C4E8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4901184"/>
            <a:ext cx="512064" cy="512064"/>
          </a:xfrm>
          <a:prstGeom prst="ellipse">
            <a:avLst/>
          </a:prstGeom>
          <a:solidFill>
            <a:srgbClr val="FF7A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9536" y="49011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4736592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보장할 수 없는 표현을 삭제하십시오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5084064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"본과 직행 가능" "미국 명문대 공식 연계" "한동대 100% 인정" 세 표현은 근거가 없습니다. 설명회에서 그대로 쓰면 신뢰를 잃습니다.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03504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안내문은 2026년 9월 14일 기준 공개 자료로 작성되었습니다. 학비 · 입학 시기 · 입학 조건은 대학이 연 단위로 개정하므로, 최종 지원 전 각 대학 공식 입학처에 반드시 재확인하시기 바랍니다.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 말레이시아 입학안내문 2027</dc:title>
  <dc:subject>PptxGenJS Presentation</dc:subject>
  <dc:creator>IM 말레이시아</dc:creator>
  <cp:lastModifiedBy>IM 말레이시아</cp:lastModifiedBy>
  <cp:revision>1</cp:revision>
  <dcterms:created xsi:type="dcterms:W3CDTF">2026-09-14T23:42:52Z</dcterms:created>
  <dcterms:modified xsi:type="dcterms:W3CDTF">2026-09-14T23:42:52Z</dcterms:modified>
</cp:coreProperties>
</file>