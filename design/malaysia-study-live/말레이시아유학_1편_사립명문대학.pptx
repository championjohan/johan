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1편은 말레이시아 사립 명문 두 곳입니다. 2편의 모나쉬·노팅엄과 달리 계열에 따라 파운데이션 없이 본과로 바로 들어갈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2편과의 가장 큰 차이는 "직행이 되느냐"입니다. 여기서 1년과 학비가 갈립니다.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전공부터 물으십시오. 호텔·디자인이면 테일러스, 회계·금융·컴퓨터면 선웨이로 답이 좁혀집니다.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검정고시 80점과 영어 점수 — 이 두 가지가 상담에서 가장 먼저 나옵니다. 영어는 여유를 두는 편이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"우리 아이는 직행이 되나요?"가 1편의 핵심 질문입니다. 전공을 먼저 물으십시오.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비용은 ① &lt; ② &lt; ③ 순으로 오르고 해외 체류 기간도 같은 순서로 길어집니다. 예산과 목표 국가로 정리하십시오.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달러 요금표를 들고 오시는 분이 많습니다. 참고용이고 실제 청구는 링깃이라는 점을 반드시 짚으십시오.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선웨이의 결정적 장점은 랭커스터 복수 학위에 추가 비용이 없다는 점입니다. 그리고 MUFY를 선웨이가 운영합니다.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1편 기준이라 테일러스·선웨이를 먼저 뒀습니다. 선웨이만 학위증이 두 장이라는 점이 공학 상담의 결정타입니다.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두 행이 학부모가 가장 궁금해하는 부분입니다. 다만 전공이 먼저입니다.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학부모가 실제로 알고 싶은 숫자는 마지막 행입니다. 직행이냐 파운데이션이냐로 총액이 갈린다는 점을 먼저 말하십시오.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검정고시 1회(4월)를 잡으면 그해에 들어갑니다. 2회(8월)면 이듬해입니다. 1편은 직행 계열이 있어 2편보다 선택지가 넓습니다.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"어디가 더 좋은 학교인가요?"에 순위로 답하지 마시고, "무엇을 할 것인가에 따라 답이 바뀐다"로 되돌리십시오.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유학  1편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</a:t>
            </a:r>
            <a:endParaRPr lang="en-US" sz="54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 명문편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대학교  ·  선웨이 대학교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본과 직행이 가능합니다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57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계열에 따라 파운데이션 없이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5157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듀얼디그리 · 트위닝 · ADTP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5157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링깃·원화 기준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1996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· 말레이시아 지부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DIFFERENT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1편은 어떤 학교인가?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대학이 해외 대학과 손잡는 구조입니다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3200400"/>
          </a:xfrm>
          <a:prstGeom prst="roundRect">
            <a:avLst>
              <a:gd name="adj" fmla="val 2286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9339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1편 · 오늘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9424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사립 명문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학교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743200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 주체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310128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학위 + 해외대 연계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877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877056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듀얼디그리 · 트위닝 · ADTP로 취득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43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443984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계열에 따라 직행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0488" y="1828800"/>
            <a:ext cx="5358384" cy="3200400"/>
          </a:xfrm>
          <a:prstGeom prst="roundRect">
            <a:avLst>
              <a:gd name="adj" fmla="val 2286"/>
            </a:avLst>
          </a:prstGeom>
          <a:solidFill>
            <a:srgbClr val="F1EDE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64808" y="199339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2편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2249424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직영 캠퍼스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학교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927848" y="2743200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말레이시아 · 노팅엄 말레이시아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 주체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927848" y="3310128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모나쉬 · 영국 노팅엄 본교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877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927848" y="3877056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순간부터 본교 학위 과정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64808" y="4443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927848" y="4443984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검정고시는 계열 무관하게 필수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193792"/>
            <a:ext cx="10911535" cy="621792"/>
          </a:xfrm>
          <a:prstGeom prst="roundRect">
            <a:avLst>
              <a:gd name="adj" fmla="val 10294"/>
            </a:avLst>
          </a:prstGeom>
          <a:solidFill>
            <a:srgbClr val="F5EED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193792"/>
            <a:ext cx="1039947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1편의 강점 — 본과 직행이 열려 있습니다. 호텔·경영·인문 계열이면 파운데이션 1년과 그 학비를 아낄 수 있습니다.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대학 한눈에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2026~2027 공식 자료 기준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3749040"/>
          </a:xfrm>
          <a:prstGeom prst="roundRect">
            <a:avLst>
              <a:gd name="adj" fmla="val 1951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93392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대학교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774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Taylor's University · 수방자야 레이크사이드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#272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42032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542032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호텔경영 세계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9664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69664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1969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169664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621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강세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621024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호텔·관광, 디자인, 마케팅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폭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096512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계열 (공연예술·역사까지)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572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4572000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ADTP(1996) · UWE 브리스톨 · QUT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047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학제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5047488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· 공학 4년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90488" y="1828800"/>
            <a:ext cx="5358384" cy="3749040"/>
          </a:xfrm>
          <a:prstGeom prst="roundRect">
            <a:avLst>
              <a:gd name="adj" fmla="val 1951"/>
            </a:avLst>
          </a:prstGeom>
          <a:solidFill>
            <a:srgbClr val="F1ED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1993392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대학교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23774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 University · 선웨이시티(반다르선웨이)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64808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64808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#354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64808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92440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92440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 0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 복수학위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720072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720072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720072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과정 개설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64808" y="3621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강세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927848" y="3621024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회계·금융, 계리학, 컴퓨터과학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64808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환경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927848" y="4096512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 · 병원 · 경전철 도보권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464808" y="4572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927848" y="4572000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 복수학위 · ASU · ADTP(1987)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464808" y="5047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학제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927848" y="5047488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· 공학 4년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선웨이 칼리지는 1987년 설립, 2011년 대학으로 승격했습니다. 미국 편입 과정은 선웨이가 테일러스보다 9년 앞섭니다.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ENTRY REQUIREMENTS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조건 — 검정고시 · 공인 영어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학교 모두 "고교 졸업 또는 검정고시"를 학력 조건으로 명시합니다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0976" y="193852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평균 80점 이상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377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 지원 자격 기준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95681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인가 고교 12학년 졸업자는 내신 평균 70점 이상입니다.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2편(모나쉬 · 노팅엄)을 함께 지망한다면 90점 이상을 보셔야 합니다.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26080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 영어 — 파운데이션 입학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73552"/>
          <a:ext cx="535838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10512"/>
                <a:gridCol w="18105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(Academic)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 ~ 5.5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 ~ 5.5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TOEFL iBT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 이상 권장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 이상 권장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190488" y="2926080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 영어 — 학사 (본과) 직행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3273552"/>
          <a:ext cx="535838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10512"/>
                <a:gridCol w="18105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(Academic)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TOEFL iBT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70점대 권장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70점대 권장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0080" y="4919472"/>
            <a:ext cx="5358384" cy="914400"/>
          </a:xfrm>
          <a:prstGeom prst="roundRect">
            <a:avLst>
              <a:gd name="adj" fmla="val 8000"/>
            </a:avLst>
          </a:prstGeom>
          <a:solidFill>
            <a:srgbClr val="F7EBE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14400" y="502920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TOEFL 60점은 하한선입니다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530352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TOEFL iBT 60점은 IELTS 6.0의 하한선이라 전공에 따라 미달될 수 있습니다. 본과 직행이 목표라면 70점대를 잡으십시오.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90488" y="4919472"/>
            <a:ext cx="5358384" cy="914400"/>
          </a:xfrm>
          <a:prstGeom prst="roundRect">
            <a:avLst>
              <a:gd name="adj" fmla="val 8000"/>
            </a:avLst>
          </a:prstGeom>
          <a:solidFill>
            <a:srgbClr val="F5EED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64808" y="502920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미달해도 길이 있습니다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64808" y="530352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학교 모두 교내 어학 과정(English Intensive)을 선이수한 뒤 본과로 올라가는 경로를 운영합니다. 성적 유효기간은 2년입니다.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영어 점수가 지원 과정에서 가장 큰 변수입니다. IM 지원 자격은 IELTS 5.5~6.0 또는 TOEFL iBT 60점 이상입니다.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WAYS 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경로 — 직행이냐 파운데이션이냐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1편의 핵심입니다 · 전공에 따라 1년과 학비가 갈립니다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1F6B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" y="19202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본과 직행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21284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호텔·관광 · 경영 · 인문사회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706624" y="21031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54096" y="1828800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1ED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18688" y="1828800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과정 없음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(테일러스 호텔·경영 / 선웨이 BA·BSc 경영)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21031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16368" y="1828800"/>
            <a:ext cx="4032504" cy="822960"/>
          </a:xfrm>
          <a:prstGeom prst="roundRect">
            <a:avLst>
              <a:gd name="adj" fmla="val 6667"/>
            </a:avLst>
          </a:prstGeom>
          <a:solidFill>
            <a:srgbClr val="1347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18288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1학년 직행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3년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798064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A841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28895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필수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318211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공학(BEng) · 이학(BSc) · 약학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706624" y="30723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54096" y="2798064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1ED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18688" y="2798064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1년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(테일러스 FIS / 선웨이 FIA·FIST)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723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16368" y="2798064"/>
            <a:ext cx="4032504" cy="822960"/>
          </a:xfrm>
          <a:prstGeom prst="roundRect">
            <a:avLst>
              <a:gd name="adj" fmla="val 6667"/>
            </a:avLst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0" y="279806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1학년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4~5년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767328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C08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" y="3858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모나쉬로 가는 길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41513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말레이시아가 목표인 경우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4041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054096" y="3767328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1EDE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18688" y="3767328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1년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(선웨이 칼리지가 운영)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14032" y="4041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16368" y="3767328"/>
            <a:ext cx="4032504" cy="822960"/>
          </a:xfrm>
          <a:prstGeom prst="roundRect">
            <a:avLst>
              <a:gd name="adj" fmla="val 6667"/>
            </a:avLst>
          </a:prstGeom>
          <a:solidFill>
            <a:srgbClr val="13474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80960" y="37673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학부 1학년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2편 참조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828032"/>
            <a:ext cx="10911535" cy="1005840"/>
          </a:xfrm>
          <a:prstGeom prst="roundRect">
            <a:avLst>
              <a:gd name="adj" fmla="val 6364"/>
            </a:avLst>
          </a:prstGeom>
          <a:solidFill>
            <a:srgbClr val="F5EED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96112" y="4937760"/>
            <a:ext cx="103994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직행이 되면 1년과 학비를 통째로 아낍니다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" y="5212080"/>
            <a:ext cx="103994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호텔경영·경영 계열, 선웨이 인문사회·경영 계열은 검정고시로도 본과 1학년 직행이 가능합니다. 파운데이션이 붙으면 테일러스는 1,490만 원, 선웨이는 610만~990만 원이 더 듭니다.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공학·이학 계열은 두 학교 모두 파운데이션이 필수입니다. 지망 학과를 먼저 확정한 뒤 기간과 예산을 잡으십시오.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ROUTES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학위로 가는 세 가지 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두 가지뿐입니다 — 어디서 공부하는가, 학위증을 몇 장 받는가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35224"/>
                <a:gridCol w="2935224"/>
                <a:gridCol w="293796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듀얼 디그리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트위닝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ADTP (미국 편입)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공부하는 곳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말레이시아에서 전 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+ 해외 본교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1~2년 + 미국 2~3년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받는 학위증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2장 (말레이시아 + 해외)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(해외 본교)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(편입한 미국 대학)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체류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(선택 가능)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낮음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사례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× 랭커스터(영국)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× UWE · QUT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2+1 · 1+2 형태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호주·영국 파트너대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1987년 개설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1996년 개설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846320"/>
            <a:ext cx="5358384" cy="1005840"/>
          </a:xfrm>
          <a:prstGeom prst="roundRect">
            <a:avLst>
              <a:gd name="adj" fmla="val 6364"/>
            </a:avLst>
          </a:prstGeom>
          <a:solidFill>
            <a:srgbClr val="F5EE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93776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× 랭커스터는 추가 비용이 없습니다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175504"/>
            <a:ext cx="4809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2006년부터 이어온 영국–말레이시아 최대 규모 파트너십입니다. 7,000명 이상이 31개 학위 과정에서 공부했고, 같은 학비로 영국 학위증을 함께 받습니다.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0488" y="4846320"/>
            <a:ext cx="5358384" cy="1005840"/>
          </a:xfrm>
          <a:prstGeom prst="roundRect">
            <a:avLst>
              <a:gd name="adj" fmla="val 6364"/>
            </a:avLst>
          </a:prstGeom>
          <a:solidFill>
            <a:srgbClr val="F1EDE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64808" y="493776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편입 과정은 선웨이가 9년 앞섭니다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64808" y="5175504"/>
            <a:ext cx="4809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1987년(39년) · 테일러스 1996년(30년). 선웨이는 미국 웨스턴미시간대 트위닝으로 출발해 2010~2012년 Transfer 방식으로 전환했습니다.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듀얼디그리·트위닝을 운영하는 학과는 전 학과가 아닙니다. 지망 학과가 해당되는지 반드시 확인하십시오.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TAYLOR'S FEES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— 학과와 학비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*국제학생 기준 · 환율 RM 1 ≈ 339원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2377440"/>
                <a:gridCol w="2377440"/>
                <a:gridCol w="1676095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(RM)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44,044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1,490만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1,490만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국제호텔경영 (직행 가능)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133,146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4,510만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기계공학 (파운데이션 필수)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200,736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6,810만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1,700만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기계공학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244,780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8,300만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1,660만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498848"/>
            <a:ext cx="5358384" cy="1316736"/>
          </a:xfrm>
          <a:prstGeom prst="roundRect">
            <a:avLst>
              <a:gd name="adj" fmla="val 5556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60857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직행 가능 계열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864608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호텔경영·관광 (QS 세계 26위), 경영학 계열 전체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파운데이션 1년과 1,490만 원을 아낍니다.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394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시기 — 학사 2 · 4 · 9월  |  파운데이션 2 · 4 · 8월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0488" y="4498848"/>
            <a:ext cx="5358384" cy="1316736"/>
          </a:xfrm>
          <a:prstGeom prst="roundRect">
            <a:avLst>
              <a:gd name="adj" fmla="val 5556"/>
            </a:avLst>
          </a:prstGeom>
          <a:solidFill>
            <a:srgbClr val="F7EBE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64808" y="460857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필수 계열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64808" y="4864608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BEng 공학사 (기계·화학 등), BSc 이학사 (약학·데이터사이언스 등)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총 5년 예산으로 잡으셔야 합니다.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464808" y="5394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달러 표기를 받으셨다면 — 참고용입니다. 납부는 링깃(RM)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*모든 학비에 6% 서비스세(SST) 별도  |  테일러스는 국제학생용 USD 요금표를 별도 발행하지만 "USD는 reference only, 납부는 RM"으로 명시돼 있습니다 (지시환율 USD 1 = RM 4.00~4.5, 환차손은 학생 부담).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 FEES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— 학과와 학비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*국제학생 기준 · 환율 RM 1 ≈ 339원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2377440"/>
                <a:gridCol w="2377440"/>
                <a:gridCol w="1676095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(RM)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(FIA · FIST)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17,850 ~ 29,350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610만 ~ 990만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610만 ~ 990만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경영계열 (직행 가능)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80,400 ~ 114,150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2,730만 ~ 3,870만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910만 ~ 1,290만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공학계열 (파운데이션 필수)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153,568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5,210만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1,300만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공학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171,418 ~ 182,918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5,810만 ~ 6,200만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1,160만 ~ 1,240만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498848"/>
            <a:ext cx="5358384" cy="1316736"/>
          </a:xfrm>
          <a:prstGeom prst="roundRect">
            <a:avLst>
              <a:gd name="adj" fmla="val 5556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60857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직행 가능 계열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864608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 인문사회과학 전반, BSc 경영학 · 호텔경영학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파운데이션 1년과 610만~990만 원을 아낍니다.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394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시기 — 학사 1 · 4 · 9월  |  FIA · FIST 1 · 4 · 8월  |  MUFY 1 · 7 · 8월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90488" y="4498848"/>
            <a:ext cx="5358384" cy="1316736"/>
          </a:xfrm>
          <a:prstGeom prst="roundRect">
            <a:avLst>
              <a:gd name="adj" fmla="val 5556"/>
            </a:avLst>
          </a:prstGeom>
          <a:solidFill>
            <a:srgbClr val="F5EED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64808" y="460857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 복수 학위는 추가 비용이 없습니다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64808" y="4864608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금액 그대로 영국 랭커스터대 학위증을 함께 받습니다. 7,000명 이상이 31개 학위 과정에서 공부했습니다.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464808" y="5394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칼리지가 모나쉬 MUFY도 운영합니다 → 2편으로 연결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*모든 학비에 6% 서비스세(SST) 별도  |  경영계열은 입학처가 달러(연 USD 6,820~9,091)로 안내한 금액을 환산한 값입니다. 청구 시 학교 지시환율에 따라 링깃 금액이 달라질 수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ENGINEERING DEGREES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 학위, 무엇이 다른가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학교 모두 본과 4년제입니다 · 다른 것은 "어느 나라 학제를 따르는가"입니다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3017520"/>
                <a:gridCol w="4602175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본과 학제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수여 학위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Bachelor of ○○ Engineering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with Honours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공학인증위원회(EAC/BEM) 인정 학위입니다. 워싱턴 어코드 가입국이라 호주·영국·캐나다·미국에서 재인증 없이 전문기술사 등록이 가능합니다.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BEng (Hons)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랭커스터 MEng (Hons)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BEng 학위와 함께 영국 랭커스터대의 MEng (Hons) 학위가 복수로 수여됩니다. 네 학교 중 유일하게 학위증 두 장이 나옵니다.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말레이시아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Bachelor of Engineering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(Honours)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호주 학제를 따릅니다. Honours가 과정 안에 포함된 4년제이며, 호주 자격체계(AQF) 8등급 — 학사 중 가장 높은 등급입니다.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말레이시아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MEng (Hons)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석사통합 학위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 학제를 따릅니다. 학사(BEng)가 아니라 석사통합(MEng)이며, 2+2 또는 3+1로 영국 본교 이동이 가능합니다.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047488"/>
            <a:ext cx="5358384" cy="786384"/>
          </a:xfrm>
          <a:prstGeom prst="roundRect">
            <a:avLst>
              <a:gd name="adj" fmla="val 9302"/>
            </a:avLst>
          </a:prstGeom>
          <a:solidFill>
            <a:srgbClr val="F5EE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5138928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1편의 결론 — 선웨이만 학위증이 두 장입니다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394960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4년, 같은 학비로 선웨이 BEng와 영국 랭커스터 MEng를 함께 받습니다. 공학 지망이면서 예산이 빠듯하다면 가장 유리한 선택지입니다.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0488" y="5047488"/>
            <a:ext cx="5358384" cy="786384"/>
          </a:xfrm>
          <a:prstGeom prst="roundRect">
            <a:avLst>
              <a:gd name="adj" fmla="val 9302"/>
            </a:avLst>
          </a:prstGeom>
          <a:solidFill>
            <a:srgbClr val="F7EB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64808" y="5138928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 이름보다 인증(Accreditation)을 보십시오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64808" y="5394960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엔지니어 등록과 해외 취업을 가르는 것은 학위 명칭이 아니라 EAC/BEM · IET · IChemE 인증과 워싱턴 어코드 가입 여부입니다.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테일러스 School of Engineering (화학·전기전자·기계 EAC/BEM 인정 — 메카트로닉스는 별도 확인 필요) · 선웨이 Faculty of Engineering and Technology · Monash UG Prospectus 2027 p.8 · UNM 브로셔 p.18  |  호주 자격체계(AQF)는 학사 우등 8등급 · 석사 9등급 · 박사 10등급입니다.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vs 선웨이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좋은 학교인가가 아니라, 어느 쪽이 이 학생에게 맞는가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10512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67048"/>
                <a:gridCol w="4267048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1969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칼리지 1987 → 대학 2011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QS 2027 세계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272위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354위 (전년 대비 +50)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강세 전공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호텔·관광 세계 26위, 디자인, 마케팅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회계·금융, 계리학, 컴퓨터과학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전공 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 계열 (공연예술·역사까지)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비즈니스 · CS · STEM 중심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직행 가능 계열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호텔경영·관광, 경영학 전체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 인문사회 전반, BSc 경영·호텔경영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학위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ADTP(1996) · UWE 브리스톨 · QUT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랭커스터 복수학위(추가비 없음) · ASU · ADTP(1987)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입학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4월 · 9월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4월 · 9월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학비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44,044 · 약 1,490만 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17,850~29,350 · 약 610만~990만 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공학 5년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8,300만 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5,810만~6,200만 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학비만 놓고 보면 선웨이가 낮습니다. 다만 강세 전공이 다릅니다 — 호텔·디자인이면 테일러스, 회계·금융·CS면 선웨이입니다.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총 예산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입학비는 공동체 입회 시 1회만 납부합니다 — 3년이든 5년이든 동일합니다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03120"/>
                <a:gridCol w="2103120"/>
                <a:gridCol w="2103120"/>
                <a:gridCol w="213329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 3년 (직행)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호텔경영 3년 (직행)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공학 5년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공학 5년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1년차 학비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910 ~ 1,290만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1,505만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800만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1,493만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2년차 이후 학비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910 ~ 1,290만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1,505만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1,301만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1,701만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학생비자 갱신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 공동체 운영비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/ 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입학비 — 입회 시 1회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1년차 소계 (입학비 제외)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2,490 ~ 2,870만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3,085만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2,380만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3,073만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1년차 소계 (입학비 포함)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2,990 ~ 3,370만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3,585만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2,880만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3,573만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2년차 이후 (연)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2,490 ~ 2,870만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3,085만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2,881만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3,281만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졸업까지 총액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7,970 ~ 9,110만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9,755만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1억 4,406만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1억 6,697만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522976"/>
            <a:ext cx="10911535" cy="804672"/>
          </a:xfrm>
          <a:prstGeom prst="roundRect">
            <a:avLst>
              <a:gd name="adj" fmla="val 7955"/>
            </a:avLst>
          </a:prstGeom>
          <a:solidFill>
            <a:srgbClr val="F5EE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577840"/>
            <a:ext cx="10399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직행이면 1년차와 2년차가 같고, 파운데이션이 붙으면 2년차부터 뜁니다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5833872"/>
            <a:ext cx="103994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직행 경로는 1학년부터 학부 학비라 매년 금액이 같습니다. 파운데이션 경로는 1년차가 싸고 2년차부터 학부 학비로 올라갑니다.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6053328"/>
            <a:ext cx="103994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공대·약대 지망자는 반드시 5년 예산으로 잡으십시오 — 3년 직행 과정과 총액이 두 배 가까이 차이 납니다.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입학비 500만 원은 1년차에만 포함했고 이전 공동체 입학금을 최대 200만 원까지 인정합니다 · 환율 RM 1 ≈ 339원 · 6% 서비스세와 생활비·항공·보험 별도 · 장학금 미반영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TIMELINE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일정 — 파운데이션 입학 기준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학생은 대부분 검정고시 출신입니다 · 직행 계열은 학사 인테이크를 보시면 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3529584" cy="658368"/>
          </a:xfrm>
          <a:prstGeom prst="roundRect">
            <a:avLst>
              <a:gd name="adj" fmla="val 8333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8836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파운데이션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13969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 · 4월 · 8월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1810512"/>
            <a:ext cx="3529584" cy="658368"/>
          </a:xfrm>
          <a:prstGeom prst="roundRect">
            <a:avLst>
              <a:gd name="adj" fmla="val 8333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17136" y="18836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FIA · FIST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13969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 · 4월 · 8월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1856" y="1810512"/>
            <a:ext cx="3529584" cy="658368"/>
          </a:xfrm>
          <a:prstGeom prst="roundRect">
            <a:avLst>
              <a:gd name="adj" fmla="val 8333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93024" y="18836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MUFY (모나쉬행)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193024" y="213969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 · 7월 · 8월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615184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F1EDE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272491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A안 — 검정고시 1회 (4월 응시)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072384"/>
            <a:ext cx="4809744" cy="365760"/>
          </a:xfrm>
          <a:prstGeom prst="roundRect">
            <a:avLst>
              <a:gd name="adj" fmla="val 12500"/>
            </a:avLst>
          </a:prstGeom>
          <a:solidFill>
            <a:srgbClr val="1347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60704" y="3072384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그해 안에 입학합니다 · 권장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60273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602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43584" y="35661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2~3월  검정고시 1회 원서 접수 · 시험 대비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96849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43584" y="3931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 초  응시 → 5월 중 합격 발표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433425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334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243584" y="42976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5~6월  영문 증명서 + 번역공증 + 영사확인 (2~3주)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470001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4700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243584" y="46634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5~7월  IELTS 확보 (파운데이션 5.0~5.5 · 직행 6.0)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506577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5065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243584" y="5029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5~7월  원서 접수 → EMGS 비자 심사 4~8주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0" y="5358384"/>
            <a:ext cx="4809744" cy="13716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394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— 파운데이션 8월 · 학사 직행 9월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90488" y="2615184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F1EDE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64808" y="272491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B안 — 검정고시 2회 (8월 응시)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64808" y="3072384"/>
            <a:ext cx="4809744" cy="365760"/>
          </a:xfrm>
          <a:prstGeom prst="roundRect">
            <a:avLst>
              <a:gd name="adj" fmla="val 12500"/>
            </a:avLst>
          </a:prstGeom>
          <a:solidFill>
            <a:srgbClr val="A8412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611112" y="3072384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이듬해 입학이 됩니다 · 일정 여유 있음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64808" y="360273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64808" y="3602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793992" y="35661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6~7월  검정고시 2회 원서 접수 · 시험 대비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64808" y="396849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64808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793992" y="3931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  응시 → 9월 초 합격 발표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64808" y="433425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64808" y="4334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793992" y="42976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9~10월  영문 증명서 + 번역공증 + 영사확인 (2~3주)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64808" y="470001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64808" y="4700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793992" y="46634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9~11월  IELTS 확보 (파운데이션 5.0~5.5 · 직행 6.0)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64808" y="5065776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464808" y="5065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793992" y="5029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10~11월  원서 접수 → EMGS 비자 심사 4~8주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64808" y="5358384"/>
            <a:ext cx="4809744" cy="13716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464808" y="5394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— 선웨이 1월 · 테일러스 2월 · 양교 4월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0080" y="5815584"/>
            <a:ext cx="10911535" cy="512064"/>
          </a:xfrm>
          <a:prstGeom prst="roundRect">
            <a:avLst>
              <a:gd name="adj" fmla="val 12500"/>
            </a:avLst>
          </a:prstGeom>
          <a:solidFill>
            <a:srgbClr val="F7EBE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96112" y="5815584"/>
            <a:ext cx="103994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인증은 아포스티유가 아니라 영사확인입니다 — 말레이시아는 헤이그 아포스티유 협약 비가입국이며, 영문 번역공증 후 외교부 → 주한 말레이시아 대사관 순으로 밟습니다.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원서는 개강 12~16주 전 접수가 기준입니다 · 학사 직행 인테이크 — 테일러스 2 · 4 · 9월, 선웨이 1 · 4 · 9월 · EMGS 신청은 학교가 대행합니다 (학생 직접 신청 불가).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0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WHICH ONE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1편과 2편, 어느 쪽인가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이름이 아니라 전공과 예산으로 답하십시오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566160"/>
                <a:gridCol w="350489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학생이라면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호텔·관광 · 디자인이 목표다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(1편)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호텔경영 QS 세계 26위 · 직행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회계·금융 · 컴퓨터과학이 목표다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(1편)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강세 전공 · 학비가 가장 낮음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해외에 안 나가고 영국 학위를 원한다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× 랭커스터 (1편)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복수 학위에 추가 비용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 학위가 목표다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ADTP (1편)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1987년 · 테일러스 1996년 개설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호주·영국 본교 학위 자체가 목표다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· 노팅엄 (2편)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 순간부터 본교 학위 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예산을 최대한 아껴야 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경영 3년 직행 (1편)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졸업까지 약 7,970만~9,110만 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9722"/>
            </a:avLst>
          </a:prstGeom>
          <a:solidFill>
            <a:srgbClr val="13474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394960"/>
            <a:ext cx="103994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상담의 순서는 전공 → 목표 학위 국가 → 예산입니다. 학교 이름부터 꺼내지 마십시오.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어느 경로든 검정고시 출신은 계열에 따라 파운데이션 1년이 붙습니다. 공학·이학·약학은 두 학교 모두 파운데이션이 필수입니다.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말레이시아 유학 1편 — 말레이시아 사립 명문</dc:title>
  <dc:subject>PptxGenJS Presentation</dc:subject>
  <dc:creator>필리핀 해외선교본부 · 말레이시아 지부</dc:creator>
  <cp:lastModifiedBy>필리핀 해외선교본부 · 말레이시아 지부</cp:lastModifiedBy>
  <cp:revision>1</cp:revision>
  <dcterms:created xsi:type="dcterms:W3CDTF">2026-10-09T13:54:44Z</dcterms:created>
  <dcterms:modified xsi:type="dcterms:W3CDTF">2026-10-09T13:54:44Z</dcterms:modified>
</cp:coreProperties>
</file>