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</p:sldIdLst>
  <p:notesMasterIdLst>
    <p:notesMasterId r:id="rId10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notesMaster" Target="notesMasters/notesMaster1.xml"/><Relationship Id="rId11" Type="http://schemas.openxmlformats.org/officeDocument/2006/relationships/presProps" Target="presProps.xml"/><Relationship Id="rId12" Type="http://schemas.openxmlformats.org/officeDocument/2006/relationships/viewProps" Target="viewProps.xml"/><Relationship Id="rId13" Type="http://schemas.openxmlformats.org/officeDocument/2006/relationships/theme" Target="theme/theme1.xml"/><Relationship Id="rId14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학비 슬라이드만 따로 뽑은 덱입니다. 상담에서 예산 질문이 나올 때 이것만 띄우면 됩니다.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금액부터 말하면 학부모가 혼란스러워합니다. 이 네 가지를 먼저 맞추고 표로 들어가십시오. 달러 요금표를 받아 온 학부모가 있으면 왼쪽 박스를 읽어 주십시오 — 실제 납부는 링깃입니다.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공대 지망자는 5년 행을 보여 주십시오. 파운데이션이 붙어 총액이 크게 올라갑니다.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경영계열 달러 금액은 입학처에서 받은 수치입니다. 남은 변수는 청구 시 학교가 적용하는 환율 하나이므로, 그것만 확인하면 확정됩니다.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"어디가 싸냐"로 끝내지 마십시오. 전공이 정해지면 답이 바뀝니다.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학부모가 실제로 알고 싶은 숫자는 마지막 행입니다. 여기부터 읽으셔도 됩니다.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작년에 새로 생긴 항목이라 기존 안내문에 빠져 있습니다. 예산 상담에서 빼먹으면 나중에 문제가 됩니다.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이 슬라이드는 내부용입니다. 학부모 배포본에서는 빼십시오.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0C2E2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640080" y="2103120"/>
            <a:ext cx="822960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0000"/>
              </a:lnSpc>
              <a:buNone/>
            </a:pPr>
            <a:r>
              <a:rPr lang="en-US" sz="52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학비와 예산</a:t>
            </a:r>
            <a:endParaRPr lang="en-US" sz="5200" dirty="0"/>
          </a:p>
        </p:txBody>
      </p:sp>
      <p:sp>
        <p:nvSpPr>
          <p:cNvPr id="3" name="Text 1"/>
          <p:cNvSpPr txBox="1"/>
          <p:nvPr/>
        </p:nvSpPr>
        <p:spPr>
          <a:xfrm>
            <a:off x="640080" y="3200400"/>
            <a:ext cx="82296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22000"/>
              </a:lnSpc>
              <a:buNone/>
            </a:pPr>
            <a:r>
              <a:rPr lang="en-US" sz="1700" dirty="0">
                <a:solidFill>
                  <a:srgbClr val="C08A2E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테일러스 · 선웨이  |  링깃(RM)과 원화 기준으로 통일</a:t>
            </a:r>
            <a:endParaRPr lang="en-US" sz="1700" dirty="0"/>
          </a:p>
        </p:txBody>
      </p:sp>
      <p:sp>
        <p:nvSpPr>
          <p:cNvPr id="4" name="Shape 2"/>
          <p:cNvSpPr/>
          <p:nvPr/>
        </p:nvSpPr>
        <p:spPr>
          <a:xfrm>
            <a:off x="640080" y="3840480"/>
            <a:ext cx="10911535" cy="18288"/>
          </a:xfrm>
          <a:prstGeom prst="rect">
            <a:avLst/>
          </a:prstGeom>
          <a:solidFill>
            <a:srgbClr val="134744"/>
          </a:solidFill>
          <a:ln/>
        </p:spPr>
      </p:sp>
      <p:sp>
        <p:nvSpPr>
          <p:cNvPr id="5" name="Text 3"/>
          <p:cNvSpPr txBox="1"/>
          <p:nvPr/>
        </p:nvSpPr>
        <p:spPr>
          <a:xfrm>
            <a:off x="640080" y="4059936"/>
            <a:ext cx="34747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0000"/>
              </a:lnSpc>
              <a:buNone/>
            </a:pPr>
            <a:r>
              <a:rPr lang="en-US" sz="2600" b="1" dirty="0">
                <a:solidFill>
                  <a:srgbClr val="C08A2E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RM 1 ≈ 339원</a:t>
            </a:r>
            <a:endParaRPr lang="en-US" sz="2600" dirty="0"/>
          </a:p>
        </p:txBody>
      </p:sp>
      <p:sp>
        <p:nvSpPr>
          <p:cNvPr id="6" name="Text 4"/>
          <p:cNvSpPr txBox="1"/>
          <p:nvPr/>
        </p:nvSpPr>
        <p:spPr>
          <a:xfrm>
            <a:off x="640080" y="4572000"/>
            <a:ext cx="34747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22000"/>
              </a:lnSpc>
              <a:buNone/>
            </a:pPr>
            <a:r>
              <a:rPr lang="en-US" sz="1200" dirty="0">
                <a:solidFill>
                  <a:srgbClr val="9DB3B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환율 기준</a:t>
            </a:r>
            <a:endParaRPr lang="en-US" sz="1200" dirty="0"/>
          </a:p>
        </p:txBody>
      </p:sp>
      <p:sp>
        <p:nvSpPr>
          <p:cNvPr id="7" name="Text 5"/>
          <p:cNvSpPr txBox="1"/>
          <p:nvPr/>
        </p:nvSpPr>
        <p:spPr>
          <a:xfrm>
            <a:off x="4297680" y="4059936"/>
            <a:ext cx="34747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0000"/>
              </a:lnSpc>
              <a:buNone/>
            </a:pPr>
            <a:r>
              <a:rPr lang="en-US" sz="2600" b="1" dirty="0">
                <a:solidFill>
                  <a:srgbClr val="C08A2E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+6%</a:t>
            </a:r>
            <a:endParaRPr lang="en-US" sz="2600" dirty="0"/>
          </a:p>
        </p:txBody>
      </p:sp>
      <p:sp>
        <p:nvSpPr>
          <p:cNvPr id="8" name="Text 6"/>
          <p:cNvSpPr txBox="1"/>
          <p:nvPr/>
        </p:nvSpPr>
        <p:spPr>
          <a:xfrm>
            <a:off x="4297680" y="4572000"/>
            <a:ext cx="34747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22000"/>
              </a:lnSpc>
              <a:buNone/>
            </a:pPr>
            <a:r>
              <a:rPr lang="en-US" sz="1200" dirty="0">
                <a:solidFill>
                  <a:srgbClr val="9DB3B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외국인 서비스세</a:t>
            </a:r>
            <a:endParaRPr lang="en-US" sz="1200" dirty="0"/>
          </a:p>
        </p:txBody>
      </p:sp>
      <p:sp>
        <p:nvSpPr>
          <p:cNvPr id="9" name="Text 7"/>
          <p:cNvSpPr txBox="1"/>
          <p:nvPr/>
        </p:nvSpPr>
        <p:spPr>
          <a:xfrm>
            <a:off x="7955280" y="4059936"/>
            <a:ext cx="34747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0000"/>
              </a:lnSpc>
              <a:buNone/>
            </a:pPr>
            <a:r>
              <a:rPr lang="en-US" sz="2600" b="1" dirty="0">
                <a:solidFill>
                  <a:srgbClr val="C08A2E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5년</a:t>
            </a:r>
            <a:endParaRPr lang="en-US" sz="2600" dirty="0"/>
          </a:p>
        </p:txBody>
      </p:sp>
      <p:sp>
        <p:nvSpPr>
          <p:cNvPr id="10" name="Text 8"/>
          <p:cNvSpPr txBox="1"/>
          <p:nvPr/>
        </p:nvSpPr>
        <p:spPr>
          <a:xfrm>
            <a:off x="7955280" y="4572000"/>
            <a:ext cx="34747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22000"/>
              </a:lnSpc>
              <a:buNone/>
            </a:pPr>
            <a:r>
              <a:rPr lang="en-US" sz="1200" dirty="0">
                <a:solidFill>
                  <a:srgbClr val="9DB3B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공학 실제 기간</a:t>
            </a:r>
            <a:endParaRPr lang="en-US" sz="1200" dirty="0"/>
          </a:p>
        </p:txBody>
      </p:sp>
      <p:sp>
        <p:nvSpPr>
          <p:cNvPr id="11" name="Text 9"/>
          <p:cNvSpPr txBox="1"/>
          <p:nvPr/>
        </p:nvSpPr>
        <p:spPr>
          <a:xfrm>
            <a:off x="640080" y="6199632"/>
            <a:ext cx="10911535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22000"/>
              </a:lnSpc>
              <a:buNone/>
            </a:pPr>
            <a:r>
              <a:rPr lang="en-US" sz="1100" dirty="0">
                <a:solidFill>
                  <a:srgbClr val="9DB3B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필리핀 IM해외선교본부 · 말레이시아 지부</a:t>
            </a:r>
            <a:endParaRPr lang="en-US" sz="11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640080" y="475488"/>
            <a:ext cx="566928" cy="566928"/>
          </a:xfrm>
          <a:prstGeom prst="roundRect">
            <a:avLst>
              <a:gd name="adj" fmla="val 9677"/>
            </a:avLst>
          </a:prstGeom>
          <a:solidFill>
            <a:srgbClr val="134744"/>
          </a:solidFill>
          <a:ln/>
        </p:spPr>
      </p:sp>
      <p:sp>
        <p:nvSpPr>
          <p:cNvPr id="3" name="Text 1"/>
          <p:cNvSpPr txBox="1"/>
          <p:nvPr/>
        </p:nvSpPr>
        <p:spPr>
          <a:xfrm>
            <a:off x="640080" y="475488"/>
            <a:ext cx="566928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22000"/>
              </a:lnSpc>
              <a:buNone/>
            </a:pPr>
            <a:r>
              <a:rPr lang="en-US" sz="1700" b="1" dirty="0">
                <a:solidFill>
                  <a:srgbClr val="C08A2E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01</a:t>
            </a:r>
            <a:endParaRPr lang="en-US" sz="1700" dirty="0"/>
          </a:p>
        </p:txBody>
      </p:sp>
      <p:sp>
        <p:nvSpPr>
          <p:cNvPr id="4" name="Text 2"/>
          <p:cNvSpPr txBox="1"/>
          <p:nvPr/>
        </p:nvSpPr>
        <p:spPr>
          <a:xfrm>
            <a:off x="1389888" y="457200"/>
            <a:ext cx="10161727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22000"/>
              </a:lnSpc>
              <a:buNone/>
            </a:pPr>
            <a:r>
              <a:rPr lang="en-US" sz="1100" b="1" spc="200" kern="0" dirty="0">
                <a:solidFill>
                  <a:srgbClr val="1F6B66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HOW TO READ</a:t>
            </a:r>
            <a:endParaRPr lang="en-US" sz="1100" dirty="0"/>
          </a:p>
        </p:txBody>
      </p:sp>
      <p:sp>
        <p:nvSpPr>
          <p:cNvPr id="5" name="Text 3"/>
          <p:cNvSpPr txBox="1"/>
          <p:nvPr/>
        </p:nvSpPr>
        <p:spPr>
          <a:xfrm>
            <a:off x="1389888" y="676656"/>
            <a:ext cx="10161727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0000"/>
              </a:lnSpc>
              <a:buNone/>
            </a:pPr>
            <a:r>
              <a:rPr lang="en-US" sz="3000" b="1" dirty="0">
                <a:solidFill>
                  <a:srgbClr val="0C2E2C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학비 표 읽는 법</a:t>
            </a:r>
            <a:endParaRPr lang="en-US" sz="3000" dirty="0"/>
          </a:p>
        </p:txBody>
      </p:sp>
      <p:sp>
        <p:nvSpPr>
          <p:cNvPr id="6" name="Text 4"/>
          <p:cNvSpPr txBox="1"/>
          <p:nvPr/>
        </p:nvSpPr>
        <p:spPr>
          <a:xfrm>
            <a:off x="640080" y="1225296"/>
            <a:ext cx="10911535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30000"/>
              </a:lnSpc>
              <a:buNone/>
            </a:pPr>
            <a:r>
              <a:rPr lang="en-US" sz="1300" dirty="0">
                <a:solidFill>
                  <a:srgbClr val="6E7C7A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금액을 말하기 전에 이 네 가지를 먼저 맞춰야 오해가 없습니다</a:t>
            </a:r>
            <a:endParaRPr lang="en-US" sz="1300" dirty="0"/>
          </a:p>
        </p:txBody>
      </p:sp>
      <p:sp>
        <p:nvSpPr>
          <p:cNvPr id="7" name="Shape 5"/>
          <p:cNvSpPr/>
          <p:nvPr/>
        </p:nvSpPr>
        <p:spPr>
          <a:xfrm>
            <a:off x="640080" y="1828800"/>
            <a:ext cx="5358384" cy="1261872"/>
          </a:xfrm>
          <a:prstGeom prst="roundRect">
            <a:avLst>
              <a:gd name="adj" fmla="val 5797"/>
            </a:avLst>
          </a:prstGeom>
          <a:solidFill>
            <a:srgbClr val="F1EDE4"/>
          </a:solidFill>
          <a:ln/>
        </p:spPr>
      </p:sp>
      <p:sp>
        <p:nvSpPr>
          <p:cNvPr id="8" name="Shape 6"/>
          <p:cNvSpPr/>
          <p:nvPr/>
        </p:nvSpPr>
        <p:spPr>
          <a:xfrm>
            <a:off x="896112" y="2048256"/>
            <a:ext cx="402336" cy="402336"/>
          </a:xfrm>
          <a:prstGeom prst="ellipse">
            <a:avLst/>
          </a:prstGeom>
          <a:solidFill>
            <a:srgbClr val="134744"/>
          </a:solidFill>
          <a:ln/>
        </p:spPr>
      </p:sp>
      <p:sp>
        <p:nvSpPr>
          <p:cNvPr id="9" name="Text 7"/>
          <p:cNvSpPr txBox="1"/>
          <p:nvPr/>
        </p:nvSpPr>
        <p:spPr>
          <a:xfrm>
            <a:off x="896112" y="2130552"/>
            <a:ext cx="402336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ct val="100000"/>
              </a:lnSpc>
              <a:buNone/>
            </a:pPr>
            <a:r>
              <a:rPr lang="en-US" sz="1500" b="1" dirty="0">
                <a:solidFill>
                  <a:srgbClr val="C08A2E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1</a:t>
            </a:r>
            <a:endParaRPr lang="en-US" sz="1500" dirty="0"/>
          </a:p>
        </p:txBody>
      </p:sp>
      <p:sp>
        <p:nvSpPr>
          <p:cNvPr id="10" name="Text 8"/>
          <p:cNvSpPr txBox="1"/>
          <p:nvPr/>
        </p:nvSpPr>
        <p:spPr>
          <a:xfrm>
            <a:off x="1426464" y="2011680"/>
            <a:ext cx="4352544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22000"/>
              </a:lnSpc>
              <a:buNone/>
            </a:pPr>
            <a:r>
              <a:rPr lang="en-US" sz="1500" b="1" dirty="0">
                <a:solidFill>
                  <a:srgbClr val="0C2E2C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총액인가, 연간인가</a:t>
            </a:r>
            <a:endParaRPr lang="en-US" sz="1500" dirty="0"/>
          </a:p>
        </p:txBody>
      </p:sp>
      <p:sp>
        <p:nvSpPr>
          <p:cNvPr id="11" name="Text 9"/>
          <p:cNvSpPr txBox="1"/>
          <p:nvPr/>
        </p:nvSpPr>
        <p:spPr>
          <a:xfrm>
            <a:off x="1426464" y="2359152"/>
            <a:ext cx="4352544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42000"/>
              </a:lnSpc>
              <a:buNone/>
            </a:pPr>
            <a:r>
              <a:rPr lang="en-US" sz="1150" dirty="0">
                <a:solidFill>
                  <a:srgbClr val="1B2426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학교 자료는 둘을 섞어 표기합니다. 이 자료는 총액과 연간을 각각 다른 열로 분리했습니다.</a:t>
            </a:r>
            <a:endParaRPr lang="en-US" sz="1150" dirty="0"/>
          </a:p>
        </p:txBody>
      </p:sp>
      <p:sp>
        <p:nvSpPr>
          <p:cNvPr id="12" name="Shape 10"/>
          <p:cNvSpPr/>
          <p:nvPr/>
        </p:nvSpPr>
        <p:spPr>
          <a:xfrm>
            <a:off x="6190488" y="1828800"/>
            <a:ext cx="5358384" cy="1261872"/>
          </a:xfrm>
          <a:prstGeom prst="roundRect">
            <a:avLst>
              <a:gd name="adj" fmla="val 5797"/>
            </a:avLst>
          </a:prstGeom>
          <a:solidFill>
            <a:srgbClr val="F1EDE4"/>
          </a:solidFill>
          <a:ln/>
        </p:spPr>
      </p:sp>
      <p:sp>
        <p:nvSpPr>
          <p:cNvPr id="13" name="Shape 11"/>
          <p:cNvSpPr/>
          <p:nvPr/>
        </p:nvSpPr>
        <p:spPr>
          <a:xfrm>
            <a:off x="6446520" y="2048256"/>
            <a:ext cx="402336" cy="402336"/>
          </a:xfrm>
          <a:prstGeom prst="ellipse">
            <a:avLst/>
          </a:prstGeom>
          <a:solidFill>
            <a:srgbClr val="134744"/>
          </a:solidFill>
          <a:ln/>
        </p:spPr>
      </p:sp>
      <p:sp>
        <p:nvSpPr>
          <p:cNvPr id="14" name="Text 12"/>
          <p:cNvSpPr txBox="1"/>
          <p:nvPr/>
        </p:nvSpPr>
        <p:spPr>
          <a:xfrm>
            <a:off x="6446520" y="2130552"/>
            <a:ext cx="402336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ct val="100000"/>
              </a:lnSpc>
              <a:buNone/>
            </a:pPr>
            <a:r>
              <a:rPr lang="en-US" sz="1500" b="1" dirty="0">
                <a:solidFill>
                  <a:srgbClr val="C08A2E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2</a:t>
            </a:r>
            <a:endParaRPr lang="en-US" sz="1500" dirty="0"/>
          </a:p>
        </p:txBody>
      </p:sp>
      <p:sp>
        <p:nvSpPr>
          <p:cNvPr id="15" name="Text 13"/>
          <p:cNvSpPr txBox="1"/>
          <p:nvPr/>
        </p:nvSpPr>
        <p:spPr>
          <a:xfrm>
            <a:off x="6976872" y="2011680"/>
            <a:ext cx="4352544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22000"/>
              </a:lnSpc>
              <a:buNone/>
            </a:pPr>
            <a:r>
              <a:rPr lang="en-US" sz="1500" b="1" dirty="0">
                <a:solidFill>
                  <a:srgbClr val="0C2E2C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몇 년 과정인가</a:t>
            </a:r>
            <a:endParaRPr lang="en-US" sz="1500" dirty="0"/>
          </a:p>
        </p:txBody>
      </p:sp>
      <p:sp>
        <p:nvSpPr>
          <p:cNvPr id="16" name="Text 14"/>
          <p:cNvSpPr txBox="1"/>
          <p:nvPr/>
        </p:nvSpPr>
        <p:spPr>
          <a:xfrm>
            <a:off x="6976872" y="2359152"/>
            <a:ext cx="4352544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42000"/>
              </a:lnSpc>
              <a:buNone/>
            </a:pPr>
            <a:r>
              <a:rPr lang="en-US" sz="1150" dirty="0">
                <a:solidFill>
                  <a:srgbClr val="1B2426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호텔·경영은 3년, 공학은 4년입니다. 파운데이션이 필요하면 여기에 1년이 더 붙습니다.</a:t>
            </a:r>
            <a:endParaRPr lang="en-US" sz="1150" dirty="0"/>
          </a:p>
        </p:txBody>
      </p:sp>
      <p:sp>
        <p:nvSpPr>
          <p:cNvPr id="17" name="Shape 15"/>
          <p:cNvSpPr/>
          <p:nvPr/>
        </p:nvSpPr>
        <p:spPr>
          <a:xfrm>
            <a:off x="640080" y="3255264"/>
            <a:ext cx="5358384" cy="1261872"/>
          </a:xfrm>
          <a:prstGeom prst="roundRect">
            <a:avLst>
              <a:gd name="adj" fmla="val 5797"/>
            </a:avLst>
          </a:prstGeom>
          <a:solidFill>
            <a:srgbClr val="F1EDE4"/>
          </a:solidFill>
          <a:ln/>
        </p:spPr>
      </p:sp>
      <p:sp>
        <p:nvSpPr>
          <p:cNvPr id="18" name="Shape 16"/>
          <p:cNvSpPr/>
          <p:nvPr/>
        </p:nvSpPr>
        <p:spPr>
          <a:xfrm>
            <a:off x="896112" y="3474720"/>
            <a:ext cx="402336" cy="402336"/>
          </a:xfrm>
          <a:prstGeom prst="ellipse">
            <a:avLst/>
          </a:prstGeom>
          <a:solidFill>
            <a:srgbClr val="134744"/>
          </a:solidFill>
          <a:ln/>
        </p:spPr>
      </p:sp>
      <p:sp>
        <p:nvSpPr>
          <p:cNvPr id="19" name="Text 17"/>
          <p:cNvSpPr txBox="1"/>
          <p:nvPr/>
        </p:nvSpPr>
        <p:spPr>
          <a:xfrm>
            <a:off x="896112" y="3557016"/>
            <a:ext cx="402336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ct val="100000"/>
              </a:lnSpc>
              <a:buNone/>
            </a:pPr>
            <a:r>
              <a:rPr lang="en-US" sz="1500" b="1" dirty="0">
                <a:solidFill>
                  <a:srgbClr val="C08A2E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3</a:t>
            </a:r>
            <a:endParaRPr lang="en-US" sz="1500" dirty="0"/>
          </a:p>
        </p:txBody>
      </p:sp>
      <p:sp>
        <p:nvSpPr>
          <p:cNvPr id="20" name="Text 18"/>
          <p:cNvSpPr txBox="1"/>
          <p:nvPr/>
        </p:nvSpPr>
        <p:spPr>
          <a:xfrm>
            <a:off x="1426464" y="3438144"/>
            <a:ext cx="4352544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22000"/>
              </a:lnSpc>
              <a:buNone/>
            </a:pPr>
            <a:r>
              <a:rPr lang="en-US" sz="1500" b="1" dirty="0">
                <a:solidFill>
                  <a:srgbClr val="0C2E2C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어느 통화인가</a:t>
            </a:r>
            <a:endParaRPr lang="en-US" sz="1500" dirty="0"/>
          </a:p>
        </p:txBody>
      </p:sp>
      <p:sp>
        <p:nvSpPr>
          <p:cNvPr id="21" name="Text 19"/>
          <p:cNvSpPr txBox="1"/>
          <p:nvPr/>
        </p:nvSpPr>
        <p:spPr>
          <a:xfrm>
            <a:off x="1426464" y="3785616"/>
            <a:ext cx="4352544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42000"/>
              </a:lnSpc>
              <a:buNone/>
            </a:pPr>
            <a:r>
              <a:rPr lang="en-US" sz="1150" dirty="0">
                <a:solidFill>
                  <a:srgbClr val="1B2426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요금표도 입학처 안내도 달러로 오는 경우가 있습니다. 그러나 달러는 참고용이고 실제 납부는 링깃(RM)입니다.</a:t>
            </a:r>
            <a:endParaRPr lang="en-US" sz="1150" dirty="0"/>
          </a:p>
        </p:txBody>
      </p:sp>
      <p:sp>
        <p:nvSpPr>
          <p:cNvPr id="22" name="Shape 20"/>
          <p:cNvSpPr/>
          <p:nvPr/>
        </p:nvSpPr>
        <p:spPr>
          <a:xfrm>
            <a:off x="6190488" y="3255264"/>
            <a:ext cx="5358384" cy="1261872"/>
          </a:xfrm>
          <a:prstGeom prst="roundRect">
            <a:avLst>
              <a:gd name="adj" fmla="val 5797"/>
            </a:avLst>
          </a:prstGeom>
          <a:solidFill>
            <a:srgbClr val="F1EDE4"/>
          </a:solidFill>
          <a:ln/>
        </p:spPr>
      </p:sp>
      <p:sp>
        <p:nvSpPr>
          <p:cNvPr id="23" name="Shape 21"/>
          <p:cNvSpPr/>
          <p:nvPr/>
        </p:nvSpPr>
        <p:spPr>
          <a:xfrm>
            <a:off x="6446520" y="3474720"/>
            <a:ext cx="402336" cy="402336"/>
          </a:xfrm>
          <a:prstGeom prst="ellipse">
            <a:avLst/>
          </a:prstGeom>
          <a:solidFill>
            <a:srgbClr val="134744"/>
          </a:solidFill>
          <a:ln/>
        </p:spPr>
      </p:sp>
      <p:sp>
        <p:nvSpPr>
          <p:cNvPr id="24" name="Text 22"/>
          <p:cNvSpPr txBox="1"/>
          <p:nvPr/>
        </p:nvSpPr>
        <p:spPr>
          <a:xfrm>
            <a:off x="6446520" y="3557016"/>
            <a:ext cx="402336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ct val="100000"/>
              </a:lnSpc>
              <a:buNone/>
            </a:pPr>
            <a:r>
              <a:rPr lang="en-US" sz="1500" b="1" dirty="0">
                <a:solidFill>
                  <a:srgbClr val="C08A2E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4</a:t>
            </a:r>
            <a:endParaRPr lang="en-US" sz="1500" dirty="0"/>
          </a:p>
        </p:txBody>
      </p:sp>
      <p:sp>
        <p:nvSpPr>
          <p:cNvPr id="25" name="Text 23"/>
          <p:cNvSpPr txBox="1"/>
          <p:nvPr/>
        </p:nvSpPr>
        <p:spPr>
          <a:xfrm>
            <a:off x="6976872" y="3438144"/>
            <a:ext cx="4352544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22000"/>
              </a:lnSpc>
              <a:buNone/>
            </a:pPr>
            <a:r>
              <a:rPr lang="en-US" sz="1500" b="1" dirty="0">
                <a:solidFill>
                  <a:srgbClr val="0C2E2C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세금이 붙는가</a:t>
            </a:r>
            <a:endParaRPr lang="en-US" sz="1500" dirty="0"/>
          </a:p>
        </p:txBody>
      </p:sp>
      <p:sp>
        <p:nvSpPr>
          <p:cNvPr id="26" name="Text 24"/>
          <p:cNvSpPr txBox="1"/>
          <p:nvPr/>
        </p:nvSpPr>
        <p:spPr>
          <a:xfrm>
            <a:off x="6976872" y="3785616"/>
            <a:ext cx="4352544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42000"/>
              </a:lnSpc>
              <a:buNone/>
            </a:pPr>
            <a:r>
              <a:rPr lang="en-US" sz="1150" dirty="0">
                <a:solidFill>
                  <a:srgbClr val="1B2426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2025년 7월부터 외국인 학비에 6% 서비스세가 별도로 붙습니다. 표의 금액에는 포함돼 있지 않습니다.</a:t>
            </a:r>
            <a:endParaRPr lang="en-US" sz="1150" dirty="0"/>
          </a:p>
        </p:txBody>
      </p:sp>
      <p:sp>
        <p:nvSpPr>
          <p:cNvPr id="27" name="Shape 25"/>
          <p:cNvSpPr/>
          <p:nvPr/>
        </p:nvSpPr>
        <p:spPr>
          <a:xfrm>
            <a:off x="640080" y="4754880"/>
            <a:ext cx="5358384" cy="1060704"/>
          </a:xfrm>
          <a:prstGeom prst="roundRect">
            <a:avLst>
              <a:gd name="adj" fmla="val 6034"/>
            </a:avLst>
          </a:prstGeom>
          <a:solidFill>
            <a:srgbClr val="F7EBE6"/>
          </a:solidFill>
          <a:ln/>
        </p:spPr>
      </p:sp>
      <p:sp>
        <p:nvSpPr>
          <p:cNvPr id="28" name="Text 26"/>
          <p:cNvSpPr txBox="1"/>
          <p:nvPr/>
        </p:nvSpPr>
        <p:spPr>
          <a:xfrm>
            <a:off x="896112" y="4864608"/>
            <a:ext cx="484632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22000"/>
              </a:lnSpc>
              <a:buNone/>
            </a:pPr>
            <a:r>
              <a:rPr lang="en-US" sz="1200" b="1" dirty="0">
                <a:solidFill>
                  <a:srgbClr val="A8412C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달러 표기를 받으셨다면</a:t>
            </a:r>
            <a:endParaRPr lang="en-US" sz="1200" dirty="0"/>
          </a:p>
        </p:txBody>
      </p:sp>
      <p:sp>
        <p:nvSpPr>
          <p:cNvPr id="29" name="Text 27"/>
          <p:cNvSpPr txBox="1"/>
          <p:nvPr/>
        </p:nvSpPr>
        <p:spPr>
          <a:xfrm>
            <a:off x="896112" y="5120640"/>
            <a:ext cx="4846320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40000"/>
              </a:lnSpc>
              <a:buNone/>
            </a:pPr>
            <a:r>
              <a:rPr lang="en-US" sz="1100" dirty="0">
                <a:solidFill>
                  <a:srgbClr val="1B2426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입학처가 달러로 안내하거나 요금표가 달러판이어도, 그 금액은 참고용입니다. 환산 기준은 고시환율이 아니라 학교 지시환율(USD 1 = RM 4.00대)이며, 환율 변동·은행 수수료 차액은 학생이 부담합니다.</a:t>
            </a:r>
            <a:endParaRPr lang="en-US" sz="1100" dirty="0"/>
          </a:p>
        </p:txBody>
      </p:sp>
      <p:sp>
        <p:nvSpPr>
          <p:cNvPr id="30" name="Shape 28"/>
          <p:cNvSpPr/>
          <p:nvPr/>
        </p:nvSpPr>
        <p:spPr>
          <a:xfrm>
            <a:off x="6190488" y="4754880"/>
            <a:ext cx="5358384" cy="1060704"/>
          </a:xfrm>
          <a:prstGeom prst="roundRect">
            <a:avLst>
              <a:gd name="adj" fmla="val 6034"/>
            </a:avLst>
          </a:prstGeom>
          <a:solidFill>
            <a:srgbClr val="F5EEDC"/>
          </a:solidFill>
          <a:ln/>
        </p:spPr>
      </p:sp>
      <p:sp>
        <p:nvSpPr>
          <p:cNvPr id="31" name="Text 29"/>
          <p:cNvSpPr txBox="1"/>
          <p:nvPr/>
        </p:nvSpPr>
        <p:spPr>
          <a:xfrm>
            <a:off x="6446520" y="4864608"/>
            <a:ext cx="484632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22000"/>
              </a:lnSpc>
              <a:buNone/>
            </a:pPr>
            <a:r>
              <a:rPr lang="en-US" sz="1200" b="1" dirty="0">
                <a:solidFill>
                  <a:srgbClr val="C08A2E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상담에서 쓸 한 문장</a:t>
            </a:r>
            <a:endParaRPr lang="en-US" sz="1200" dirty="0"/>
          </a:p>
        </p:txBody>
      </p:sp>
      <p:sp>
        <p:nvSpPr>
          <p:cNvPr id="32" name="Text 30"/>
          <p:cNvSpPr txBox="1"/>
          <p:nvPr/>
        </p:nvSpPr>
        <p:spPr>
          <a:xfrm>
            <a:off x="6446520" y="5120640"/>
            <a:ext cx="4846320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40000"/>
              </a:lnSpc>
              <a:buNone/>
            </a:pPr>
            <a:r>
              <a:rPr lang="en-US" sz="1200" b="1" dirty="0">
                <a:solidFill>
                  <a:srgbClr val="0C2E2C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"학비는 3년이냐 4년이냐, 파운데이션이 붙느냐에 따라 두 배까지 벌어집니다. 아이 전공을 먼저 정하고 나서 금액을 보십시오."</a:t>
            </a:r>
            <a:endParaRPr lang="en-US" sz="1200" dirty="0"/>
          </a:p>
        </p:txBody>
      </p:sp>
      <p:sp>
        <p:nvSpPr>
          <p:cNvPr id="33" name="Text 31"/>
          <p:cNvSpPr txBox="1"/>
          <p:nvPr/>
        </p:nvSpPr>
        <p:spPr>
          <a:xfrm>
            <a:off x="640080" y="6400800"/>
            <a:ext cx="10911535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25000"/>
              </a:lnSpc>
              <a:buNone/>
            </a:pPr>
            <a:r>
              <a:rPr lang="en-US" sz="900" dirty="0">
                <a:solidFill>
                  <a:srgbClr val="6E7C7A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※ 청구서는 링깃으로 옵니다. 이 자료의 금액을 전부 링깃 기준으로 통일한 이유입니다.</a:t>
            </a:r>
            <a:endParaRPr lang="en-US" sz="9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640080" y="475488"/>
            <a:ext cx="566928" cy="566928"/>
          </a:xfrm>
          <a:prstGeom prst="roundRect">
            <a:avLst>
              <a:gd name="adj" fmla="val 9677"/>
            </a:avLst>
          </a:prstGeom>
          <a:solidFill>
            <a:srgbClr val="134744"/>
          </a:solidFill>
          <a:ln/>
        </p:spPr>
      </p:sp>
      <p:sp>
        <p:nvSpPr>
          <p:cNvPr id="3" name="Text 1"/>
          <p:cNvSpPr txBox="1"/>
          <p:nvPr/>
        </p:nvSpPr>
        <p:spPr>
          <a:xfrm>
            <a:off x="640080" y="475488"/>
            <a:ext cx="566928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22000"/>
              </a:lnSpc>
              <a:buNone/>
            </a:pPr>
            <a:r>
              <a:rPr lang="en-US" sz="1700" b="1" dirty="0">
                <a:solidFill>
                  <a:srgbClr val="C08A2E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02</a:t>
            </a:r>
            <a:endParaRPr lang="en-US" sz="1700" dirty="0"/>
          </a:p>
        </p:txBody>
      </p:sp>
      <p:sp>
        <p:nvSpPr>
          <p:cNvPr id="4" name="Text 2"/>
          <p:cNvSpPr txBox="1"/>
          <p:nvPr/>
        </p:nvSpPr>
        <p:spPr>
          <a:xfrm>
            <a:off x="1389888" y="457200"/>
            <a:ext cx="10161727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22000"/>
              </a:lnSpc>
              <a:buNone/>
            </a:pPr>
            <a:r>
              <a:rPr lang="en-US" sz="1100" b="1" spc="200" kern="0" dirty="0">
                <a:solidFill>
                  <a:srgbClr val="1F6B66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TAYLOR'S FEES</a:t>
            </a:r>
            <a:endParaRPr lang="en-US" sz="1100" dirty="0"/>
          </a:p>
        </p:txBody>
      </p:sp>
      <p:sp>
        <p:nvSpPr>
          <p:cNvPr id="5" name="Text 3"/>
          <p:cNvSpPr txBox="1"/>
          <p:nvPr/>
        </p:nvSpPr>
        <p:spPr>
          <a:xfrm>
            <a:off x="1389888" y="676656"/>
            <a:ext cx="10161727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0000"/>
              </a:lnSpc>
              <a:buNone/>
            </a:pPr>
            <a:r>
              <a:rPr lang="en-US" sz="3000" b="1" dirty="0">
                <a:solidFill>
                  <a:srgbClr val="0C2E2C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테일러스 학비</a:t>
            </a:r>
            <a:endParaRPr lang="en-US" sz="3000" dirty="0"/>
          </a:p>
        </p:txBody>
      </p:sp>
      <p:sp>
        <p:nvSpPr>
          <p:cNvPr id="6" name="Text 4"/>
          <p:cNvSpPr txBox="1"/>
          <p:nvPr/>
        </p:nvSpPr>
        <p:spPr>
          <a:xfrm>
            <a:off x="640080" y="1225296"/>
            <a:ext cx="10911535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30000"/>
              </a:lnSpc>
              <a:buNone/>
            </a:pPr>
            <a:r>
              <a:rPr lang="en-US" sz="1300" dirty="0">
                <a:solidFill>
                  <a:srgbClr val="6E7C7A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국제학생 기준 · 총 학비는 과정 전체 금액입니다</a:t>
            </a:r>
            <a:endParaRPr lang="en-US" sz="1300" dirty="0"/>
          </a:p>
        </p:txBody>
      </p:sp>
      <p:graphicFrame>
        <p:nvGraphicFramePr>
          <p:cNvPr id="4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640080" y="1828800"/>
          <a:ext cx="10911535" cy="914400"/>
        </p:xfrm>
        <a:graphic>
          <a:graphicData uri="http://schemas.openxmlformats.org/drawingml/2006/table">
            <a:tbl>
              <a:tblPr/>
              <a:tblGrid>
                <a:gridCol w="2651760"/>
                <a:gridCol w="1005840"/>
                <a:gridCol w="2286000"/>
                <a:gridCol w="2468880"/>
                <a:gridCol w="2499055"/>
              </a:tblGrid>
              <a:tr h="47548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b="1" dirty="0">
                          <a:solidFill>
                            <a:srgbClr val="FFFFFF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과정</a:t>
                      </a:r>
                      <a:endParaRPr lang="en-US" sz="13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88900" marR="88900" marT="50800" marB="50800" anchor="ctr">
                    <a:lnL w="6350" cap="flat" cmpd="sng" algn="ctr">
                      <a:solidFill>
                        <a:srgbClr val="DCD6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D6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D6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D6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4744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b="1" dirty="0">
                          <a:solidFill>
                            <a:srgbClr val="FFFFFF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기간</a:t>
                      </a:r>
                      <a:endParaRPr lang="en-US" sz="13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88900" marR="88900" marT="50800" marB="50800" anchor="ctr">
                    <a:lnL w="6350" cap="flat" cmpd="sng" algn="ctr">
                      <a:solidFill>
                        <a:srgbClr val="DCD6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D6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D6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D6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4744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b="1" dirty="0">
                          <a:solidFill>
                            <a:srgbClr val="FFFFFF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총 학비 (RM)</a:t>
                      </a:r>
                      <a:endParaRPr lang="en-US" sz="13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88900" marR="88900" marT="50800" marB="50800" anchor="ctr">
                    <a:lnL w="6350" cap="flat" cmpd="sng" algn="ctr">
                      <a:solidFill>
                        <a:srgbClr val="DCD6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D6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D6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D6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4744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b="1" dirty="0">
                          <a:solidFill>
                            <a:srgbClr val="FFFFFF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총 학비 (원화)</a:t>
                      </a:r>
                      <a:endParaRPr lang="en-US" sz="13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88900" marR="88900" marT="50800" marB="50800" anchor="ctr">
                    <a:lnL w="6350" cap="flat" cmpd="sng" algn="ctr">
                      <a:solidFill>
                        <a:srgbClr val="DCD6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D6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D6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D6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4744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b="1" dirty="0">
                          <a:solidFill>
                            <a:srgbClr val="FFFFFF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연간 (원화)</a:t>
                      </a:r>
                      <a:endParaRPr lang="en-US" sz="13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88900" marR="88900" marT="50800" marB="50800" anchor="ctr">
                    <a:lnL w="6350" cap="flat" cmpd="sng" algn="ctr">
                      <a:solidFill>
                        <a:srgbClr val="DCD6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D6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D6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D6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4744"/>
                    </a:solidFill>
                  </a:tcPr>
                </a:tc>
              </a:tr>
              <a:tr h="47548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1B2426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파운데이션</a:t>
                      </a:r>
                      <a:endParaRPr lang="en-US" sz="13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88900" marR="88900" marT="50800" marB="50800" anchor="ctr">
                    <a:lnL w="6350" cap="flat" cmpd="sng" algn="ctr">
                      <a:solidFill>
                        <a:srgbClr val="DCD6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D6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D6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D6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1B2426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1년</a:t>
                      </a:r>
                      <a:endParaRPr lang="en-US" sz="13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88900" marR="88900" marT="50800" marB="50800" anchor="ctr">
                    <a:lnL w="6350" cap="flat" cmpd="sng" algn="ctr">
                      <a:solidFill>
                        <a:srgbClr val="DCD6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D6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D6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D6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1B2426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44,044</a:t>
                      </a:r>
                      <a:endParaRPr lang="en-US" sz="13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88900" marR="88900" marT="50800" marB="50800" anchor="ctr">
                    <a:lnL w="6350" cap="flat" cmpd="sng" algn="ctr">
                      <a:solidFill>
                        <a:srgbClr val="DCD6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D6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D6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D6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1B2426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약 1,490만</a:t>
                      </a:r>
                      <a:endParaRPr lang="en-US" sz="13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88900" marR="88900" marT="50800" marB="50800" anchor="ctr">
                    <a:lnL w="6350" cap="flat" cmpd="sng" algn="ctr">
                      <a:solidFill>
                        <a:srgbClr val="DCD6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D6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D6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D6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1B2426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약 1,490만</a:t>
                      </a:r>
                      <a:endParaRPr lang="en-US" sz="13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88900" marR="88900" marT="50800" marB="50800" anchor="ctr">
                    <a:lnL w="6350" cap="flat" cmpd="sng" algn="ctr">
                      <a:solidFill>
                        <a:srgbClr val="DCD6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D6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D6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D6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7548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1B2426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국제호텔경영</a:t>
                      </a:r>
                      <a:endParaRPr lang="en-US" sz="13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88900" marR="88900" marT="50800" marB="50800" anchor="ctr">
                    <a:lnL w="6350" cap="flat" cmpd="sng" algn="ctr">
                      <a:solidFill>
                        <a:srgbClr val="DCD6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D6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D6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D6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EDE4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1B2426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3년</a:t>
                      </a:r>
                      <a:endParaRPr lang="en-US" sz="13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88900" marR="88900" marT="50800" marB="50800" anchor="ctr">
                    <a:lnL w="6350" cap="flat" cmpd="sng" algn="ctr">
                      <a:solidFill>
                        <a:srgbClr val="DCD6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D6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D6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D6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EDE4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1B2426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133,146</a:t>
                      </a:r>
                      <a:endParaRPr lang="en-US" sz="13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88900" marR="88900" marT="50800" marB="50800" anchor="ctr">
                    <a:lnL w="6350" cap="flat" cmpd="sng" algn="ctr">
                      <a:solidFill>
                        <a:srgbClr val="DCD6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D6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D6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D6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EDE4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1B2426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약 4,510만</a:t>
                      </a:r>
                      <a:endParaRPr lang="en-US" sz="13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88900" marR="88900" marT="50800" marB="50800" anchor="ctr">
                    <a:lnL w="6350" cap="flat" cmpd="sng" algn="ctr">
                      <a:solidFill>
                        <a:srgbClr val="DCD6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D6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D6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D6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EDE4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1B2426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약 1,500만</a:t>
                      </a:r>
                      <a:endParaRPr lang="en-US" sz="13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88900" marR="88900" marT="50800" marB="50800" anchor="ctr">
                    <a:lnL w="6350" cap="flat" cmpd="sng" algn="ctr">
                      <a:solidFill>
                        <a:srgbClr val="DCD6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D6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D6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D6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EDE4"/>
                    </a:solidFill>
                  </a:tcPr>
                </a:tc>
              </a:tr>
              <a:tr h="47548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1B2426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기계공학</a:t>
                      </a:r>
                      <a:endParaRPr lang="en-US" sz="13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88900" marR="88900" marT="50800" marB="50800" anchor="ctr">
                    <a:lnL w="6350" cap="flat" cmpd="sng" algn="ctr">
                      <a:solidFill>
                        <a:srgbClr val="DCD6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D6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D6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D6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1B2426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4년</a:t>
                      </a:r>
                      <a:endParaRPr lang="en-US" sz="13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88900" marR="88900" marT="50800" marB="50800" anchor="ctr">
                    <a:lnL w="6350" cap="flat" cmpd="sng" algn="ctr">
                      <a:solidFill>
                        <a:srgbClr val="DCD6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D6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D6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D6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1B2426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200,736</a:t>
                      </a:r>
                      <a:endParaRPr lang="en-US" sz="13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88900" marR="88900" marT="50800" marB="50800" anchor="ctr">
                    <a:lnL w="6350" cap="flat" cmpd="sng" algn="ctr">
                      <a:solidFill>
                        <a:srgbClr val="DCD6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D6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D6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D6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1B2426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약 6,810만</a:t>
                      </a:r>
                      <a:endParaRPr lang="en-US" sz="13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88900" marR="88900" marT="50800" marB="50800" anchor="ctr">
                    <a:lnL w="6350" cap="flat" cmpd="sng" algn="ctr">
                      <a:solidFill>
                        <a:srgbClr val="DCD6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D6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D6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D6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1B2426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약 1,700만</a:t>
                      </a:r>
                      <a:endParaRPr lang="en-US" sz="13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88900" marR="88900" marT="50800" marB="50800" anchor="ctr">
                    <a:lnL w="6350" cap="flat" cmpd="sng" algn="ctr">
                      <a:solidFill>
                        <a:srgbClr val="DCD6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D6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D6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D6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7548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1B2426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파운데이션 + 기계공학</a:t>
                      </a:r>
                      <a:endParaRPr lang="en-US" sz="13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88900" marR="88900" marT="50800" marB="50800" anchor="ctr">
                    <a:lnL w="6350" cap="flat" cmpd="sng" algn="ctr">
                      <a:solidFill>
                        <a:srgbClr val="DCD6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D6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D6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D6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EDE4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1B2426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5년</a:t>
                      </a:r>
                      <a:endParaRPr lang="en-US" sz="13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88900" marR="88900" marT="50800" marB="50800" anchor="ctr">
                    <a:lnL w="6350" cap="flat" cmpd="sng" algn="ctr">
                      <a:solidFill>
                        <a:srgbClr val="DCD6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D6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D6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D6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EDE4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1B2426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244,780</a:t>
                      </a:r>
                      <a:endParaRPr lang="en-US" sz="13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88900" marR="88900" marT="50800" marB="50800" anchor="ctr">
                    <a:lnL w="6350" cap="flat" cmpd="sng" algn="ctr">
                      <a:solidFill>
                        <a:srgbClr val="DCD6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D6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D6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D6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EDE4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1B2426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약 8,300만</a:t>
                      </a:r>
                      <a:endParaRPr lang="en-US" sz="13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88900" marR="88900" marT="50800" marB="50800" anchor="ctr">
                    <a:lnL w="6350" cap="flat" cmpd="sng" algn="ctr">
                      <a:solidFill>
                        <a:srgbClr val="DCD6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D6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D6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D6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EDE4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1B2426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약 1,660만</a:t>
                      </a:r>
                      <a:endParaRPr lang="en-US" sz="13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88900" marR="88900" marT="50800" marB="50800" anchor="ctr">
                    <a:lnL w="6350" cap="flat" cmpd="sng" algn="ctr">
                      <a:solidFill>
                        <a:srgbClr val="DCD6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D6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D6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D6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EDE4"/>
                    </a:solidFill>
                  </a:tcPr>
                </a:tc>
              </a:tr>
            </a:tbl>
          </a:graphicData>
        </a:graphic>
      </p:graphicFrame>
      <p:sp>
        <p:nvSpPr>
          <p:cNvPr id="8" name="Shape 5"/>
          <p:cNvSpPr/>
          <p:nvPr/>
        </p:nvSpPr>
        <p:spPr>
          <a:xfrm>
            <a:off x="640080" y="4882896"/>
            <a:ext cx="5358384" cy="914400"/>
          </a:xfrm>
          <a:prstGeom prst="roundRect">
            <a:avLst>
              <a:gd name="adj" fmla="val 7000"/>
            </a:avLst>
          </a:prstGeom>
          <a:solidFill>
            <a:srgbClr val="F1EDE4"/>
          </a:solidFill>
          <a:ln/>
        </p:spPr>
      </p:sp>
      <p:sp>
        <p:nvSpPr>
          <p:cNvPr id="9" name="Text 6"/>
          <p:cNvSpPr txBox="1"/>
          <p:nvPr/>
        </p:nvSpPr>
        <p:spPr>
          <a:xfrm>
            <a:off x="896112" y="4992624"/>
            <a:ext cx="484632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22000"/>
              </a:lnSpc>
              <a:buNone/>
            </a:pPr>
            <a:r>
              <a:rPr lang="en-US" sz="1200" b="1" dirty="0">
                <a:solidFill>
                  <a:srgbClr val="134744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파운데이션이 필요한 계열</a:t>
            </a:r>
            <a:endParaRPr lang="en-US" sz="1200" dirty="0"/>
          </a:p>
        </p:txBody>
      </p:sp>
      <p:sp>
        <p:nvSpPr>
          <p:cNvPr id="10" name="Text 7"/>
          <p:cNvSpPr txBox="1"/>
          <p:nvPr/>
        </p:nvSpPr>
        <p:spPr>
          <a:xfrm>
            <a:off x="896112" y="5248656"/>
            <a:ext cx="48463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40000"/>
              </a:lnSpc>
              <a:buNone/>
            </a:pPr>
            <a:r>
              <a:rPr lang="en-US" sz="1150" dirty="0">
                <a:solidFill>
                  <a:srgbClr val="1B2426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BEng 공학사(기계·화학 등), BSc 이학사(약학·데이터사이언스 등)는 파운데이션 1년을 먼저 이수해야 합니다.</a:t>
            </a:r>
            <a:endParaRPr lang="en-US" sz="1150" dirty="0"/>
          </a:p>
        </p:txBody>
      </p:sp>
      <p:sp>
        <p:nvSpPr>
          <p:cNvPr id="11" name="Shape 8"/>
          <p:cNvSpPr/>
          <p:nvPr/>
        </p:nvSpPr>
        <p:spPr>
          <a:xfrm>
            <a:off x="6190488" y="4882896"/>
            <a:ext cx="5358384" cy="914400"/>
          </a:xfrm>
          <a:prstGeom prst="roundRect">
            <a:avLst>
              <a:gd name="adj" fmla="val 7000"/>
            </a:avLst>
          </a:prstGeom>
          <a:solidFill>
            <a:srgbClr val="F7EBE6"/>
          </a:solidFill>
          <a:ln/>
        </p:spPr>
      </p:sp>
      <p:sp>
        <p:nvSpPr>
          <p:cNvPr id="12" name="Text 9"/>
          <p:cNvSpPr txBox="1"/>
          <p:nvPr/>
        </p:nvSpPr>
        <p:spPr>
          <a:xfrm>
            <a:off x="6446520" y="4992624"/>
            <a:ext cx="484632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22000"/>
              </a:lnSpc>
              <a:buNone/>
            </a:pPr>
            <a:r>
              <a:rPr lang="en-US" sz="1200" b="1" dirty="0">
                <a:solidFill>
                  <a:srgbClr val="A8412C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직행 가능 계열</a:t>
            </a:r>
            <a:endParaRPr lang="en-US" sz="1200" dirty="0"/>
          </a:p>
        </p:txBody>
      </p:sp>
      <p:sp>
        <p:nvSpPr>
          <p:cNvPr id="13" name="Text 10"/>
          <p:cNvSpPr txBox="1"/>
          <p:nvPr/>
        </p:nvSpPr>
        <p:spPr>
          <a:xfrm>
            <a:off x="6446520" y="5248656"/>
            <a:ext cx="48463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40000"/>
              </a:lnSpc>
              <a:buNone/>
            </a:pPr>
            <a:r>
              <a:rPr lang="en-US" sz="1150" dirty="0">
                <a:solidFill>
                  <a:srgbClr val="1B2426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호텔경영·관광(세계 26위), 경영학 계열 전체는 파운데이션 없이 본과로 바로 들어갑니다. 1년치 학비와 시간을 아낍니다.</a:t>
            </a:r>
            <a:endParaRPr lang="en-US" sz="1150" dirty="0"/>
          </a:p>
        </p:txBody>
      </p:sp>
      <p:sp>
        <p:nvSpPr>
          <p:cNvPr id="14" name="Text 11"/>
          <p:cNvSpPr txBox="1"/>
          <p:nvPr/>
        </p:nvSpPr>
        <p:spPr>
          <a:xfrm>
            <a:off x="640080" y="6400800"/>
            <a:ext cx="10911535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25000"/>
              </a:lnSpc>
              <a:buNone/>
            </a:pPr>
            <a:r>
              <a:rPr lang="en-US" sz="900" dirty="0">
                <a:solidFill>
                  <a:srgbClr val="6E7C7A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환율 RM 1 ≈ 339원 기준 · 6% 서비스세 별도 · 금액은 대표 과정 기준이며 전공별 편차가 큽니다</a:t>
            </a:r>
            <a:endParaRPr lang="en-US" sz="9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640080" y="475488"/>
            <a:ext cx="566928" cy="566928"/>
          </a:xfrm>
          <a:prstGeom prst="roundRect">
            <a:avLst>
              <a:gd name="adj" fmla="val 9677"/>
            </a:avLst>
          </a:prstGeom>
          <a:solidFill>
            <a:srgbClr val="134744"/>
          </a:solidFill>
          <a:ln/>
        </p:spPr>
      </p:sp>
      <p:sp>
        <p:nvSpPr>
          <p:cNvPr id="3" name="Text 1"/>
          <p:cNvSpPr txBox="1"/>
          <p:nvPr/>
        </p:nvSpPr>
        <p:spPr>
          <a:xfrm>
            <a:off x="640080" y="475488"/>
            <a:ext cx="566928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22000"/>
              </a:lnSpc>
              <a:buNone/>
            </a:pPr>
            <a:r>
              <a:rPr lang="en-US" sz="1700" b="1" dirty="0">
                <a:solidFill>
                  <a:srgbClr val="C08A2E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03</a:t>
            </a:r>
            <a:endParaRPr lang="en-US" sz="1700" dirty="0"/>
          </a:p>
        </p:txBody>
      </p:sp>
      <p:sp>
        <p:nvSpPr>
          <p:cNvPr id="4" name="Text 2"/>
          <p:cNvSpPr txBox="1"/>
          <p:nvPr/>
        </p:nvSpPr>
        <p:spPr>
          <a:xfrm>
            <a:off x="1389888" y="457200"/>
            <a:ext cx="10161727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22000"/>
              </a:lnSpc>
              <a:buNone/>
            </a:pPr>
            <a:r>
              <a:rPr lang="en-US" sz="1100" b="1" spc="200" kern="0" dirty="0">
                <a:solidFill>
                  <a:srgbClr val="1F6B66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SUNWAY FEES</a:t>
            </a:r>
            <a:endParaRPr lang="en-US" sz="1100" dirty="0"/>
          </a:p>
        </p:txBody>
      </p:sp>
      <p:sp>
        <p:nvSpPr>
          <p:cNvPr id="5" name="Text 3"/>
          <p:cNvSpPr txBox="1"/>
          <p:nvPr/>
        </p:nvSpPr>
        <p:spPr>
          <a:xfrm>
            <a:off x="1389888" y="676656"/>
            <a:ext cx="10161727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0000"/>
              </a:lnSpc>
              <a:buNone/>
            </a:pPr>
            <a:r>
              <a:rPr lang="en-US" sz="3000" b="1" dirty="0">
                <a:solidFill>
                  <a:srgbClr val="0C2E2C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선웨이 학비</a:t>
            </a:r>
            <a:endParaRPr lang="en-US" sz="3000" dirty="0"/>
          </a:p>
        </p:txBody>
      </p:sp>
      <p:sp>
        <p:nvSpPr>
          <p:cNvPr id="6" name="Text 4"/>
          <p:cNvSpPr txBox="1"/>
          <p:nvPr/>
        </p:nvSpPr>
        <p:spPr>
          <a:xfrm>
            <a:off x="640080" y="1225296"/>
            <a:ext cx="10911535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30000"/>
              </a:lnSpc>
              <a:buNone/>
            </a:pPr>
            <a:r>
              <a:rPr lang="en-US" sz="1300" dirty="0">
                <a:solidFill>
                  <a:srgbClr val="6E7C7A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국제학생 기준 · 달러 표기를 링깃으로 환산해 통일했습니다</a:t>
            </a:r>
            <a:endParaRPr lang="en-US" sz="1300" dirty="0"/>
          </a:p>
        </p:txBody>
      </p:sp>
      <p:graphicFrame>
        <p:nvGraphicFramePr>
          <p:cNvPr id="5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640080" y="1828800"/>
          <a:ext cx="10911535" cy="914400"/>
        </p:xfrm>
        <a:graphic>
          <a:graphicData uri="http://schemas.openxmlformats.org/drawingml/2006/table">
            <a:tbl>
              <a:tblPr/>
              <a:tblGrid>
                <a:gridCol w="2651760"/>
                <a:gridCol w="1005840"/>
                <a:gridCol w="2286000"/>
                <a:gridCol w="2468880"/>
                <a:gridCol w="2499055"/>
              </a:tblGrid>
              <a:tr h="47548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b="1" dirty="0">
                          <a:solidFill>
                            <a:srgbClr val="FFFFFF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과정</a:t>
                      </a:r>
                      <a:endParaRPr lang="en-US" sz="13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88900" marR="88900" marT="50800" marB="50800" anchor="ctr">
                    <a:lnL w="6350" cap="flat" cmpd="sng" algn="ctr">
                      <a:solidFill>
                        <a:srgbClr val="DCD6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D6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D6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D6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4744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b="1" dirty="0">
                          <a:solidFill>
                            <a:srgbClr val="FFFFFF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기간</a:t>
                      </a:r>
                      <a:endParaRPr lang="en-US" sz="13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88900" marR="88900" marT="50800" marB="50800" anchor="ctr">
                    <a:lnL w="6350" cap="flat" cmpd="sng" algn="ctr">
                      <a:solidFill>
                        <a:srgbClr val="DCD6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D6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D6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D6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4744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b="1" dirty="0">
                          <a:solidFill>
                            <a:srgbClr val="FFFFFF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총 학비 (RM)</a:t>
                      </a:r>
                      <a:endParaRPr lang="en-US" sz="13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88900" marR="88900" marT="50800" marB="50800" anchor="ctr">
                    <a:lnL w="6350" cap="flat" cmpd="sng" algn="ctr">
                      <a:solidFill>
                        <a:srgbClr val="DCD6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D6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D6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D6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4744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b="1" dirty="0">
                          <a:solidFill>
                            <a:srgbClr val="FFFFFF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총 학비 (원화)</a:t>
                      </a:r>
                      <a:endParaRPr lang="en-US" sz="13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88900" marR="88900" marT="50800" marB="50800" anchor="ctr">
                    <a:lnL w="6350" cap="flat" cmpd="sng" algn="ctr">
                      <a:solidFill>
                        <a:srgbClr val="DCD6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D6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D6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D6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4744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b="1" dirty="0">
                          <a:solidFill>
                            <a:srgbClr val="FFFFFF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연간 (원화)</a:t>
                      </a:r>
                      <a:endParaRPr lang="en-US" sz="13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88900" marR="88900" marT="50800" marB="50800" anchor="ctr">
                    <a:lnL w="6350" cap="flat" cmpd="sng" algn="ctr">
                      <a:solidFill>
                        <a:srgbClr val="DCD6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D6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D6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D6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4744"/>
                    </a:solidFill>
                  </a:tcPr>
                </a:tc>
              </a:tr>
              <a:tr h="47548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1B2426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파운데이션</a:t>
                      </a:r>
                      <a:endParaRPr lang="en-US" sz="13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88900" marR="88900" marT="50800" marB="50800" anchor="ctr">
                    <a:lnL w="6350" cap="flat" cmpd="sng" algn="ctr">
                      <a:solidFill>
                        <a:srgbClr val="DCD6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D6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D6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D6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1B2426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1년</a:t>
                      </a:r>
                      <a:endParaRPr lang="en-US" sz="13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88900" marR="88900" marT="50800" marB="50800" anchor="ctr">
                    <a:lnL w="6350" cap="flat" cmpd="sng" algn="ctr">
                      <a:solidFill>
                        <a:srgbClr val="DCD6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D6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D6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D6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1B2426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17,850~29,350</a:t>
                      </a:r>
                      <a:endParaRPr lang="en-US" sz="13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88900" marR="88900" marT="50800" marB="50800" anchor="ctr">
                    <a:lnL w="6350" cap="flat" cmpd="sng" algn="ctr">
                      <a:solidFill>
                        <a:srgbClr val="DCD6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D6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D6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D6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1B2426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약 610만~990만</a:t>
                      </a:r>
                      <a:endParaRPr lang="en-US" sz="13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88900" marR="88900" marT="50800" marB="50800" anchor="ctr">
                    <a:lnL w="6350" cap="flat" cmpd="sng" algn="ctr">
                      <a:solidFill>
                        <a:srgbClr val="DCD6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D6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D6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D6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1B2426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약 610만~990만</a:t>
                      </a:r>
                      <a:endParaRPr lang="en-US" sz="13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88900" marR="88900" marT="50800" marB="50800" anchor="ctr">
                    <a:lnL w="6350" cap="flat" cmpd="sng" algn="ctr">
                      <a:solidFill>
                        <a:srgbClr val="DCD6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D6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D6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D6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7548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1B2426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경영계열</a:t>
                      </a:r>
                      <a:endParaRPr lang="en-US" sz="13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88900" marR="88900" marT="50800" marB="50800" anchor="ctr">
                    <a:lnL w="6350" cap="flat" cmpd="sng" algn="ctr">
                      <a:solidFill>
                        <a:srgbClr val="DCD6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D6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D6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D6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EDE4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1B2426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3년</a:t>
                      </a:r>
                      <a:endParaRPr lang="en-US" sz="13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88900" marR="88900" marT="50800" marB="50800" anchor="ctr">
                    <a:lnL w="6350" cap="flat" cmpd="sng" algn="ctr">
                      <a:solidFill>
                        <a:srgbClr val="DCD6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D6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D6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D6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EDE4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1B2426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80,400~114,150</a:t>
                      </a:r>
                      <a:endParaRPr lang="en-US" sz="13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88900" marR="88900" marT="50800" marB="50800" anchor="ctr">
                    <a:lnL w="6350" cap="flat" cmpd="sng" algn="ctr">
                      <a:solidFill>
                        <a:srgbClr val="DCD6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D6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D6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D6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EDE4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1B2426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약 2,730만~3,870만</a:t>
                      </a:r>
                      <a:endParaRPr lang="en-US" sz="13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88900" marR="88900" marT="50800" marB="50800" anchor="ctr">
                    <a:lnL w="6350" cap="flat" cmpd="sng" algn="ctr">
                      <a:solidFill>
                        <a:srgbClr val="DCD6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D6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D6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D6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EDE4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1B2426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약 910만~1,290만</a:t>
                      </a:r>
                      <a:endParaRPr lang="en-US" sz="13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88900" marR="88900" marT="50800" marB="50800" anchor="ctr">
                    <a:lnL w="6350" cap="flat" cmpd="sng" algn="ctr">
                      <a:solidFill>
                        <a:srgbClr val="DCD6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D6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D6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D6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EDE4"/>
                    </a:solidFill>
                  </a:tcPr>
                </a:tc>
              </a:tr>
              <a:tr h="47548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1B2426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공학계열</a:t>
                      </a:r>
                      <a:endParaRPr lang="en-US" sz="13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88900" marR="88900" marT="50800" marB="50800" anchor="ctr">
                    <a:lnL w="6350" cap="flat" cmpd="sng" algn="ctr">
                      <a:solidFill>
                        <a:srgbClr val="DCD6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D6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D6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D6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1B2426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4년</a:t>
                      </a:r>
                      <a:endParaRPr lang="en-US" sz="13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88900" marR="88900" marT="50800" marB="50800" anchor="ctr">
                    <a:lnL w="6350" cap="flat" cmpd="sng" algn="ctr">
                      <a:solidFill>
                        <a:srgbClr val="DCD6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D6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D6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D6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1B2426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153,568</a:t>
                      </a:r>
                      <a:endParaRPr lang="en-US" sz="13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88900" marR="88900" marT="50800" marB="50800" anchor="ctr">
                    <a:lnL w="6350" cap="flat" cmpd="sng" algn="ctr">
                      <a:solidFill>
                        <a:srgbClr val="DCD6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D6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D6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D6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1B2426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약 5,210만</a:t>
                      </a:r>
                      <a:endParaRPr lang="en-US" sz="13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88900" marR="88900" marT="50800" marB="50800" anchor="ctr">
                    <a:lnL w="6350" cap="flat" cmpd="sng" algn="ctr">
                      <a:solidFill>
                        <a:srgbClr val="DCD6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D6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D6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D6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1B2426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약 1,300만</a:t>
                      </a:r>
                      <a:endParaRPr lang="en-US" sz="13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88900" marR="88900" marT="50800" marB="50800" anchor="ctr">
                    <a:lnL w="6350" cap="flat" cmpd="sng" algn="ctr">
                      <a:solidFill>
                        <a:srgbClr val="DCD6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D6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D6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D6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7548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1B2426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파운데이션 + 공학</a:t>
                      </a:r>
                      <a:endParaRPr lang="en-US" sz="13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88900" marR="88900" marT="50800" marB="50800" anchor="ctr">
                    <a:lnL w="6350" cap="flat" cmpd="sng" algn="ctr">
                      <a:solidFill>
                        <a:srgbClr val="DCD6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D6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D6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D6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EDE4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1B2426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5년</a:t>
                      </a:r>
                      <a:endParaRPr lang="en-US" sz="13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88900" marR="88900" marT="50800" marB="50800" anchor="ctr">
                    <a:lnL w="6350" cap="flat" cmpd="sng" algn="ctr">
                      <a:solidFill>
                        <a:srgbClr val="DCD6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D6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D6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D6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EDE4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1B2426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171,418~182,918</a:t>
                      </a:r>
                      <a:endParaRPr lang="en-US" sz="13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88900" marR="88900" marT="50800" marB="50800" anchor="ctr">
                    <a:lnL w="6350" cap="flat" cmpd="sng" algn="ctr">
                      <a:solidFill>
                        <a:srgbClr val="DCD6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D6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D6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D6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EDE4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1B2426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약 5,810만~6,200만</a:t>
                      </a:r>
                      <a:endParaRPr lang="en-US" sz="13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88900" marR="88900" marT="50800" marB="50800" anchor="ctr">
                    <a:lnL w="6350" cap="flat" cmpd="sng" algn="ctr">
                      <a:solidFill>
                        <a:srgbClr val="DCD6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D6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D6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D6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EDE4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1B2426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약 1,160만~1,240만</a:t>
                      </a:r>
                      <a:endParaRPr lang="en-US" sz="13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88900" marR="88900" marT="50800" marB="50800" anchor="ctr">
                    <a:lnL w="6350" cap="flat" cmpd="sng" algn="ctr">
                      <a:solidFill>
                        <a:srgbClr val="DCD6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D6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D6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D6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EDE4"/>
                    </a:solidFill>
                  </a:tcPr>
                </a:tc>
              </a:tr>
            </a:tbl>
          </a:graphicData>
        </a:graphic>
      </p:graphicFrame>
      <p:sp>
        <p:nvSpPr>
          <p:cNvPr id="8" name="Shape 5"/>
          <p:cNvSpPr/>
          <p:nvPr/>
        </p:nvSpPr>
        <p:spPr>
          <a:xfrm>
            <a:off x="640080" y="4407408"/>
            <a:ext cx="5358384" cy="914400"/>
          </a:xfrm>
          <a:prstGeom prst="roundRect">
            <a:avLst>
              <a:gd name="adj" fmla="val 7000"/>
            </a:avLst>
          </a:prstGeom>
          <a:solidFill>
            <a:srgbClr val="F1EDE4"/>
          </a:solidFill>
          <a:ln/>
        </p:spPr>
      </p:sp>
      <p:sp>
        <p:nvSpPr>
          <p:cNvPr id="9" name="Text 6"/>
          <p:cNvSpPr txBox="1"/>
          <p:nvPr/>
        </p:nvSpPr>
        <p:spPr>
          <a:xfrm>
            <a:off x="896112" y="4517136"/>
            <a:ext cx="484632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22000"/>
              </a:lnSpc>
              <a:buNone/>
            </a:pPr>
            <a:r>
              <a:rPr lang="en-US" sz="1200" b="1" dirty="0">
                <a:solidFill>
                  <a:srgbClr val="134744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파운데이션이 필요한 계열</a:t>
            </a:r>
            <a:endParaRPr lang="en-US" sz="1200" dirty="0"/>
          </a:p>
        </p:txBody>
      </p:sp>
      <p:sp>
        <p:nvSpPr>
          <p:cNvPr id="10" name="Text 7"/>
          <p:cNvSpPr txBox="1"/>
          <p:nvPr/>
        </p:nvSpPr>
        <p:spPr>
          <a:xfrm>
            <a:off x="896112" y="4773168"/>
            <a:ext cx="48463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40000"/>
              </a:lnSpc>
              <a:buNone/>
            </a:pPr>
            <a:r>
              <a:rPr lang="en-US" sz="1150" dirty="0">
                <a:solidFill>
                  <a:srgbClr val="1B2426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BEng 공학사(전자·화학 등), BSc 컴퓨터공학·바이오메디컬·순수과학은 파운데이션을 먼저 이수합니다.</a:t>
            </a:r>
            <a:endParaRPr lang="en-US" sz="1150" dirty="0"/>
          </a:p>
        </p:txBody>
      </p:sp>
      <p:sp>
        <p:nvSpPr>
          <p:cNvPr id="11" name="Shape 8"/>
          <p:cNvSpPr/>
          <p:nvPr/>
        </p:nvSpPr>
        <p:spPr>
          <a:xfrm>
            <a:off x="6190488" y="4407408"/>
            <a:ext cx="5358384" cy="914400"/>
          </a:xfrm>
          <a:prstGeom prst="roundRect">
            <a:avLst>
              <a:gd name="adj" fmla="val 7000"/>
            </a:avLst>
          </a:prstGeom>
          <a:solidFill>
            <a:srgbClr val="F7EBE6"/>
          </a:solidFill>
          <a:ln/>
        </p:spPr>
      </p:sp>
      <p:sp>
        <p:nvSpPr>
          <p:cNvPr id="12" name="Text 9"/>
          <p:cNvSpPr txBox="1"/>
          <p:nvPr/>
        </p:nvSpPr>
        <p:spPr>
          <a:xfrm>
            <a:off x="6446520" y="4517136"/>
            <a:ext cx="484632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22000"/>
              </a:lnSpc>
              <a:buNone/>
            </a:pPr>
            <a:r>
              <a:rPr lang="en-US" sz="1200" b="1" dirty="0">
                <a:solidFill>
                  <a:srgbClr val="A8412C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직행 가능 계열</a:t>
            </a:r>
            <a:endParaRPr lang="en-US" sz="1200" dirty="0"/>
          </a:p>
        </p:txBody>
      </p:sp>
      <p:sp>
        <p:nvSpPr>
          <p:cNvPr id="13" name="Text 10"/>
          <p:cNvSpPr txBox="1"/>
          <p:nvPr/>
        </p:nvSpPr>
        <p:spPr>
          <a:xfrm>
            <a:off x="6446520" y="4773168"/>
            <a:ext cx="48463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40000"/>
              </a:lnSpc>
              <a:buNone/>
            </a:pPr>
            <a:r>
              <a:rPr lang="en-US" sz="1150" dirty="0">
                <a:solidFill>
                  <a:srgbClr val="1B2426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BA 인문사회과학 전반, BSc 경영학·호텔경영학은 파운데이션 없이 본과로 바로 들어갑니다.</a:t>
            </a:r>
            <a:endParaRPr lang="en-US" sz="1150" dirty="0"/>
          </a:p>
        </p:txBody>
      </p:sp>
      <p:sp>
        <p:nvSpPr>
          <p:cNvPr id="14" name="Shape 11"/>
          <p:cNvSpPr/>
          <p:nvPr/>
        </p:nvSpPr>
        <p:spPr>
          <a:xfrm>
            <a:off x="640080" y="5431536"/>
            <a:ext cx="10911535" cy="566928"/>
          </a:xfrm>
          <a:prstGeom prst="roundRect">
            <a:avLst>
              <a:gd name="adj" fmla="val 11290"/>
            </a:avLst>
          </a:prstGeom>
          <a:solidFill>
            <a:srgbClr val="F5EEDC"/>
          </a:solidFill>
          <a:ln/>
        </p:spPr>
      </p:sp>
      <p:sp>
        <p:nvSpPr>
          <p:cNvPr id="15" name="Text 12"/>
          <p:cNvSpPr txBox="1"/>
          <p:nvPr/>
        </p:nvSpPr>
        <p:spPr>
          <a:xfrm>
            <a:off x="896112" y="5431536"/>
            <a:ext cx="10399471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22000"/>
              </a:lnSpc>
              <a:buNone/>
            </a:pPr>
            <a:r>
              <a:rPr lang="en-US" sz="1300" b="1" dirty="0">
                <a:solidFill>
                  <a:srgbClr val="0C2E2C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랭커스터(영국) 복수 학위는 추가 비용이 없습니다 — 위 금액 그대로 영국 학위증을 함께 받습니다.</a:t>
            </a:r>
            <a:endParaRPr lang="en-US" sz="1300" dirty="0"/>
          </a:p>
        </p:txBody>
      </p:sp>
      <p:sp>
        <p:nvSpPr>
          <p:cNvPr id="16" name="Text 13"/>
          <p:cNvSpPr txBox="1"/>
          <p:nvPr/>
        </p:nvSpPr>
        <p:spPr>
          <a:xfrm>
            <a:off x="640080" y="6400800"/>
            <a:ext cx="10911535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25000"/>
              </a:lnSpc>
              <a:buNone/>
            </a:pPr>
            <a:r>
              <a:rPr lang="en-US" sz="900" dirty="0">
                <a:solidFill>
                  <a:srgbClr val="6E7C7A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환율 RM 1 ≈ 339원 기준 · 6% 서비스세 별도 · 경영계열은 입학처가 달러로 안내한 금액(연 USD 6,820~9,091)을 환산한 값입니다 — 청구 시 적용되는 학교 지시환율을 입학처에 확인하십시오</a:t>
            </a:r>
            <a:endParaRPr lang="en-US" sz="9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640080" y="475488"/>
            <a:ext cx="566928" cy="566928"/>
          </a:xfrm>
          <a:prstGeom prst="roundRect">
            <a:avLst>
              <a:gd name="adj" fmla="val 9677"/>
            </a:avLst>
          </a:prstGeom>
          <a:solidFill>
            <a:srgbClr val="134744"/>
          </a:solidFill>
          <a:ln/>
        </p:spPr>
      </p:sp>
      <p:sp>
        <p:nvSpPr>
          <p:cNvPr id="3" name="Text 1"/>
          <p:cNvSpPr txBox="1"/>
          <p:nvPr/>
        </p:nvSpPr>
        <p:spPr>
          <a:xfrm>
            <a:off x="640080" y="475488"/>
            <a:ext cx="566928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22000"/>
              </a:lnSpc>
              <a:buNone/>
            </a:pPr>
            <a:r>
              <a:rPr lang="en-US" sz="1700" b="1" dirty="0">
                <a:solidFill>
                  <a:srgbClr val="C08A2E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04</a:t>
            </a:r>
            <a:endParaRPr lang="en-US" sz="1700" dirty="0"/>
          </a:p>
        </p:txBody>
      </p:sp>
      <p:sp>
        <p:nvSpPr>
          <p:cNvPr id="4" name="Text 2"/>
          <p:cNvSpPr txBox="1"/>
          <p:nvPr/>
        </p:nvSpPr>
        <p:spPr>
          <a:xfrm>
            <a:off x="1389888" y="457200"/>
            <a:ext cx="10161727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22000"/>
              </a:lnSpc>
              <a:buNone/>
            </a:pPr>
            <a:r>
              <a:rPr lang="en-US" sz="1100" b="1" spc="200" kern="0" dirty="0">
                <a:solidFill>
                  <a:srgbClr val="1F6B66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SIDE BY SIDE</a:t>
            </a:r>
            <a:endParaRPr lang="en-US" sz="1100" dirty="0"/>
          </a:p>
        </p:txBody>
      </p:sp>
      <p:sp>
        <p:nvSpPr>
          <p:cNvPr id="5" name="Text 3"/>
          <p:cNvSpPr txBox="1"/>
          <p:nvPr/>
        </p:nvSpPr>
        <p:spPr>
          <a:xfrm>
            <a:off x="1389888" y="676656"/>
            <a:ext cx="10161727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0000"/>
              </a:lnSpc>
              <a:buNone/>
            </a:pPr>
            <a:r>
              <a:rPr lang="en-US" sz="3000" b="1" dirty="0">
                <a:solidFill>
                  <a:srgbClr val="0C2E2C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같은 조건에서 비교하면</a:t>
            </a:r>
            <a:endParaRPr lang="en-US" sz="3000" dirty="0"/>
          </a:p>
        </p:txBody>
      </p:sp>
      <p:sp>
        <p:nvSpPr>
          <p:cNvPr id="6" name="Text 4"/>
          <p:cNvSpPr txBox="1"/>
          <p:nvPr/>
        </p:nvSpPr>
        <p:spPr>
          <a:xfrm>
            <a:off x="640080" y="1225296"/>
            <a:ext cx="10911535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30000"/>
              </a:lnSpc>
              <a:buNone/>
            </a:pPr>
            <a:r>
              <a:rPr lang="en-US" sz="1300" dirty="0">
                <a:solidFill>
                  <a:srgbClr val="6E7C7A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학비만 놓고 보면 선웨이가 낮습니다. 다만 강세 전공이 다릅니다.</a:t>
            </a:r>
            <a:endParaRPr lang="en-US" sz="1300" dirty="0"/>
          </a:p>
        </p:txBody>
      </p:sp>
      <p:graphicFrame>
        <p:nvGraphicFramePr>
          <p:cNvPr id="6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640080" y="1828800"/>
          <a:ext cx="10911535" cy="914400"/>
        </p:xfrm>
        <a:graphic>
          <a:graphicData uri="http://schemas.openxmlformats.org/drawingml/2006/table">
            <a:tbl>
              <a:tblPr/>
              <a:tblGrid>
                <a:gridCol w="2926080"/>
                <a:gridCol w="2194560"/>
                <a:gridCol w="2834640"/>
                <a:gridCol w="2956255"/>
              </a:tblGrid>
              <a:tr h="51206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b="1" dirty="0">
                          <a:solidFill>
                            <a:srgbClr val="FFFFFF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조건</a:t>
                      </a:r>
                      <a:endParaRPr lang="en-US" sz="13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88900" marR="88900" marT="50800" marB="50800" anchor="ctr">
                    <a:lnL w="6350" cap="flat" cmpd="sng" algn="ctr">
                      <a:solidFill>
                        <a:srgbClr val="DCD6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D6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D6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D6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4744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b="1" dirty="0">
                          <a:solidFill>
                            <a:srgbClr val="FFFFFF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기간</a:t>
                      </a:r>
                      <a:endParaRPr lang="en-US" sz="13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88900" marR="88900" marT="50800" marB="50800" anchor="ctr">
                    <a:lnL w="6350" cap="flat" cmpd="sng" algn="ctr">
                      <a:solidFill>
                        <a:srgbClr val="DCD6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D6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D6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D6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4744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b="1" dirty="0">
                          <a:solidFill>
                            <a:srgbClr val="FFFFFF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테일러스</a:t>
                      </a:r>
                      <a:endParaRPr lang="en-US" sz="13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88900" marR="88900" marT="50800" marB="50800" anchor="ctr">
                    <a:lnL w="6350" cap="flat" cmpd="sng" algn="ctr">
                      <a:solidFill>
                        <a:srgbClr val="DCD6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D6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D6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D6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4744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b="1" dirty="0">
                          <a:solidFill>
                            <a:srgbClr val="FFFFFF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선웨이</a:t>
                      </a:r>
                      <a:endParaRPr lang="en-US" sz="13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88900" marR="88900" marT="50800" marB="50800" anchor="ctr">
                    <a:lnL w="6350" cap="flat" cmpd="sng" algn="ctr">
                      <a:solidFill>
                        <a:srgbClr val="DCD6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D6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D6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D6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4744"/>
                    </a:solidFill>
                  </a:tcPr>
                </a:tc>
              </a:tr>
              <a:tr h="51206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1B2426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파운데이션</a:t>
                      </a:r>
                      <a:endParaRPr lang="en-US" sz="13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88900" marR="88900" marT="50800" marB="50800" anchor="ctr">
                    <a:lnL w="6350" cap="flat" cmpd="sng" algn="ctr">
                      <a:solidFill>
                        <a:srgbClr val="DCD6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D6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D6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D6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1B2426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1년</a:t>
                      </a:r>
                      <a:endParaRPr lang="en-US" sz="13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88900" marR="88900" marT="50800" marB="50800" anchor="ctr">
                    <a:lnL w="6350" cap="flat" cmpd="sng" algn="ctr">
                      <a:solidFill>
                        <a:srgbClr val="DCD6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D6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D6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D6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1B2426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약 1,490만</a:t>
                      </a:r>
                      <a:endParaRPr lang="en-US" sz="13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88900" marR="88900" marT="50800" marB="50800" anchor="ctr">
                    <a:lnL w="6350" cap="flat" cmpd="sng" algn="ctr">
                      <a:solidFill>
                        <a:srgbClr val="DCD6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D6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D6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D6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1B2426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약 610만~990만</a:t>
                      </a:r>
                      <a:endParaRPr lang="en-US" sz="13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88900" marR="88900" marT="50800" marB="50800" anchor="ctr">
                    <a:lnL w="6350" cap="flat" cmpd="sng" algn="ctr">
                      <a:solidFill>
                        <a:srgbClr val="DCD6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D6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D6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D6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51206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1B2426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본과 직행 (호텔 / 경영)</a:t>
                      </a:r>
                      <a:endParaRPr lang="en-US" sz="13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88900" marR="88900" marT="50800" marB="50800" anchor="ctr">
                    <a:lnL w="6350" cap="flat" cmpd="sng" algn="ctr">
                      <a:solidFill>
                        <a:srgbClr val="DCD6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D6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D6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D6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EDE4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1B2426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3년</a:t>
                      </a:r>
                      <a:endParaRPr lang="en-US" sz="13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88900" marR="88900" marT="50800" marB="50800" anchor="ctr">
                    <a:lnL w="6350" cap="flat" cmpd="sng" algn="ctr">
                      <a:solidFill>
                        <a:srgbClr val="DCD6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D6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D6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D6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EDE4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1B2426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약 4,510만</a:t>
                      </a:r>
                      <a:endParaRPr lang="en-US" sz="13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88900" marR="88900" marT="50800" marB="50800" anchor="ctr">
                    <a:lnL w="6350" cap="flat" cmpd="sng" algn="ctr">
                      <a:solidFill>
                        <a:srgbClr val="DCD6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D6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D6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D6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EDE4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1B2426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약 2,730만~3,870만</a:t>
                      </a:r>
                      <a:endParaRPr lang="en-US" sz="13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88900" marR="88900" marT="50800" marB="50800" anchor="ctr">
                    <a:lnL w="6350" cap="flat" cmpd="sng" algn="ctr">
                      <a:solidFill>
                        <a:srgbClr val="DCD6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D6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D6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D6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EDE4"/>
                    </a:solidFill>
                  </a:tcPr>
                </a:tc>
              </a:tr>
              <a:tr h="51206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1B2426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공학 본과</a:t>
                      </a:r>
                      <a:endParaRPr lang="en-US" sz="13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88900" marR="88900" marT="50800" marB="50800" anchor="ctr">
                    <a:lnL w="6350" cap="flat" cmpd="sng" algn="ctr">
                      <a:solidFill>
                        <a:srgbClr val="DCD6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D6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D6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D6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1B2426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4년</a:t>
                      </a:r>
                      <a:endParaRPr lang="en-US" sz="13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88900" marR="88900" marT="50800" marB="50800" anchor="ctr">
                    <a:lnL w="6350" cap="flat" cmpd="sng" algn="ctr">
                      <a:solidFill>
                        <a:srgbClr val="DCD6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D6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D6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D6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1B2426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약 6,810만</a:t>
                      </a:r>
                      <a:endParaRPr lang="en-US" sz="13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88900" marR="88900" marT="50800" marB="50800" anchor="ctr">
                    <a:lnL w="6350" cap="flat" cmpd="sng" algn="ctr">
                      <a:solidFill>
                        <a:srgbClr val="DCD6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D6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D6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D6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1B2426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약 5,210만</a:t>
                      </a:r>
                      <a:endParaRPr lang="en-US" sz="13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88900" marR="88900" marT="50800" marB="50800" anchor="ctr">
                    <a:lnL w="6350" cap="flat" cmpd="sng" algn="ctr">
                      <a:solidFill>
                        <a:srgbClr val="DCD6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D6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D6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D6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51206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1B2426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파운데이션 + 공학</a:t>
                      </a:r>
                      <a:endParaRPr lang="en-US" sz="13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88900" marR="88900" marT="50800" marB="50800" anchor="ctr">
                    <a:lnL w="6350" cap="flat" cmpd="sng" algn="ctr">
                      <a:solidFill>
                        <a:srgbClr val="DCD6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D6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D6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D6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EDE4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1B2426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5년</a:t>
                      </a:r>
                      <a:endParaRPr lang="en-US" sz="13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88900" marR="88900" marT="50800" marB="50800" anchor="ctr">
                    <a:lnL w="6350" cap="flat" cmpd="sng" algn="ctr">
                      <a:solidFill>
                        <a:srgbClr val="DCD6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D6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D6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D6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EDE4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1B2426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약 8,300만</a:t>
                      </a:r>
                      <a:endParaRPr lang="en-US" sz="13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88900" marR="88900" marT="50800" marB="50800" anchor="ctr">
                    <a:lnL w="6350" cap="flat" cmpd="sng" algn="ctr">
                      <a:solidFill>
                        <a:srgbClr val="DCD6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D6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D6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D6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EDE4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1B2426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약 5,810만~6,200만</a:t>
                      </a:r>
                      <a:endParaRPr lang="en-US" sz="13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88900" marR="88900" marT="50800" marB="50800" anchor="ctr">
                    <a:lnL w="6350" cap="flat" cmpd="sng" algn="ctr">
                      <a:solidFill>
                        <a:srgbClr val="DCD6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D6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D6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D6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EDE4"/>
                    </a:solidFill>
                  </a:tcPr>
                </a:tc>
              </a:tr>
            </a:tbl>
          </a:graphicData>
        </a:graphic>
      </p:graphicFrame>
      <p:sp>
        <p:nvSpPr>
          <p:cNvPr id="8" name="Shape 5"/>
          <p:cNvSpPr/>
          <p:nvPr/>
        </p:nvSpPr>
        <p:spPr>
          <a:xfrm>
            <a:off x="640080" y="4626864"/>
            <a:ext cx="5358384" cy="1188720"/>
          </a:xfrm>
          <a:prstGeom prst="roundRect">
            <a:avLst>
              <a:gd name="adj" fmla="val 6154"/>
            </a:avLst>
          </a:prstGeom>
          <a:solidFill>
            <a:srgbClr val="F1EDE4"/>
          </a:solidFill>
          <a:ln/>
        </p:spPr>
      </p:sp>
      <p:sp>
        <p:nvSpPr>
          <p:cNvPr id="9" name="Text 6"/>
          <p:cNvSpPr txBox="1"/>
          <p:nvPr/>
        </p:nvSpPr>
        <p:spPr>
          <a:xfrm>
            <a:off x="896112" y="4736592"/>
            <a:ext cx="484632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22000"/>
              </a:lnSpc>
              <a:buNone/>
            </a:pPr>
            <a:r>
              <a:rPr lang="en-US" sz="1300" b="1" dirty="0">
                <a:solidFill>
                  <a:srgbClr val="134744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그래도 테일러스를 택하는 이유</a:t>
            </a:r>
            <a:endParaRPr lang="en-US" sz="1300" dirty="0"/>
          </a:p>
        </p:txBody>
      </p:sp>
      <p:sp>
        <p:nvSpPr>
          <p:cNvPr id="10" name="Text 7"/>
          <p:cNvSpPr txBox="1"/>
          <p:nvPr/>
        </p:nvSpPr>
        <p:spPr>
          <a:xfrm>
            <a:off x="896112" y="5029200"/>
            <a:ext cx="484632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45000"/>
              </a:lnSpc>
              <a:buNone/>
            </a:pPr>
            <a:r>
              <a:rPr lang="en-US" sz="1200" dirty="0">
                <a:solidFill>
                  <a:srgbClr val="1B2426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호텔·관광 세계 26위, 디자인·마케팅 세계 100위권. 이 분야가 목표라면 학비 차이를 상쇄합니다. 전공 폭도 12개 계열로 넓습니다.</a:t>
            </a:r>
            <a:endParaRPr lang="en-US" sz="1200" dirty="0"/>
          </a:p>
        </p:txBody>
      </p:sp>
      <p:sp>
        <p:nvSpPr>
          <p:cNvPr id="11" name="Shape 8"/>
          <p:cNvSpPr/>
          <p:nvPr/>
        </p:nvSpPr>
        <p:spPr>
          <a:xfrm>
            <a:off x="6190488" y="4626864"/>
            <a:ext cx="5358384" cy="1188720"/>
          </a:xfrm>
          <a:prstGeom prst="roundRect">
            <a:avLst>
              <a:gd name="adj" fmla="val 6154"/>
            </a:avLst>
          </a:prstGeom>
          <a:solidFill>
            <a:srgbClr val="F5EEDC"/>
          </a:solidFill>
          <a:ln/>
        </p:spPr>
      </p:sp>
      <p:sp>
        <p:nvSpPr>
          <p:cNvPr id="12" name="Text 9"/>
          <p:cNvSpPr txBox="1"/>
          <p:nvPr/>
        </p:nvSpPr>
        <p:spPr>
          <a:xfrm>
            <a:off x="6446520" y="4736592"/>
            <a:ext cx="484632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22000"/>
              </a:lnSpc>
              <a:buNone/>
            </a:pPr>
            <a:r>
              <a:rPr lang="en-US" sz="1300" b="1" dirty="0">
                <a:solidFill>
                  <a:srgbClr val="C08A2E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선웨이가 유리한 경우</a:t>
            </a:r>
            <a:endParaRPr lang="en-US" sz="1300" dirty="0"/>
          </a:p>
        </p:txBody>
      </p:sp>
      <p:sp>
        <p:nvSpPr>
          <p:cNvPr id="13" name="Text 10"/>
          <p:cNvSpPr txBox="1"/>
          <p:nvPr/>
        </p:nvSpPr>
        <p:spPr>
          <a:xfrm>
            <a:off x="6446520" y="5029200"/>
            <a:ext cx="484632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45000"/>
              </a:lnSpc>
              <a:buNone/>
            </a:pPr>
            <a:r>
              <a:rPr lang="en-US" sz="1200" dirty="0">
                <a:solidFill>
                  <a:srgbClr val="1B2426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회계·금융·계리·컴퓨터과학이 목표이거나, 추가 비용 없이 영국(랭커스터) 학위를 함께 받고 싶은 경우입니다.</a:t>
            </a:r>
            <a:endParaRPr lang="en-US" sz="1200" dirty="0"/>
          </a:p>
        </p:txBody>
      </p:sp>
      <p:sp>
        <p:nvSpPr>
          <p:cNvPr id="14" name="Text 11"/>
          <p:cNvSpPr txBox="1"/>
          <p:nvPr/>
        </p:nvSpPr>
        <p:spPr>
          <a:xfrm>
            <a:off x="640080" y="6400800"/>
            <a:ext cx="10911535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25000"/>
              </a:lnSpc>
              <a:buNone/>
            </a:pPr>
            <a:r>
              <a:rPr lang="en-US" sz="900" dirty="0">
                <a:solidFill>
                  <a:srgbClr val="6E7C7A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※ 학비는 전공별 편차가 큽니다. 위 금액은 대표 과정 기준이며, 지망 학과 기준으로 다시 확인해야 합니다.</a:t>
            </a:r>
            <a:endParaRPr lang="en-US" sz="9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640080" y="475488"/>
            <a:ext cx="566928" cy="566928"/>
          </a:xfrm>
          <a:prstGeom prst="roundRect">
            <a:avLst>
              <a:gd name="adj" fmla="val 9677"/>
            </a:avLst>
          </a:prstGeom>
          <a:solidFill>
            <a:srgbClr val="134744"/>
          </a:solidFill>
          <a:ln/>
        </p:spPr>
      </p:sp>
      <p:sp>
        <p:nvSpPr>
          <p:cNvPr id="3" name="Text 1"/>
          <p:cNvSpPr txBox="1"/>
          <p:nvPr/>
        </p:nvSpPr>
        <p:spPr>
          <a:xfrm>
            <a:off x="640080" y="475488"/>
            <a:ext cx="566928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22000"/>
              </a:lnSpc>
              <a:buNone/>
            </a:pPr>
            <a:r>
              <a:rPr lang="en-US" sz="1700" b="1" dirty="0">
                <a:solidFill>
                  <a:srgbClr val="C08A2E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05</a:t>
            </a:r>
            <a:endParaRPr lang="en-US" sz="1700" dirty="0"/>
          </a:p>
        </p:txBody>
      </p:sp>
      <p:sp>
        <p:nvSpPr>
          <p:cNvPr id="4" name="Text 2"/>
          <p:cNvSpPr txBox="1"/>
          <p:nvPr/>
        </p:nvSpPr>
        <p:spPr>
          <a:xfrm>
            <a:off x="1389888" y="457200"/>
            <a:ext cx="10161727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22000"/>
              </a:lnSpc>
              <a:buNone/>
            </a:pPr>
            <a:r>
              <a:rPr lang="en-US" sz="1100" b="1" spc="200" kern="0" dirty="0">
                <a:solidFill>
                  <a:srgbClr val="1F6B66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TOTAL BUDGET</a:t>
            </a:r>
            <a:endParaRPr lang="en-US" sz="1100" dirty="0"/>
          </a:p>
        </p:txBody>
      </p:sp>
      <p:sp>
        <p:nvSpPr>
          <p:cNvPr id="5" name="Text 3"/>
          <p:cNvSpPr txBox="1"/>
          <p:nvPr/>
        </p:nvSpPr>
        <p:spPr>
          <a:xfrm>
            <a:off x="1389888" y="676656"/>
            <a:ext cx="10161727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0000"/>
              </a:lnSpc>
              <a:buNone/>
            </a:pPr>
            <a:r>
              <a:rPr lang="en-US" sz="3000" b="1" dirty="0">
                <a:solidFill>
                  <a:srgbClr val="0C2E2C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졸업까지 총 예산</a:t>
            </a:r>
            <a:endParaRPr lang="en-US" sz="3000" dirty="0"/>
          </a:p>
        </p:txBody>
      </p:sp>
      <p:sp>
        <p:nvSpPr>
          <p:cNvPr id="6" name="Text 4"/>
          <p:cNvSpPr txBox="1"/>
          <p:nvPr/>
        </p:nvSpPr>
        <p:spPr>
          <a:xfrm>
            <a:off x="640080" y="1225296"/>
            <a:ext cx="10911535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30000"/>
              </a:lnSpc>
              <a:buNone/>
            </a:pPr>
            <a:r>
              <a:rPr lang="en-US" sz="1300" dirty="0">
                <a:solidFill>
                  <a:srgbClr val="6E7C7A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학비 외에 공동체 운영비·비자 갱신·입학비가 함께 듭니다. 장학금은 반영하지 않았습니다.</a:t>
            </a:r>
            <a:endParaRPr lang="en-US" sz="1300" dirty="0"/>
          </a:p>
        </p:txBody>
      </p:sp>
      <p:graphicFrame>
        <p:nvGraphicFramePr>
          <p:cNvPr id="7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640080" y="1828800"/>
          <a:ext cx="10911535" cy="914400"/>
        </p:xfrm>
        <a:graphic>
          <a:graphicData uri="http://schemas.openxmlformats.org/drawingml/2006/table">
            <a:tbl>
              <a:tblPr/>
              <a:tblGrid>
                <a:gridCol w="2651760"/>
                <a:gridCol w="2753258"/>
                <a:gridCol w="2753258"/>
                <a:gridCol w="2753258"/>
              </a:tblGrid>
              <a:tr h="45720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b="1" dirty="0">
                          <a:solidFill>
                            <a:srgbClr val="FFFFFF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항목</a:t>
                      </a:r>
                      <a:endParaRPr lang="en-US" sz="125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88900" marR="88900" marT="50800" marB="50800" anchor="ctr">
                    <a:lnL w="6350" cap="flat" cmpd="sng" algn="ctr">
                      <a:solidFill>
                        <a:srgbClr val="DCD6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D6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D6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D6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4744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b="1" dirty="0">
                          <a:solidFill>
                            <a:srgbClr val="FFFFFF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테일러스 3년</a:t>
                      </a:r>
                      <a:endParaRPr lang="en-US" sz="125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88900" marR="88900" marT="50800" marB="50800" anchor="ctr">
                    <a:lnL w="6350" cap="flat" cmpd="sng" algn="ctr">
                      <a:solidFill>
                        <a:srgbClr val="DCD6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D6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D6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D6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4744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b="1" dirty="0">
                          <a:solidFill>
                            <a:srgbClr val="FFFFFF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선웨이 3년</a:t>
                      </a:r>
                      <a:endParaRPr lang="en-US" sz="125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88900" marR="88900" marT="50800" marB="50800" anchor="ctr">
                    <a:lnL w="6350" cap="flat" cmpd="sng" algn="ctr">
                      <a:solidFill>
                        <a:srgbClr val="DCD6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D6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D6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D6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4744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b="1" dirty="0">
                          <a:solidFill>
                            <a:srgbClr val="FFFFFF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공학 5년</a:t>
                      </a:r>
                      <a:endParaRPr lang="en-US" sz="125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88900" marR="88900" marT="50800" marB="50800" anchor="ctr">
                    <a:lnL w="6350" cap="flat" cmpd="sng" algn="ctr">
                      <a:solidFill>
                        <a:srgbClr val="DCD6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D6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D6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D6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4744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dirty="0">
                          <a:solidFill>
                            <a:srgbClr val="1B2426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연간 학비</a:t>
                      </a:r>
                      <a:endParaRPr lang="en-US" sz="125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88900" marR="88900" marT="50800" marB="50800" anchor="ctr">
                    <a:lnL w="6350" cap="flat" cmpd="sng" algn="ctr">
                      <a:solidFill>
                        <a:srgbClr val="DCD6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D6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D6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D6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dirty="0">
                          <a:solidFill>
                            <a:srgbClr val="1B2426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약 1,500만</a:t>
                      </a:r>
                      <a:endParaRPr lang="en-US" sz="125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88900" marR="88900" marT="50800" marB="50800" anchor="ctr">
                    <a:lnL w="6350" cap="flat" cmpd="sng" algn="ctr">
                      <a:solidFill>
                        <a:srgbClr val="DCD6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D6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D6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D6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dirty="0">
                          <a:solidFill>
                            <a:srgbClr val="1B2426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910만~1,290만</a:t>
                      </a:r>
                      <a:endParaRPr lang="en-US" sz="125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88900" marR="88900" marT="50800" marB="50800" anchor="ctr">
                    <a:lnL w="6350" cap="flat" cmpd="sng" algn="ctr">
                      <a:solidFill>
                        <a:srgbClr val="DCD6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D6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D6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D6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dirty="0">
                          <a:solidFill>
                            <a:srgbClr val="1B2426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1,430만~1,710만</a:t>
                      </a:r>
                      <a:endParaRPr lang="en-US" sz="125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88900" marR="88900" marT="50800" marB="50800" anchor="ctr">
                    <a:lnL w="6350" cap="flat" cmpd="sng" algn="ctr">
                      <a:solidFill>
                        <a:srgbClr val="DCD6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D6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D6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D6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dirty="0">
                          <a:solidFill>
                            <a:srgbClr val="1B2426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학생비자 갱신</a:t>
                      </a:r>
                      <a:endParaRPr lang="en-US" sz="125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88900" marR="88900" marT="50800" marB="50800" anchor="ctr">
                    <a:lnL w="6350" cap="flat" cmpd="sng" algn="ctr">
                      <a:solidFill>
                        <a:srgbClr val="DCD6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D6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D6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D6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EDE4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dirty="0">
                          <a:solidFill>
                            <a:srgbClr val="1B2426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약 140만</a:t>
                      </a:r>
                      <a:endParaRPr lang="en-US" sz="125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88900" marR="88900" marT="50800" marB="50800" anchor="ctr">
                    <a:lnL w="6350" cap="flat" cmpd="sng" algn="ctr">
                      <a:solidFill>
                        <a:srgbClr val="DCD6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D6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D6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D6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EDE4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dirty="0">
                          <a:solidFill>
                            <a:srgbClr val="1B2426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약 140만</a:t>
                      </a:r>
                      <a:endParaRPr lang="en-US" sz="125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88900" marR="88900" marT="50800" marB="50800" anchor="ctr">
                    <a:lnL w="6350" cap="flat" cmpd="sng" algn="ctr">
                      <a:solidFill>
                        <a:srgbClr val="DCD6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D6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D6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D6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EDE4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dirty="0">
                          <a:solidFill>
                            <a:srgbClr val="1B2426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약 140만</a:t>
                      </a:r>
                      <a:endParaRPr lang="en-US" sz="125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88900" marR="88900" marT="50800" marB="50800" anchor="ctr">
                    <a:lnL w="6350" cap="flat" cmpd="sng" algn="ctr">
                      <a:solidFill>
                        <a:srgbClr val="DCD6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D6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D6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D6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EDE4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dirty="0">
                          <a:solidFill>
                            <a:srgbClr val="1B2426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IM 공동체 운영비</a:t>
                      </a:r>
                      <a:endParaRPr lang="en-US" sz="125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88900" marR="88900" marT="50800" marB="50800" anchor="ctr">
                    <a:lnL w="6350" cap="flat" cmpd="sng" algn="ctr">
                      <a:solidFill>
                        <a:srgbClr val="DCD6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D6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D6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D6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dirty="0">
                          <a:solidFill>
                            <a:srgbClr val="1B2426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1,440만 (120×12)</a:t>
                      </a:r>
                      <a:endParaRPr lang="en-US" sz="125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88900" marR="88900" marT="50800" marB="50800" anchor="ctr">
                    <a:lnL w="6350" cap="flat" cmpd="sng" algn="ctr">
                      <a:solidFill>
                        <a:srgbClr val="DCD6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D6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D6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D6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dirty="0">
                          <a:solidFill>
                            <a:srgbClr val="1B2426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1,440만 (120×12)</a:t>
                      </a:r>
                      <a:endParaRPr lang="en-US" sz="125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88900" marR="88900" marT="50800" marB="50800" anchor="ctr">
                    <a:lnL w="6350" cap="flat" cmpd="sng" algn="ctr">
                      <a:solidFill>
                        <a:srgbClr val="DCD6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D6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D6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D6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dirty="0">
                          <a:solidFill>
                            <a:srgbClr val="1B2426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1,440만 (120×12)</a:t>
                      </a:r>
                      <a:endParaRPr lang="en-US" sz="125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88900" marR="88900" marT="50800" marB="50800" anchor="ctr">
                    <a:lnL w="6350" cap="flat" cmpd="sng" algn="ctr">
                      <a:solidFill>
                        <a:srgbClr val="DCD6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D6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D6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D6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dirty="0">
                          <a:solidFill>
                            <a:srgbClr val="1B2426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입학비 (1회)</a:t>
                      </a:r>
                      <a:endParaRPr lang="en-US" sz="125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88900" marR="88900" marT="50800" marB="50800" anchor="ctr">
                    <a:lnL w="6350" cap="flat" cmpd="sng" algn="ctr">
                      <a:solidFill>
                        <a:srgbClr val="DCD6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D6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D6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D6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EDE4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dirty="0">
                          <a:solidFill>
                            <a:srgbClr val="1B2426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500만</a:t>
                      </a:r>
                      <a:endParaRPr lang="en-US" sz="125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88900" marR="88900" marT="50800" marB="50800" anchor="ctr">
                    <a:lnL w="6350" cap="flat" cmpd="sng" algn="ctr">
                      <a:solidFill>
                        <a:srgbClr val="DCD6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D6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D6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D6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EDE4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dirty="0">
                          <a:solidFill>
                            <a:srgbClr val="1B2426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500만</a:t>
                      </a:r>
                      <a:endParaRPr lang="en-US" sz="125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88900" marR="88900" marT="50800" marB="50800" anchor="ctr">
                    <a:lnL w="6350" cap="flat" cmpd="sng" algn="ctr">
                      <a:solidFill>
                        <a:srgbClr val="DCD6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D6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D6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D6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EDE4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dirty="0">
                          <a:solidFill>
                            <a:srgbClr val="1B2426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500만</a:t>
                      </a:r>
                      <a:endParaRPr lang="en-US" sz="125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88900" marR="88900" marT="50800" marB="50800" anchor="ctr">
                    <a:lnL w="6350" cap="flat" cmpd="sng" algn="ctr">
                      <a:solidFill>
                        <a:srgbClr val="DCD6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D6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D6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D6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EDE4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dirty="0">
                          <a:solidFill>
                            <a:srgbClr val="1B2426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연간 소계 (1년차)</a:t>
                      </a:r>
                      <a:endParaRPr lang="en-US" sz="125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88900" marR="88900" marT="50800" marB="50800" anchor="ctr">
                    <a:lnL w="6350" cap="flat" cmpd="sng" algn="ctr">
                      <a:solidFill>
                        <a:srgbClr val="DCD6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D6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D6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D6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dirty="0">
                          <a:solidFill>
                            <a:srgbClr val="1B2426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3,500만~3,600만</a:t>
                      </a:r>
                      <a:endParaRPr lang="en-US" sz="125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88900" marR="88900" marT="50800" marB="50800" anchor="ctr">
                    <a:lnL w="6350" cap="flat" cmpd="sng" algn="ctr">
                      <a:solidFill>
                        <a:srgbClr val="DCD6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D6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D6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D6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dirty="0">
                          <a:solidFill>
                            <a:srgbClr val="1B2426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3,000만~3,300만</a:t>
                      </a:r>
                      <a:endParaRPr lang="en-US" sz="125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88900" marR="88900" marT="50800" marB="50800" anchor="ctr">
                    <a:lnL w="6350" cap="flat" cmpd="sng" algn="ctr">
                      <a:solidFill>
                        <a:srgbClr val="DCD6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D6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D6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D6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dirty="0">
                          <a:solidFill>
                            <a:srgbClr val="1B2426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3,500만~3,900만</a:t>
                      </a:r>
                      <a:endParaRPr lang="en-US" sz="125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88900" marR="88900" marT="50800" marB="50800" anchor="ctr">
                    <a:lnL w="6350" cap="flat" cmpd="sng" algn="ctr">
                      <a:solidFill>
                        <a:srgbClr val="DCD6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D6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D6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D6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dirty="0">
                          <a:solidFill>
                            <a:srgbClr val="1B2426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연간 소계 (2년차~)</a:t>
                      </a:r>
                      <a:endParaRPr lang="en-US" sz="125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88900" marR="88900" marT="50800" marB="50800" anchor="ctr">
                    <a:lnL w="6350" cap="flat" cmpd="sng" algn="ctr">
                      <a:solidFill>
                        <a:srgbClr val="DCD6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D6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D6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D6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EDE4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dirty="0">
                          <a:solidFill>
                            <a:srgbClr val="1B2426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3,000만~3,100만</a:t>
                      </a:r>
                      <a:endParaRPr lang="en-US" sz="125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88900" marR="88900" marT="50800" marB="50800" anchor="ctr">
                    <a:lnL w="6350" cap="flat" cmpd="sng" algn="ctr">
                      <a:solidFill>
                        <a:srgbClr val="DCD6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D6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D6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D6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EDE4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dirty="0">
                          <a:solidFill>
                            <a:srgbClr val="1B2426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2,500만~2,800만</a:t>
                      </a:r>
                      <a:endParaRPr lang="en-US" sz="125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88900" marR="88900" marT="50800" marB="50800" anchor="ctr">
                    <a:lnL w="6350" cap="flat" cmpd="sng" algn="ctr">
                      <a:solidFill>
                        <a:srgbClr val="DCD6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D6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D6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D6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EDE4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dirty="0">
                          <a:solidFill>
                            <a:srgbClr val="1B2426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3,000만~3,400만</a:t>
                      </a:r>
                      <a:endParaRPr lang="en-US" sz="125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88900" marR="88900" marT="50800" marB="50800" anchor="ctr">
                    <a:lnL w="6350" cap="flat" cmpd="sng" algn="ctr">
                      <a:solidFill>
                        <a:srgbClr val="DCD6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D6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D6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D6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EDE4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dirty="0">
                          <a:solidFill>
                            <a:srgbClr val="1B2426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졸업까지 총액</a:t>
                      </a:r>
                      <a:endParaRPr lang="en-US" sz="125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88900" marR="88900" marT="50800" marB="50800" anchor="ctr">
                    <a:lnL w="6350" cap="flat" cmpd="sng" algn="ctr">
                      <a:solidFill>
                        <a:srgbClr val="DCD6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D6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D6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D6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dirty="0">
                          <a:solidFill>
                            <a:srgbClr val="1B2426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9,500만~9,800만</a:t>
                      </a:r>
                      <a:endParaRPr lang="en-US" sz="125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88900" marR="88900" marT="50800" marB="50800" anchor="ctr">
                    <a:lnL w="6350" cap="flat" cmpd="sng" algn="ctr">
                      <a:solidFill>
                        <a:srgbClr val="DCD6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D6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D6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D6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dirty="0">
                          <a:solidFill>
                            <a:srgbClr val="1B2426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8,000만~8,900만</a:t>
                      </a:r>
                      <a:endParaRPr lang="en-US" sz="125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88900" marR="88900" marT="50800" marB="50800" anchor="ctr">
                    <a:lnL w="6350" cap="flat" cmpd="sng" algn="ctr">
                      <a:solidFill>
                        <a:srgbClr val="DCD6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D6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D6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D6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dirty="0">
                          <a:solidFill>
                            <a:srgbClr val="1B2426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1억 5,500만~1억 7,500만</a:t>
                      </a:r>
                      <a:endParaRPr lang="en-US" sz="125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88900" marR="88900" marT="50800" marB="50800" anchor="ctr">
                    <a:lnL w="6350" cap="flat" cmpd="sng" algn="ctr">
                      <a:solidFill>
                        <a:srgbClr val="DCD6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D6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D6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D6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8" name="Shape 5"/>
          <p:cNvSpPr/>
          <p:nvPr/>
        </p:nvSpPr>
        <p:spPr>
          <a:xfrm>
            <a:off x="640080" y="5669280"/>
            <a:ext cx="10911535" cy="512064"/>
          </a:xfrm>
          <a:prstGeom prst="roundRect">
            <a:avLst>
              <a:gd name="adj" fmla="val 12500"/>
            </a:avLst>
          </a:prstGeom>
          <a:solidFill>
            <a:srgbClr val="F7EBE6"/>
          </a:solidFill>
          <a:ln/>
        </p:spPr>
      </p:sp>
      <p:sp>
        <p:nvSpPr>
          <p:cNvPr id="9" name="Text 6"/>
          <p:cNvSpPr txBox="1"/>
          <p:nvPr/>
        </p:nvSpPr>
        <p:spPr>
          <a:xfrm>
            <a:off x="896112" y="5669280"/>
            <a:ext cx="10399471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22000"/>
              </a:lnSpc>
              <a:buNone/>
            </a:pPr>
            <a:r>
              <a:rPr lang="en-US" sz="1250" b="1" dirty="0">
                <a:solidFill>
                  <a:srgbClr val="A8412C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공대·약대 지망자는 반드시 5년 예산으로 잡으십시오. 3년 과정과 총액이 두 배 가까이 차이 납니다.</a:t>
            </a:r>
            <a:endParaRPr lang="en-US" sz="1250" dirty="0"/>
          </a:p>
        </p:txBody>
      </p:sp>
      <p:sp>
        <p:nvSpPr>
          <p:cNvPr id="10" name="Text 7"/>
          <p:cNvSpPr txBox="1"/>
          <p:nvPr/>
        </p:nvSpPr>
        <p:spPr>
          <a:xfrm>
            <a:off x="640080" y="6400800"/>
            <a:ext cx="10911535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25000"/>
              </a:lnSpc>
              <a:buNone/>
            </a:pPr>
            <a:r>
              <a:rPr lang="en-US" sz="900" dirty="0">
                <a:solidFill>
                  <a:srgbClr val="6E7C7A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※ 입학비는 이전 공동체 입학금을 최대 200만 원까지 인정합니다. 성적우수자 장학 혜택은 별도입니다.</a:t>
            </a:r>
            <a:endParaRPr lang="en-US" sz="9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640080" y="475488"/>
            <a:ext cx="566928" cy="566928"/>
          </a:xfrm>
          <a:prstGeom prst="roundRect">
            <a:avLst>
              <a:gd name="adj" fmla="val 9677"/>
            </a:avLst>
          </a:prstGeom>
          <a:solidFill>
            <a:srgbClr val="134744"/>
          </a:solidFill>
          <a:ln/>
        </p:spPr>
      </p:sp>
      <p:sp>
        <p:nvSpPr>
          <p:cNvPr id="3" name="Text 1"/>
          <p:cNvSpPr txBox="1"/>
          <p:nvPr/>
        </p:nvSpPr>
        <p:spPr>
          <a:xfrm>
            <a:off x="640080" y="475488"/>
            <a:ext cx="566928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22000"/>
              </a:lnSpc>
              <a:buNone/>
            </a:pPr>
            <a:r>
              <a:rPr lang="en-US" sz="1700" b="1" dirty="0">
                <a:solidFill>
                  <a:srgbClr val="C08A2E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06</a:t>
            </a:r>
            <a:endParaRPr lang="en-US" sz="1700" dirty="0"/>
          </a:p>
        </p:txBody>
      </p:sp>
      <p:sp>
        <p:nvSpPr>
          <p:cNvPr id="4" name="Text 2"/>
          <p:cNvSpPr txBox="1"/>
          <p:nvPr/>
        </p:nvSpPr>
        <p:spPr>
          <a:xfrm>
            <a:off x="1389888" y="457200"/>
            <a:ext cx="10161727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22000"/>
              </a:lnSpc>
              <a:buNone/>
            </a:pPr>
            <a:r>
              <a:rPr lang="en-US" sz="1100" b="1" spc="200" kern="0" dirty="0">
                <a:solidFill>
                  <a:srgbClr val="1F6B66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SERVICE TAX</a:t>
            </a:r>
            <a:endParaRPr lang="en-US" sz="1100" dirty="0"/>
          </a:p>
        </p:txBody>
      </p:sp>
      <p:sp>
        <p:nvSpPr>
          <p:cNvPr id="5" name="Text 3"/>
          <p:cNvSpPr txBox="1"/>
          <p:nvPr/>
        </p:nvSpPr>
        <p:spPr>
          <a:xfrm>
            <a:off x="1389888" y="676656"/>
            <a:ext cx="10161727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0000"/>
              </a:lnSpc>
              <a:buNone/>
            </a:pPr>
            <a:r>
              <a:rPr lang="en-US" sz="3000" b="1" dirty="0">
                <a:solidFill>
                  <a:srgbClr val="0C2E2C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2025년 7월부터 붙는 6% 서비스세</a:t>
            </a:r>
            <a:endParaRPr lang="en-US" sz="3000" dirty="0"/>
          </a:p>
        </p:txBody>
      </p:sp>
      <p:sp>
        <p:nvSpPr>
          <p:cNvPr id="6" name="Text 4"/>
          <p:cNvSpPr txBox="1"/>
          <p:nvPr/>
        </p:nvSpPr>
        <p:spPr>
          <a:xfrm>
            <a:off x="640080" y="1225296"/>
            <a:ext cx="10911535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30000"/>
              </a:lnSpc>
              <a:buNone/>
            </a:pPr>
            <a:r>
              <a:rPr lang="en-US" sz="1300" dirty="0">
                <a:solidFill>
                  <a:srgbClr val="6E7C7A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외국인 학생의 학비에 부과됩니다. 앞의 표 금액에는 포함돼 있지 않습니다.</a:t>
            </a:r>
            <a:endParaRPr lang="en-US" sz="1300" dirty="0"/>
          </a:p>
        </p:txBody>
      </p:sp>
      <p:sp>
        <p:nvSpPr>
          <p:cNvPr id="7" name="Shape 5"/>
          <p:cNvSpPr/>
          <p:nvPr/>
        </p:nvSpPr>
        <p:spPr>
          <a:xfrm>
            <a:off x="640080" y="1828800"/>
            <a:ext cx="4937760" cy="1371600"/>
          </a:xfrm>
          <a:prstGeom prst="roundRect">
            <a:avLst>
              <a:gd name="adj" fmla="val 5333"/>
            </a:avLst>
          </a:prstGeom>
          <a:solidFill>
            <a:srgbClr val="134744"/>
          </a:solidFill>
          <a:ln/>
        </p:spPr>
      </p:sp>
      <p:sp>
        <p:nvSpPr>
          <p:cNvPr id="8" name="Text 6"/>
          <p:cNvSpPr txBox="1"/>
          <p:nvPr/>
        </p:nvSpPr>
        <p:spPr>
          <a:xfrm>
            <a:off x="950976" y="1975104"/>
            <a:ext cx="18288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0000"/>
              </a:lnSpc>
              <a:buNone/>
            </a:pPr>
            <a:r>
              <a:rPr lang="en-US" sz="4800" b="1" dirty="0">
                <a:solidFill>
                  <a:srgbClr val="C08A2E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6%</a:t>
            </a:r>
            <a:endParaRPr lang="en-US" sz="4800" dirty="0"/>
          </a:p>
        </p:txBody>
      </p:sp>
      <p:sp>
        <p:nvSpPr>
          <p:cNvPr id="9" name="Text 7"/>
          <p:cNvSpPr txBox="1"/>
          <p:nvPr/>
        </p:nvSpPr>
        <p:spPr>
          <a:xfrm>
            <a:off x="2926080" y="2139696"/>
            <a:ext cx="237744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40000"/>
              </a:lnSpc>
              <a:buNone/>
            </a:pPr>
            <a:r>
              <a:rPr lang="en-US" sz="1300" b="1" dirty="0">
                <a:solidFill>
                  <a:srgbClr val="EFEDE6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비말레이시아 국적자 대상</a:t>
            </a:r>
            <a:endParaRPr lang="en-US" sz="1300" dirty="0"/>
          </a:p>
          <a:p>
            <a:pPr algn="l" indent="0" marL="0">
              <a:lnSpc>
                <a:spcPct val="140000"/>
              </a:lnSpc>
              <a:buNone/>
            </a:pPr>
            <a:r>
              <a:rPr lang="en-US" sz="1300" b="1" dirty="0">
                <a:solidFill>
                  <a:srgbClr val="EFEDE6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2025년 7월 1일 시행</a:t>
            </a:r>
            <a:endParaRPr lang="en-US" sz="1300" dirty="0"/>
          </a:p>
        </p:txBody>
      </p:sp>
      <p:sp>
        <p:nvSpPr>
          <p:cNvPr id="10" name="Text 8"/>
          <p:cNvSpPr txBox="1"/>
          <p:nvPr/>
        </p:nvSpPr>
        <p:spPr>
          <a:xfrm>
            <a:off x="5943600" y="1828800"/>
            <a:ext cx="560527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22000"/>
              </a:lnSpc>
              <a:buNone/>
            </a:pPr>
            <a:r>
              <a:rPr lang="en-US" sz="1400" b="1" dirty="0">
                <a:solidFill>
                  <a:srgbClr val="0C2E2C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과정별 추가 부담 (학비 기준 추산)</a:t>
            </a:r>
            <a:endParaRPr lang="en-US" sz="1400" dirty="0"/>
          </a:p>
        </p:txBody>
      </p:sp>
      <p:sp>
        <p:nvSpPr>
          <p:cNvPr id="11" name="Shape 9"/>
          <p:cNvSpPr/>
          <p:nvPr/>
        </p:nvSpPr>
        <p:spPr>
          <a:xfrm>
            <a:off x="5943600" y="2194560"/>
            <a:ext cx="5605272" cy="475488"/>
          </a:xfrm>
          <a:prstGeom prst="roundRect">
            <a:avLst>
              <a:gd name="adj" fmla="val 9615"/>
            </a:avLst>
          </a:prstGeom>
          <a:solidFill>
            <a:srgbClr val="F1EDE4"/>
          </a:solidFill>
          <a:ln w="12700">
            <a:solidFill>
              <a:srgbClr val="DCD6C9"/>
            </a:solidFill>
            <a:prstDash val="solid"/>
          </a:ln>
        </p:spPr>
      </p:sp>
      <p:sp>
        <p:nvSpPr>
          <p:cNvPr id="12" name="Text 10"/>
          <p:cNvSpPr txBox="1"/>
          <p:nvPr/>
        </p:nvSpPr>
        <p:spPr>
          <a:xfrm>
            <a:off x="6144768" y="2194560"/>
            <a:ext cx="237744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22000"/>
              </a:lnSpc>
              <a:buNone/>
            </a:pPr>
            <a:r>
              <a:rPr lang="en-US" sz="1150" dirty="0">
                <a:solidFill>
                  <a:srgbClr val="1B2426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테일러스 호텔경영 3년</a:t>
            </a:r>
            <a:endParaRPr lang="en-US" sz="1150" dirty="0"/>
          </a:p>
        </p:txBody>
      </p:sp>
      <p:sp>
        <p:nvSpPr>
          <p:cNvPr id="13" name="Text 11"/>
          <p:cNvSpPr txBox="1"/>
          <p:nvPr/>
        </p:nvSpPr>
        <p:spPr>
          <a:xfrm>
            <a:off x="8412480" y="2194560"/>
            <a:ext cx="13716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lnSpc>
                <a:spcPct val="122000"/>
              </a:lnSpc>
              <a:buNone/>
            </a:pPr>
            <a:r>
              <a:rPr lang="en-US" sz="1100" dirty="0">
                <a:solidFill>
                  <a:srgbClr val="6E7C7A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4,510만</a:t>
            </a:r>
            <a:endParaRPr lang="en-US" sz="1100" dirty="0"/>
          </a:p>
        </p:txBody>
      </p:sp>
      <p:sp>
        <p:nvSpPr>
          <p:cNvPr id="14" name="Text 12"/>
          <p:cNvSpPr txBox="1"/>
          <p:nvPr/>
        </p:nvSpPr>
        <p:spPr>
          <a:xfrm>
            <a:off x="9875520" y="2194560"/>
            <a:ext cx="146304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lnSpc>
                <a:spcPct val="122000"/>
              </a:lnSpc>
              <a:buNone/>
            </a:pPr>
            <a:r>
              <a:rPr lang="en-US" sz="1250" b="1" dirty="0">
                <a:solidFill>
                  <a:srgbClr val="A8412C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약 270만</a:t>
            </a:r>
            <a:endParaRPr lang="en-US" sz="1250" dirty="0"/>
          </a:p>
        </p:txBody>
      </p:sp>
      <p:sp>
        <p:nvSpPr>
          <p:cNvPr id="15" name="Shape 13"/>
          <p:cNvSpPr/>
          <p:nvPr/>
        </p:nvSpPr>
        <p:spPr>
          <a:xfrm>
            <a:off x="5943600" y="2743200"/>
            <a:ext cx="5605272" cy="475488"/>
          </a:xfrm>
          <a:prstGeom prst="round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DCD6C9"/>
            </a:solidFill>
            <a:prstDash val="solid"/>
          </a:ln>
        </p:spPr>
      </p:sp>
      <p:sp>
        <p:nvSpPr>
          <p:cNvPr id="16" name="Text 14"/>
          <p:cNvSpPr txBox="1"/>
          <p:nvPr/>
        </p:nvSpPr>
        <p:spPr>
          <a:xfrm>
            <a:off x="6144768" y="2743200"/>
            <a:ext cx="237744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22000"/>
              </a:lnSpc>
              <a:buNone/>
            </a:pPr>
            <a:r>
              <a:rPr lang="en-US" sz="1150" dirty="0">
                <a:solidFill>
                  <a:srgbClr val="1B2426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테일러스 공학 5년</a:t>
            </a:r>
            <a:endParaRPr lang="en-US" sz="1150" dirty="0"/>
          </a:p>
        </p:txBody>
      </p:sp>
      <p:sp>
        <p:nvSpPr>
          <p:cNvPr id="17" name="Text 15"/>
          <p:cNvSpPr txBox="1"/>
          <p:nvPr/>
        </p:nvSpPr>
        <p:spPr>
          <a:xfrm>
            <a:off x="8412480" y="2743200"/>
            <a:ext cx="13716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lnSpc>
                <a:spcPct val="122000"/>
              </a:lnSpc>
              <a:buNone/>
            </a:pPr>
            <a:r>
              <a:rPr lang="en-US" sz="1100" dirty="0">
                <a:solidFill>
                  <a:srgbClr val="6E7C7A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8,300만</a:t>
            </a:r>
            <a:endParaRPr lang="en-US" sz="1100" dirty="0"/>
          </a:p>
        </p:txBody>
      </p:sp>
      <p:sp>
        <p:nvSpPr>
          <p:cNvPr id="18" name="Text 16"/>
          <p:cNvSpPr txBox="1"/>
          <p:nvPr/>
        </p:nvSpPr>
        <p:spPr>
          <a:xfrm>
            <a:off x="9875520" y="2743200"/>
            <a:ext cx="146304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lnSpc>
                <a:spcPct val="122000"/>
              </a:lnSpc>
              <a:buNone/>
            </a:pPr>
            <a:r>
              <a:rPr lang="en-US" sz="1250" b="1" dirty="0">
                <a:solidFill>
                  <a:srgbClr val="A8412C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약 500만</a:t>
            </a:r>
            <a:endParaRPr lang="en-US" sz="1250" dirty="0"/>
          </a:p>
        </p:txBody>
      </p:sp>
      <p:sp>
        <p:nvSpPr>
          <p:cNvPr id="19" name="Shape 17"/>
          <p:cNvSpPr/>
          <p:nvPr/>
        </p:nvSpPr>
        <p:spPr>
          <a:xfrm>
            <a:off x="5943600" y="3291840"/>
            <a:ext cx="5605272" cy="475488"/>
          </a:xfrm>
          <a:prstGeom prst="roundRect">
            <a:avLst>
              <a:gd name="adj" fmla="val 9615"/>
            </a:avLst>
          </a:prstGeom>
          <a:solidFill>
            <a:srgbClr val="F1EDE4"/>
          </a:solidFill>
          <a:ln w="12700">
            <a:solidFill>
              <a:srgbClr val="DCD6C9"/>
            </a:solidFill>
            <a:prstDash val="solid"/>
          </a:ln>
        </p:spPr>
      </p:sp>
      <p:sp>
        <p:nvSpPr>
          <p:cNvPr id="20" name="Text 18"/>
          <p:cNvSpPr txBox="1"/>
          <p:nvPr/>
        </p:nvSpPr>
        <p:spPr>
          <a:xfrm>
            <a:off x="6144768" y="3291840"/>
            <a:ext cx="237744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22000"/>
              </a:lnSpc>
              <a:buNone/>
            </a:pPr>
            <a:r>
              <a:rPr lang="en-US" sz="1150" dirty="0">
                <a:solidFill>
                  <a:srgbClr val="1B2426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선웨이 경영 3년</a:t>
            </a:r>
            <a:endParaRPr lang="en-US" sz="1150" dirty="0"/>
          </a:p>
        </p:txBody>
      </p:sp>
      <p:sp>
        <p:nvSpPr>
          <p:cNvPr id="21" name="Text 19"/>
          <p:cNvSpPr txBox="1"/>
          <p:nvPr/>
        </p:nvSpPr>
        <p:spPr>
          <a:xfrm>
            <a:off x="8412480" y="3291840"/>
            <a:ext cx="13716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lnSpc>
                <a:spcPct val="122000"/>
              </a:lnSpc>
              <a:buNone/>
            </a:pPr>
            <a:r>
              <a:rPr lang="en-US" sz="1100" dirty="0">
                <a:solidFill>
                  <a:srgbClr val="6E7C7A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2,730만~3,870만</a:t>
            </a:r>
            <a:endParaRPr lang="en-US" sz="1100" dirty="0"/>
          </a:p>
        </p:txBody>
      </p:sp>
      <p:sp>
        <p:nvSpPr>
          <p:cNvPr id="22" name="Text 20"/>
          <p:cNvSpPr txBox="1"/>
          <p:nvPr/>
        </p:nvSpPr>
        <p:spPr>
          <a:xfrm>
            <a:off x="9875520" y="3291840"/>
            <a:ext cx="146304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lnSpc>
                <a:spcPct val="122000"/>
              </a:lnSpc>
              <a:buNone/>
            </a:pPr>
            <a:r>
              <a:rPr lang="en-US" sz="1250" b="1" dirty="0">
                <a:solidFill>
                  <a:srgbClr val="A8412C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165만~230만</a:t>
            </a:r>
            <a:endParaRPr lang="en-US" sz="1250" dirty="0"/>
          </a:p>
        </p:txBody>
      </p:sp>
      <p:sp>
        <p:nvSpPr>
          <p:cNvPr id="23" name="Shape 21"/>
          <p:cNvSpPr/>
          <p:nvPr/>
        </p:nvSpPr>
        <p:spPr>
          <a:xfrm>
            <a:off x="5943600" y="3840480"/>
            <a:ext cx="5605272" cy="475488"/>
          </a:xfrm>
          <a:prstGeom prst="round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DCD6C9"/>
            </a:solidFill>
            <a:prstDash val="solid"/>
          </a:ln>
        </p:spPr>
      </p:sp>
      <p:sp>
        <p:nvSpPr>
          <p:cNvPr id="24" name="Text 22"/>
          <p:cNvSpPr txBox="1"/>
          <p:nvPr/>
        </p:nvSpPr>
        <p:spPr>
          <a:xfrm>
            <a:off x="6144768" y="3840480"/>
            <a:ext cx="237744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22000"/>
              </a:lnSpc>
              <a:buNone/>
            </a:pPr>
            <a:r>
              <a:rPr lang="en-US" sz="1150" dirty="0">
                <a:solidFill>
                  <a:srgbClr val="1B2426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선웨이 공학 5년</a:t>
            </a:r>
            <a:endParaRPr lang="en-US" sz="1150" dirty="0"/>
          </a:p>
        </p:txBody>
      </p:sp>
      <p:sp>
        <p:nvSpPr>
          <p:cNvPr id="25" name="Text 23"/>
          <p:cNvSpPr txBox="1"/>
          <p:nvPr/>
        </p:nvSpPr>
        <p:spPr>
          <a:xfrm>
            <a:off x="8412480" y="3840480"/>
            <a:ext cx="13716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lnSpc>
                <a:spcPct val="122000"/>
              </a:lnSpc>
              <a:buNone/>
            </a:pPr>
            <a:r>
              <a:rPr lang="en-US" sz="1100" dirty="0">
                <a:solidFill>
                  <a:srgbClr val="6E7C7A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5,810만~6,200만</a:t>
            </a:r>
            <a:endParaRPr lang="en-US" sz="1100" dirty="0"/>
          </a:p>
        </p:txBody>
      </p:sp>
      <p:sp>
        <p:nvSpPr>
          <p:cNvPr id="26" name="Text 24"/>
          <p:cNvSpPr txBox="1"/>
          <p:nvPr/>
        </p:nvSpPr>
        <p:spPr>
          <a:xfrm>
            <a:off x="9875520" y="3840480"/>
            <a:ext cx="146304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lnSpc>
                <a:spcPct val="122000"/>
              </a:lnSpc>
              <a:buNone/>
            </a:pPr>
            <a:r>
              <a:rPr lang="en-US" sz="1250" b="1" dirty="0">
                <a:solidFill>
                  <a:srgbClr val="A8412C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350만~370만</a:t>
            </a:r>
            <a:endParaRPr lang="en-US" sz="1250" dirty="0"/>
          </a:p>
        </p:txBody>
      </p:sp>
      <p:sp>
        <p:nvSpPr>
          <p:cNvPr id="27" name="Shape 25"/>
          <p:cNvSpPr/>
          <p:nvPr/>
        </p:nvSpPr>
        <p:spPr>
          <a:xfrm>
            <a:off x="640080" y="3383280"/>
            <a:ext cx="4937760" cy="1481328"/>
          </a:xfrm>
          <a:prstGeom prst="roundRect">
            <a:avLst>
              <a:gd name="adj" fmla="val 4938"/>
            </a:avLst>
          </a:prstGeom>
          <a:solidFill>
            <a:srgbClr val="F1EDE4"/>
          </a:solidFill>
          <a:ln/>
        </p:spPr>
      </p:sp>
      <p:sp>
        <p:nvSpPr>
          <p:cNvPr id="28" name="Text 26"/>
          <p:cNvSpPr txBox="1"/>
          <p:nvPr/>
        </p:nvSpPr>
        <p:spPr>
          <a:xfrm>
            <a:off x="950976" y="3511296"/>
            <a:ext cx="4315968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22000"/>
              </a:lnSpc>
              <a:buNone/>
            </a:pPr>
            <a:r>
              <a:rPr lang="en-US" sz="1200" b="1" dirty="0">
                <a:solidFill>
                  <a:srgbClr val="134744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제외되는 항목</a:t>
            </a:r>
            <a:endParaRPr lang="en-US" sz="1200" dirty="0"/>
          </a:p>
        </p:txBody>
      </p:sp>
      <p:sp>
        <p:nvSpPr>
          <p:cNvPr id="29" name="Text 27"/>
          <p:cNvSpPr txBox="1"/>
          <p:nvPr/>
        </p:nvSpPr>
        <p:spPr>
          <a:xfrm>
            <a:off x="950976" y="3785616"/>
            <a:ext cx="4315968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45000"/>
              </a:lnSpc>
              <a:buNone/>
            </a:pPr>
            <a:r>
              <a:rPr lang="en-US" sz="1200" dirty="0">
                <a:solidFill>
                  <a:srgbClr val="1B2426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국제학생 보증금(International Security Deposit)</a:t>
            </a:r>
            <a:endParaRPr lang="en-US" sz="1200" dirty="0"/>
          </a:p>
          <a:p>
            <a:pPr algn="l" indent="0" marL="0">
              <a:lnSpc>
                <a:spcPct val="145000"/>
              </a:lnSpc>
              <a:buNone/>
            </a:pPr>
            <a:r>
              <a:rPr lang="en-US" sz="1200" dirty="0">
                <a:solidFill>
                  <a:srgbClr val="1B2426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EMGS 신청 수수료</a:t>
            </a:r>
            <a:endParaRPr lang="en-US" sz="1200" dirty="0"/>
          </a:p>
        </p:txBody>
      </p:sp>
      <p:sp>
        <p:nvSpPr>
          <p:cNvPr id="30" name="Text 28"/>
          <p:cNvSpPr txBox="1"/>
          <p:nvPr/>
        </p:nvSpPr>
        <p:spPr>
          <a:xfrm>
            <a:off x="950976" y="4407408"/>
            <a:ext cx="431596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22000"/>
              </a:lnSpc>
              <a:buNone/>
            </a:pPr>
            <a:r>
              <a:rPr lang="en-US" sz="1150" dirty="0">
                <a:solidFill>
                  <a:srgbClr val="6E7C7A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그 외 학비·부대비용 전반에 부과됩니다.</a:t>
            </a:r>
            <a:endParaRPr lang="en-US" sz="1150" dirty="0"/>
          </a:p>
        </p:txBody>
      </p:sp>
      <p:sp>
        <p:nvSpPr>
          <p:cNvPr id="31" name="Shape 29"/>
          <p:cNvSpPr/>
          <p:nvPr/>
        </p:nvSpPr>
        <p:spPr>
          <a:xfrm>
            <a:off x="640080" y="5047488"/>
            <a:ext cx="10911535" cy="731520"/>
          </a:xfrm>
          <a:prstGeom prst="roundRect">
            <a:avLst>
              <a:gd name="adj" fmla="val 8750"/>
            </a:avLst>
          </a:prstGeom>
          <a:solidFill>
            <a:srgbClr val="F5EEDC"/>
          </a:solidFill>
          <a:ln/>
        </p:spPr>
      </p:sp>
      <p:sp>
        <p:nvSpPr>
          <p:cNvPr id="32" name="Text 30"/>
          <p:cNvSpPr txBox="1"/>
          <p:nvPr/>
        </p:nvSpPr>
        <p:spPr>
          <a:xfrm>
            <a:off x="896112" y="5138928"/>
            <a:ext cx="10399471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22000"/>
              </a:lnSpc>
              <a:buNone/>
            </a:pPr>
            <a:r>
              <a:rPr lang="en-US" sz="1200" b="1" dirty="0">
                <a:solidFill>
                  <a:srgbClr val="C08A2E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예산을 세울 때</a:t>
            </a:r>
            <a:endParaRPr lang="en-US" sz="1200" dirty="0"/>
          </a:p>
        </p:txBody>
      </p:sp>
      <p:sp>
        <p:nvSpPr>
          <p:cNvPr id="33" name="Text 31"/>
          <p:cNvSpPr txBox="1"/>
          <p:nvPr/>
        </p:nvSpPr>
        <p:spPr>
          <a:xfrm>
            <a:off x="896112" y="5394960"/>
            <a:ext cx="10399471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22000"/>
              </a:lnSpc>
              <a:buNone/>
            </a:pPr>
            <a:r>
              <a:rPr lang="en-US" sz="1250" dirty="0">
                <a:solidFill>
                  <a:srgbClr val="1B2426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앞 장의 졸업까지 총액에 학비의 6%를 더해 잡으십시오. 5년 과정이면 350만~500만 원, 3년 과정이면 165만~270만 원 수준이 추가됩니다.</a:t>
            </a:r>
            <a:endParaRPr lang="en-US" sz="1250" dirty="0"/>
          </a:p>
        </p:txBody>
      </p:sp>
      <p:sp>
        <p:nvSpPr>
          <p:cNvPr id="34" name="Text 32"/>
          <p:cNvSpPr txBox="1"/>
          <p:nvPr/>
        </p:nvSpPr>
        <p:spPr>
          <a:xfrm>
            <a:off x="640080" y="6400800"/>
            <a:ext cx="10911535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25000"/>
              </a:lnSpc>
              <a:buNone/>
            </a:pPr>
            <a:r>
              <a:rPr lang="en-US" sz="900" dirty="0">
                <a:solidFill>
                  <a:srgbClr val="6E7C7A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※ 추산치입니다. 실제 과세 범위와 금액은 학교 청구서 기준으로 확인하십시오.</a:t>
            </a:r>
            <a:endParaRPr lang="en-US" sz="9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0C2E2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640080" y="475488"/>
            <a:ext cx="566928" cy="566928"/>
          </a:xfrm>
          <a:prstGeom prst="roundRect">
            <a:avLst>
              <a:gd name="adj" fmla="val 9677"/>
            </a:avLst>
          </a:prstGeom>
          <a:solidFill>
            <a:srgbClr val="C08A2E"/>
          </a:solidFill>
          <a:ln/>
        </p:spPr>
      </p:sp>
      <p:sp>
        <p:nvSpPr>
          <p:cNvPr id="3" name="Text 1"/>
          <p:cNvSpPr txBox="1"/>
          <p:nvPr/>
        </p:nvSpPr>
        <p:spPr>
          <a:xfrm>
            <a:off x="640080" y="475488"/>
            <a:ext cx="566928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22000"/>
              </a:lnSpc>
              <a:buNone/>
            </a:pPr>
            <a:r>
              <a:rPr lang="en-US" sz="1700" b="1" dirty="0">
                <a:solidFill>
                  <a:srgbClr val="0C2E2C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07</a:t>
            </a:r>
            <a:endParaRPr lang="en-US" sz="1700" dirty="0"/>
          </a:p>
        </p:txBody>
      </p:sp>
      <p:sp>
        <p:nvSpPr>
          <p:cNvPr id="4" name="Text 2"/>
          <p:cNvSpPr txBox="1"/>
          <p:nvPr/>
        </p:nvSpPr>
        <p:spPr>
          <a:xfrm>
            <a:off x="1389888" y="457200"/>
            <a:ext cx="10161727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22000"/>
              </a:lnSpc>
              <a:buNone/>
            </a:pPr>
            <a:r>
              <a:rPr lang="en-US" sz="1100" b="1" spc="200" kern="0" dirty="0">
                <a:solidFill>
                  <a:srgbClr val="C08A2E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CHECKLIST</a:t>
            </a:r>
            <a:endParaRPr lang="en-US" sz="1100" dirty="0"/>
          </a:p>
        </p:txBody>
      </p:sp>
      <p:sp>
        <p:nvSpPr>
          <p:cNvPr id="5" name="Text 3"/>
          <p:cNvSpPr txBox="1"/>
          <p:nvPr/>
        </p:nvSpPr>
        <p:spPr>
          <a:xfrm>
            <a:off x="1389888" y="676656"/>
            <a:ext cx="10161727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0000"/>
              </a:lnSpc>
              <a:buNone/>
            </a:pPr>
            <a:r>
              <a:rPr lang="en-US" sz="3000" b="1" dirty="0">
                <a:solidFill>
                  <a:srgbClr val="EFEDE6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확정해야 할 금액</a:t>
            </a:r>
            <a:endParaRPr lang="en-US" sz="3000" dirty="0"/>
          </a:p>
        </p:txBody>
      </p:sp>
      <p:sp>
        <p:nvSpPr>
          <p:cNvPr id="6" name="Text 4"/>
          <p:cNvSpPr txBox="1"/>
          <p:nvPr/>
        </p:nvSpPr>
        <p:spPr>
          <a:xfrm>
            <a:off x="640080" y="1225296"/>
            <a:ext cx="10911535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30000"/>
              </a:lnSpc>
              <a:buNone/>
            </a:pPr>
            <a:r>
              <a:rPr lang="en-US" sz="1300" dirty="0">
                <a:solidFill>
                  <a:srgbClr val="9DB3B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아래 항목은 학교 공식 요금표로 확인해 확정하십시오</a:t>
            </a:r>
            <a:endParaRPr lang="en-US" sz="1300" dirty="0"/>
          </a:p>
        </p:txBody>
      </p:sp>
      <p:sp>
        <p:nvSpPr>
          <p:cNvPr id="7" name="Shape 5"/>
          <p:cNvSpPr/>
          <p:nvPr/>
        </p:nvSpPr>
        <p:spPr>
          <a:xfrm>
            <a:off x="640080" y="1901952"/>
            <a:ext cx="292608" cy="292608"/>
          </a:xfrm>
          <a:prstGeom prst="ellipse">
            <a:avLst/>
          </a:prstGeom>
          <a:solidFill>
            <a:srgbClr val="C08A2E"/>
          </a:solidFill>
          <a:ln/>
        </p:spPr>
      </p:sp>
      <p:sp>
        <p:nvSpPr>
          <p:cNvPr id="8" name="Text 6"/>
          <p:cNvSpPr txBox="1"/>
          <p:nvPr/>
        </p:nvSpPr>
        <p:spPr>
          <a:xfrm>
            <a:off x="640080" y="1929384"/>
            <a:ext cx="292608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ct val="100000"/>
              </a:lnSpc>
              <a:buNone/>
            </a:pPr>
            <a:r>
              <a:rPr lang="en-US" sz="1200" b="1" dirty="0">
                <a:solidFill>
                  <a:srgbClr val="0C2E2C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1</a:t>
            </a:r>
            <a:endParaRPr lang="en-US" sz="1200" dirty="0"/>
          </a:p>
        </p:txBody>
      </p:sp>
      <p:sp>
        <p:nvSpPr>
          <p:cNvPr id="9" name="Text 7"/>
          <p:cNvSpPr txBox="1"/>
          <p:nvPr/>
        </p:nvSpPr>
        <p:spPr>
          <a:xfrm>
            <a:off x="1060704" y="1828800"/>
            <a:ext cx="493776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22000"/>
              </a:lnSpc>
              <a:buNone/>
            </a:pPr>
            <a:r>
              <a:rPr lang="en-US" sz="1300" b="1" dirty="0">
                <a:solidFill>
                  <a:srgbClr val="EFEDE6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지망 학과별 학비</a:t>
            </a:r>
            <a:endParaRPr lang="en-US" sz="1300" dirty="0"/>
          </a:p>
        </p:txBody>
      </p:sp>
      <p:sp>
        <p:nvSpPr>
          <p:cNvPr id="10" name="Text 8"/>
          <p:cNvSpPr txBox="1"/>
          <p:nvPr/>
        </p:nvSpPr>
        <p:spPr>
          <a:xfrm>
            <a:off x="1060704" y="2139696"/>
            <a:ext cx="4937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30000"/>
              </a:lnSpc>
              <a:buNone/>
            </a:pPr>
            <a:r>
              <a:rPr lang="en-US" sz="1100" dirty="0">
                <a:solidFill>
                  <a:srgbClr val="9DB3B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위 금액은 대표 과정 기준. 전공별 편차가 큼</a:t>
            </a:r>
            <a:endParaRPr lang="en-US" sz="1100" dirty="0"/>
          </a:p>
        </p:txBody>
      </p:sp>
      <p:sp>
        <p:nvSpPr>
          <p:cNvPr id="11" name="Shape 9"/>
          <p:cNvSpPr/>
          <p:nvPr/>
        </p:nvSpPr>
        <p:spPr>
          <a:xfrm>
            <a:off x="6190488" y="1901952"/>
            <a:ext cx="292608" cy="292608"/>
          </a:xfrm>
          <a:prstGeom prst="ellipse">
            <a:avLst/>
          </a:prstGeom>
          <a:solidFill>
            <a:srgbClr val="C08A2E"/>
          </a:solidFill>
          <a:ln/>
        </p:spPr>
      </p:sp>
      <p:sp>
        <p:nvSpPr>
          <p:cNvPr id="12" name="Text 10"/>
          <p:cNvSpPr txBox="1"/>
          <p:nvPr/>
        </p:nvSpPr>
        <p:spPr>
          <a:xfrm>
            <a:off x="6190488" y="1929384"/>
            <a:ext cx="292608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ct val="100000"/>
              </a:lnSpc>
              <a:buNone/>
            </a:pPr>
            <a:r>
              <a:rPr lang="en-US" sz="1200" b="1" dirty="0">
                <a:solidFill>
                  <a:srgbClr val="0C2E2C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2</a:t>
            </a:r>
            <a:endParaRPr lang="en-US" sz="1200" dirty="0"/>
          </a:p>
        </p:txBody>
      </p:sp>
      <p:sp>
        <p:nvSpPr>
          <p:cNvPr id="13" name="Text 11"/>
          <p:cNvSpPr txBox="1"/>
          <p:nvPr/>
        </p:nvSpPr>
        <p:spPr>
          <a:xfrm>
            <a:off x="6611112" y="1828800"/>
            <a:ext cx="493776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22000"/>
              </a:lnSpc>
              <a:buNone/>
            </a:pPr>
            <a:r>
              <a:rPr lang="en-US" sz="1300" b="1" dirty="0">
                <a:solidFill>
                  <a:srgbClr val="EFEDE6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선웨이 경영계열 적용 환율</a:t>
            </a:r>
            <a:endParaRPr lang="en-US" sz="1300" dirty="0"/>
          </a:p>
        </p:txBody>
      </p:sp>
      <p:sp>
        <p:nvSpPr>
          <p:cNvPr id="14" name="Text 12"/>
          <p:cNvSpPr txBox="1"/>
          <p:nvPr/>
        </p:nvSpPr>
        <p:spPr>
          <a:xfrm>
            <a:off x="6611112" y="2139696"/>
            <a:ext cx="4937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30000"/>
              </a:lnSpc>
              <a:buNone/>
            </a:pPr>
            <a:r>
              <a:rPr lang="en-US" sz="1100" dirty="0">
                <a:solidFill>
                  <a:srgbClr val="9DB3B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입학처 안내는 달러 — 청구 시 지시환율 확인</a:t>
            </a:r>
            <a:endParaRPr lang="en-US" sz="1100" dirty="0"/>
          </a:p>
        </p:txBody>
      </p:sp>
      <p:sp>
        <p:nvSpPr>
          <p:cNvPr id="15" name="Shape 13"/>
          <p:cNvSpPr/>
          <p:nvPr/>
        </p:nvSpPr>
        <p:spPr>
          <a:xfrm>
            <a:off x="640080" y="2761488"/>
            <a:ext cx="292608" cy="292608"/>
          </a:xfrm>
          <a:prstGeom prst="ellipse">
            <a:avLst/>
          </a:prstGeom>
          <a:solidFill>
            <a:srgbClr val="C08A2E"/>
          </a:solidFill>
          <a:ln/>
        </p:spPr>
      </p:sp>
      <p:sp>
        <p:nvSpPr>
          <p:cNvPr id="16" name="Text 14"/>
          <p:cNvSpPr txBox="1"/>
          <p:nvPr/>
        </p:nvSpPr>
        <p:spPr>
          <a:xfrm>
            <a:off x="640080" y="2788920"/>
            <a:ext cx="292608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ct val="100000"/>
              </a:lnSpc>
              <a:buNone/>
            </a:pPr>
            <a:r>
              <a:rPr lang="en-US" sz="1200" b="1" dirty="0">
                <a:solidFill>
                  <a:srgbClr val="0C2E2C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3</a:t>
            </a:r>
            <a:endParaRPr lang="en-US" sz="1200" dirty="0"/>
          </a:p>
        </p:txBody>
      </p:sp>
      <p:sp>
        <p:nvSpPr>
          <p:cNvPr id="17" name="Text 15"/>
          <p:cNvSpPr txBox="1"/>
          <p:nvPr/>
        </p:nvSpPr>
        <p:spPr>
          <a:xfrm>
            <a:off x="1060704" y="2688336"/>
            <a:ext cx="493776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22000"/>
              </a:lnSpc>
              <a:buNone/>
            </a:pPr>
            <a:r>
              <a:rPr lang="en-US" sz="1300" b="1" dirty="0">
                <a:solidFill>
                  <a:srgbClr val="EFEDE6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서비스세 과세 범위</a:t>
            </a:r>
            <a:endParaRPr lang="en-US" sz="1300" dirty="0"/>
          </a:p>
        </p:txBody>
      </p:sp>
      <p:sp>
        <p:nvSpPr>
          <p:cNvPr id="18" name="Text 16"/>
          <p:cNvSpPr txBox="1"/>
          <p:nvPr/>
        </p:nvSpPr>
        <p:spPr>
          <a:xfrm>
            <a:off x="1060704" y="2999232"/>
            <a:ext cx="4937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30000"/>
              </a:lnSpc>
              <a:buNone/>
            </a:pPr>
            <a:r>
              <a:rPr lang="en-US" sz="1100" dirty="0">
                <a:solidFill>
                  <a:srgbClr val="9DB3B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학비 외 어떤 항목에 붙는지 청구서 기준 확인</a:t>
            </a:r>
            <a:endParaRPr lang="en-US" sz="1100" dirty="0"/>
          </a:p>
        </p:txBody>
      </p:sp>
      <p:sp>
        <p:nvSpPr>
          <p:cNvPr id="19" name="Shape 17"/>
          <p:cNvSpPr/>
          <p:nvPr/>
        </p:nvSpPr>
        <p:spPr>
          <a:xfrm>
            <a:off x="6190488" y="2761488"/>
            <a:ext cx="292608" cy="292608"/>
          </a:xfrm>
          <a:prstGeom prst="ellipse">
            <a:avLst/>
          </a:prstGeom>
          <a:solidFill>
            <a:srgbClr val="C08A2E"/>
          </a:solidFill>
          <a:ln/>
        </p:spPr>
      </p:sp>
      <p:sp>
        <p:nvSpPr>
          <p:cNvPr id="20" name="Text 18"/>
          <p:cNvSpPr txBox="1"/>
          <p:nvPr/>
        </p:nvSpPr>
        <p:spPr>
          <a:xfrm>
            <a:off x="6190488" y="2788920"/>
            <a:ext cx="292608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ct val="100000"/>
              </a:lnSpc>
              <a:buNone/>
            </a:pPr>
            <a:r>
              <a:rPr lang="en-US" sz="1200" b="1" dirty="0">
                <a:solidFill>
                  <a:srgbClr val="0C2E2C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4</a:t>
            </a:r>
            <a:endParaRPr lang="en-US" sz="1200" dirty="0"/>
          </a:p>
        </p:txBody>
      </p:sp>
      <p:sp>
        <p:nvSpPr>
          <p:cNvPr id="21" name="Text 19"/>
          <p:cNvSpPr txBox="1"/>
          <p:nvPr/>
        </p:nvSpPr>
        <p:spPr>
          <a:xfrm>
            <a:off x="6611112" y="2688336"/>
            <a:ext cx="493776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22000"/>
              </a:lnSpc>
              <a:buNone/>
            </a:pPr>
            <a:r>
              <a:rPr lang="en-US" sz="1300" b="1" dirty="0">
                <a:solidFill>
                  <a:srgbClr val="EFEDE6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설명 당일 환율</a:t>
            </a:r>
            <a:endParaRPr lang="en-US" sz="1300" dirty="0"/>
          </a:p>
        </p:txBody>
      </p:sp>
      <p:sp>
        <p:nvSpPr>
          <p:cNvPr id="22" name="Text 20"/>
          <p:cNvSpPr txBox="1"/>
          <p:nvPr/>
        </p:nvSpPr>
        <p:spPr>
          <a:xfrm>
            <a:off x="6611112" y="2999232"/>
            <a:ext cx="4937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30000"/>
              </a:lnSpc>
              <a:buNone/>
            </a:pPr>
            <a:r>
              <a:rPr lang="en-US" sz="1100" dirty="0">
                <a:solidFill>
                  <a:srgbClr val="9DB3B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RM 1 = 339원은 안내문 기준. 당일 환율로 재계산</a:t>
            </a:r>
            <a:endParaRPr lang="en-US" sz="1100" dirty="0"/>
          </a:p>
        </p:txBody>
      </p:sp>
      <p:sp>
        <p:nvSpPr>
          <p:cNvPr id="23" name="Shape 21"/>
          <p:cNvSpPr/>
          <p:nvPr/>
        </p:nvSpPr>
        <p:spPr>
          <a:xfrm>
            <a:off x="640080" y="3621024"/>
            <a:ext cx="292608" cy="292608"/>
          </a:xfrm>
          <a:prstGeom prst="ellipse">
            <a:avLst/>
          </a:prstGeom>
          <a:solidFill>
            <a:srgbClr val="C08A2E"/>
          </a:solidFill>
          <a:ln/>
        </p:spPr>
      </p:sp>
      <p:sp>
        <p:nvSpPr>
          <p:cNvPr id="24" name="Text 22"/>
          <p:cNvSpPr txBox="1"/>
          <p:nvPr/>
        </p:nvSpPr>
        <p:spPr>
          <a:xfrm>
            <a:off x="640080" y="3648456"/>
            <a:ext cx="292608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ct val="100000"/>
              </a:lnSpc>
              <a:buNone/>
            </a:pPr>
            <a:r>
              <a:rPr lang="en-US" sz="1200" b="1" dirty="0">
                <a:solidFill>
                  <a:srgbClr val="0C2E2C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5</a:t>
            </a:r>
            <a:endParaRPr lang="en-US" sz="1200" dirty="0"/>
          </a:p>
        </p:txBody>
      </p:sp>
      <p:sp>
        <p:nvSpPr>
          <p:cNvPr id="25" name="Text 23"/>
          <p:cNvSpPr txBox="1"/>
          <p:nvPr/>
        </p:nvSpPr>
        <p:spPr>
          <a:xfrm>
            <a:off x="1060704" y="3547872"/>
            <a:ext cx="493776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22000"/>
              </a:lnSpc>
              <a:buNone/>
            </a:pPr>
            <a:r>
              <a:rPr lang="en-US" sz="1300" b="1" dirty="0">
                <a:solidFill>
                  <a:srgbClr val="EFEDE6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장학금 적용 여부</a:t>
            </a:r>
            <a:endParaRPr lang="en-US" sz="1300" dirty="0"/>
          </a:p>
        </p:txBody>
      </p:sp>
      <p:sp>
        <p:nvSpPr>
          <p:cNvPr id="26" name="Text 24"/>
          <p:cNvSpPr txBox="1"/>
          <p:nvPr/>
        </p:nvSpPr>
        <p:spPr>
          <a:xfrm>
            <a:off x="1060704" y="3858768"/>
            <a:ext cx="4937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30000"/>
              </a:lnSpc>
              <a:buNone/>
            </a:pPr>
            <a:r>
              <a:rPr lang="en-US" sz="1100" dirty="0">
                <a:solidFill>
                  <a:srgbClr val="9DB3B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성적우수자 감면 폭을 오퍼레터 단계에서 확인</a:t>
            </a:r>
            <a:endParaRPr lang="en-US" sz="1100" dirty="0"/>
          </a:p>
        </p:txBody>
      </p:sp>
      <p:sp>
        <p:nvSpPr>
          <p:cNvPr id="27" name="Shape 25"/>
          <p:cNvSpPr/>
          <p:nvPr/>
        </p:nvSpPr>
        <p:spPr>
          <a:xfrm>
            <a:off x="640080" y="4572000"/>
            <a:ext cx="10911535" cy="1005840"/>
          </a:xfrm>
          <a:prstGeom prst="roundRect">
            <a:avLst>
              <a:gd name="adj" fmla="val 7273"/>
            </a:avLst>
          </a:prstGeom>
          <a:solidFill>
            <a:srgbClr val="134744"/>
          </a:solidFill>
          <a:ln/>
        </p:spPr>
      </p:sp>
      <p:sp>
        <p:nvSpPr>
          <p:cNvPr id="28" name="Text 26"/>
          <p:cNvSpPr txBox="1"/>
          <p:nvPr/>
        </p:nvSpPr>
        <p:spPr>
          <a:xfrm>
            <a:off x="914400" y="4681728"/>
            <a:ext cx="10362895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22000"/>
              </a:lnSpc>
              <a:buNone/>
            </a:pPr>
            <a:r>
              <a:rPr lang="en-US" sz="1050" b="1" spc="150" kern="0" dirty="0">
                <a:solidFill>
                  <a:srgbClr val="C08A2E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산식 기준</a:t>
            </a:r>
            <a:endParaRPr lang="en-US" sz="1050" dirty="0"/>
          </a:p>
        </p:txBody>
      </p:sp>
      <p:sp>
        <p:nvSpPr>
          <p:cNvPr id="29" name="Text 27"/>
          <p:cNvSpPr txBox="1"/>
          <p:nvPr/>
        </p:nvSpPr>
        <p:spPr>
          <a:xfrm>
            <a:off x="914400" y="4919472"/>
            <a:ext cx="10362895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45000"/>
              </a:lnSpc>
              <a:buNone/>
            </a:pPr>
            <a:r>
              <a:rPr lang="en-US" sz="1100" dirty="0">
                <a:solidFill>
                  <a:srgbClr val="9DB3B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모든 원화 금액은 RM 1 = 339원으로 환산했습니다. 총 학비(RM) × 339 ÷ 10,000 = 원화(만 원). 연간 금액은 총액을 수학 기간으로 나눈 값입니다. 선웨이 경영계열은 학교가 달러로 표기한 금액을 원화로 환산한 뒤 링깃으로 역산했습니다.</a:t>
            </a:r>
            <a:endParaRPr lang="en-US" sz="1100" dirty="0"/>
          </a:p>
        </p:txBody>
      </p:sp>
      <p:sp>
        <p:nvSpPr>
          <p:cNvPr id="30" name="Text 28"/>
          <p:cNvSpPr txBox="1"/>
          <p:nvPr/>
        </p:nvSpPr>
        <p:spPr>
          <a:xfrm>
            <a:off x="640080" y="5760720"/>
            <a:ext cx="10911535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22000"/>
              </a:lnSpc>
              <a:buNone/>
            </a:pPr>
            <a:r>
              <a:rPr lang="en-US" sz="1050" dirty="0">
                <a:solidFill>
                  <a:srgbClr val="9DB3B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출처: IM 말레이시아 입학안내문 2027 · 두 학교 공식 학비 안내 · 말레이시아 서비스세(SST) 개정 안내</a:t>
            </a:r>
            <a:endParaRPr lang="en-US" sz="105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8</Slides>
  <Notes>8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8</vt:i4>
      </vt:variant>
    </vt:vector>
  </HeadingPairs>
  <TitlesOfParts>
    <vt:vector size="11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말레이시아 유학 학비와 예산</dc:title>
  <dc:subject>PptxGenJS Presentation</dc:subject>
  <dc:creator>필리핀 해외선교본부 · 말레이시아 지부</dc:creator>
  <cp:lastModifiedBy>필리핀 해외선교본부 · 말레이시아 지부</cp:lastModifiedBy>
  <cp:revision>1</cp:revision>
  <dcterms:created xsi:type="dcterms:W3CDTF">2026-09-21T05:17:29Z</dcterms:created>
  <dcterms:modified xsi:type="dcterms:W3CDTF">2026-09-21T05:17:29Z</dcterms:modified>
</cp:coreProperties>
</file>