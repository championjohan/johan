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학비 슬라이드만 따로 뽑은 덱입니다. 상담에서 예산 질문이 나올 때 이것만 띄우면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금액부터 말하면 학부모가 혼란스러워합니다. 이 네 가지를 먼저 맞추고 표로 들어가십시오. 달러 요금표를 받아 온 학부모가 있으면 왼쪽 박스를 읽어 주십시오 — 실제 납부는 링깃입니다.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공대 지망자는 5년 행을 보여 주십시오. 파운데이션이 붙어 총액이 크게 올라갑니다.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 경영계열만 달러 표기라 환산값임을 밝혀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"어디가 싸냐"로 끝내지 마십시오. 전공이 정해지면 답이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실제로 알고 싶은 숫자는 마지막 행입니다. 여기부터 읽으셔도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작년에 새로 생긴 항목이라 기존 안내문에 빠져 있습니다. 예산 상담에서 빼먹으면 나중에 문제가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내부용입니다. 학부모 배포본에서는 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학비와 예산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  |  링깃(RM)과 원화 기준으로 통일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0599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 1 ≈ 339원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기준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0599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서비스세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0599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실제 기간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· 말레이시아 지부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READ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표 읽는 법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금액을 말하기 전에 이 네 가지를 먼저 맞춰야 오해가 없습니다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1261872"/>
          </a:xfrm>
          <a:prstGeom prst="roundRect">
            <a:avLst>
              <a:gd name="adj" fmla="val 5797"/>
            </a:avLst>
          </a:prstGeom>
          <a:solidFill>
            <a:srgbClr val="F1EDE4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0116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총액인가, 연간인가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359152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자료는 둘을 섞어 표기합니다. 이 자료는 총액과 연간을 각각 다른 열로 분리했습니다.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828800"/>
            <a:ext cx="5358384" cy="1261872"/>
          </a:xfrm>
          <a:prstGeom prst="roundRect">
            <a:avLst>
              <a:gd name="adj" fmla="val 5797"/>
            </a:avLst>
          </a:prstGeom>
          <a:solidFill>
            <a:srgbClr val="F1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년 과정인가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359152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호텔·경영은 3년, 공학은 4년입니다. 파운데이션이 필요하면 여기에 1년이 더 붙습니다.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5358384" cy="1261872"/>
          </a:xfrm>
          <a:prstGeom prst="roundRect">
            <a:avLst>
              <a:gd name="adj" fmla="val 5797"/>
            </a:avLst>
          </a:prstGeom>
          <a:solidFill>
            <a:srgbClr val="F1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3474720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3557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343814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통화인가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26464" y="3785616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학교는 국제학생용 요금표를 달러로도 냅니다. 그러나 달러 금액은 참고용이고 실제 납부는 링깃(RM)입니다.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3255264"/>
            <a:ext cx="5358384" cy="1261872"/>
          </a:xfrm>
          <a:prstGeom prst="roundRect">
            <a:avLst>
              <a:gd name="adj" fmla="val 5797"/>
            </a:avLst>
          </a:prstGeom>
          <a:solidFill>
            <a:srgbClr val="F1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3474720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557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43814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세금이 붙는가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3785616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7월부터 외국인 학비에 6% 서비스세가 별도로 붙습니다. 표의 금액에는 포함돼 있지 않습니다.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5358384" cy="1060704"/>
          </a:xfrm>
          <a:prstGeom prst="roundRect">
            <a:avLst>
              <a:gd name="adj" fmla="val 6034"/>
            </a:avLst>
          </a:prstGeom>
          <a:solidFill>
            <a:srgbClr val="F7EBE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4864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 표기를 받으셨다면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5120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학교는 국제학생용 요금표를 달러로도 발행하지만, 그 금액은 참고용입니다. 환산 기준은 고시환율이 아니라 학교 지시환율(USD 1 = RM 4.00대)이며, 환율 변동·은행 수수료 차액은 학생이 부담합니다.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4754880"/>
            <a:ext cx="5358384" cy="1060704"/>
          </a:xfrm>
          <a:prstGeom prst="roundRect">
            <a:avLst>
              <a:gd name="adj" fmla="val 6034"/>
            </a:avLst>
          </a:prstGeom>
          <a:solidFill>
            <a:srgbClr val="F5EED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4864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상담에서 쓸 한 문장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120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"학비는 3년이냐 4년이냐, 파운데이션이 붙느냐에 따라 두 배까지 벌어집니다. 아이 전공을 먼저 정하고 나서 금액을 보십시오."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008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청구서는 링깃으로 옵니다. 이 자료의 금액을 전부 링깃 기준으로 통일한 이유입니다.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TAYLOR'S FEES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총 학비는 과정 전체 금액입니다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2286000"/>
                <a:gridCol w="2468880"/>
                <a:gridCol w="24990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44,044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국제호텔경영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133,146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4,510만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기계공학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200,736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6,810만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기계공학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244,780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8,300만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1,660만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82896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4992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파운데이션이 필요한 계열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5248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BEng 공학사(기계·화학 등), BSc 이학사(약학·데이터사이언스 등)는 파운데이션 1년을 먼저 이수해야 합니다.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4882896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F7EB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4992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 가능 계열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5248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호텔경영·관광(세계 26위), 경영학 계열 전체는 파운데이션 없이 본과로 바로 들어갑니다. 1년치 학비와 시간을 아낍니다.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RM 1 ≈ 339원 기준 · 6% 서비스세 별도 · 금액은 대표 과정 기준이며 전공별 편차가 큽니다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FEES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달러 표기를 링깃으로 환산해 통일했습니다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2286000"/>
                <a:gridCol w="2468880"/>
                <a:gridCol w="24990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17,850~29,350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경영계열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80,400~114,150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2,730만~3,870만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910만~1,290만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공학계열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153,568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5,210만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1,300만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171,418~182,918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5,810만~6,200만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1,160만~1,240만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407408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45171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파운데이션이 필요한 계열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BEng 공학사(전자·화학 등), BSc 컴퓨터공학·바이오메디컬·순수과학은 파운데이션을 먼저 이수합니다.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4407408"/>
            <a:ext cx="5358384" cy="914400"/>
          </a:xfrm>
          <a:prstGeom prst="roundRect">
            <a:avLst>
              <a:gd name="adj" fmla="val 7000"/>
            </a:avLst>
          </a:prstGeom>
          <a:solidFill>
            <a:srgbClr val="F7EB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45171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직행 가능 계열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 인문사회과학 전반, BSc 경영학·호텔경영학은 파운데이션 없이 본과로 바로 들어갑니다.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431536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F5EED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6112" y="543153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랭커스터(영국) 복수 학위는 추가 비용이 없습니다 — 위 금액 그대로 영국 학위증을 함께 받습니다.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008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RM 1 ≈ 339원 기준 · 6% 서비스세 별도 · 경영계열은 학교가 달러로 표기한 금액을 환산한 값이므로, 학교 요금표의 링깃 원표기로 확인하십시오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조건에서 비교하면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학비만 놓고 보면 선웨이가 낮습니다. 다만 강세 전공이 다릅니다.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834640"/>
                <a:gridCol w="295625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본과 직행 (호텔 / 경영)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4,510만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2,730만~3,870만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본과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6,810만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5,210만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8,300만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5,810만~6,200만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626864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테일러스를 택하는 이유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 세계 26위, 디자인·마케팅 세계 100위권. 이 분야가 목표라면 학비 차이를 상쇄합니다. 전공 폭도 12개 계열로 넓습니다.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0488" y="4626864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5EED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선웨이가 유리한 경우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회계·금융·계리·컴퓨터과학이 목표이거나, 추가 비용 없이 영국(랭커스터) 학위를 함께 받고 싶은 경우입니다.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학비는 전공별 편차가 큽니다. 위 금액은 대표 과정 기준이며, 지망 학과 기준으로 다시 확인해야 합니다.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외에 공동체 운영비·비자 갱신·입학비가 함께 듭니다. 장학금은 반영하지 않았습니다.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53258"/>
                <a:gridCol w="2753258"/>
                <a:gridCol w="275325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910만~1,290만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1,430만~1,710만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학생비자 갱신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공동체 운영비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(120×12)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(120×12)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(120×12)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입학비 (1회)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소계 (1년차)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3,500만~3,600만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3,000만~3,300만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3,500만~3,900만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소계 (2년차~)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3,000만~3,100만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2,500만~2,800만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3,000만~3,400만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9,500만~9,800만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8,000만~8,900만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5,500만~1억 7,500만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669280"/>
            <a:ext cx="10911535" cy="512064"/>
          </a:xfrm>
          <a:prstGeom prst="roundRect">
            <a:avLst>
              <a:gd name="adj" fmla="val 12500"/>
            </a:avLst>
          </a:prstGeom>
          <a:solidFill>
            <a:srgbClr val="F7EB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669280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공대·약대 지망자는 반드시 5년 예산으로 잡으십시오. 3년 과정과 총액이 두 배 가까이 차이 납니다.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입학비는 이전 공동체 입학금을 최대 200만 원까지 인정합니다. 성적우수자 장학 혜택은 별도입니다.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TAX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7월부터 붙는 6% 서비스세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학생의 학비에 부과됩니다. 앞의 표 금액에는 포함돼 있지 않습니다.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197510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3969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비말레이시아 국적자 대상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7월 1일 시행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82880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과정별 추가 부담 (학비 기준 추산)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5605272" cy="475488"/>
          </a:xfrm>
          <a:prstGeom prst="roundRect">
            <a:avLst>
              <a:gd name="adj" fmla="val 9615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2194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호텔경영 3년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194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4,510만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194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270만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2743200"/>
            <a:ext cx="56052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4768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공학 5년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432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8,300만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2743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3291840"/>
            <a:ext cx="5605272" cy="475488"/>
          </a:xfrm>
          <a:prstGeom prst="roundRect">
            <a:avLst>
              <a:gd name="adj" fmla="val 9615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3291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경영 3년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2918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2,730만~3,870만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3291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165만~230만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0" y="3840480"/>
            <a:ext cx="56052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44768" y="3840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공학 5년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8404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5,810만~6,200만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3840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350만~370만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383280"/>
            <a:ext cx="4937760" cy="1481328"/>
          </a:xfrm>
          <a:prstGeom prst="roundRect">
            <a:avLst>
              <a:gd name="adj" fmla="val 4938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0976" y="351129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제외되는 항목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" y="3785616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보증금(International Security Deposit)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신청 수수료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" y="440740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학비·부대비용 전반에 부과됩니다.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047488"/>
            <a:ext cx="10911535" cy="731520"/>
          </a:xfrm>
          <a:prstGeom prst="roundRect">
            <a:avLst>
              <a:gd name="adj" fmla="val 8750"/>
            </a:avLst>
          </a:prstGeom>
          <a:solidFill>
            <a:srgbClr val="F5EED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5138928"/>
            <a:ext cx="10399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세울 때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5394960"/>
            <a:ext cx="10399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장의 졸업까지 총액에 학비의 6%를 더해 잡으십시오. 5년 과정이면 350만~500만 원, 3년 과정이면 165만~270만 원 수준이 추가됩니다.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008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추산치입니다. 실제 과세 범위와 금액은 학교 청구서 기준으로 확인하십시오.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확정해야 할 금액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항목은 학교 공식 요금표로 확인해 확정하십시오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29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지망 학과별 학비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금액은 대표 과정 기준. 전공별 편차가 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1901952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90488" y="1929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경영계열 링깃 금액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달러로 표기 — 링깃 원표기 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61488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7889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26883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서비스세 과세 범위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외 어떤 항목에 붙는지 청구서 기준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2761488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0488" y="27889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26883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당일 환율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 1 = 339원은 안내문 기준. 당일 환율로 재계산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621024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6484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35478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장학금 적용 여부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" y="3858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성적우수자 감면 폭을 오퍼레터 단계에서 확인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347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68172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산식 기준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919472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원화 금액은 RM 1 = 339원으로 환산했습니다. 총 학비(RM) × 339 ÷ 10,000 = 원화(만 원). 연간 금액은 총액을 수학 기간으로 나눈 값입니다. 선웨이 경영계열은 학교가 달러로 표기한 금액을 원화로 환산한 뒤 링깃으로 역산했습니다.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IM 말레이시아 입학안내문 2027 · 두 학교 공식 학비 안내 · 말레이시아 서비스세(SST) 개정 안내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말레이시아 유학 학비와 예산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2026-09-21T05:16:08Z</dcterms:created>
  <dcterms:modified xsi:type="dcterms:W3CDTF">2026-09-21T05:16:08Z</dcterms:modified>
</cp:coreProperties>
</file>