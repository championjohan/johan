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1편은 말레이시아 사립 명문 테일러스·선웨이였고, 오늘은 호주·영국 대학이 직접 운영하는 캠퍼스입니다. 성격이 완전히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분교라는 말보다 "직영 캠퍼스"가 정확합니다. 졸업장에 말레이시아 이야기가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학교 모두 공학은 4년입니다. 노팅엄 공학은 MEng(석사통합) 학위라 4년입니다.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검정고시 90점, 영어 권장 점수 — 이 두 가지가 상담에서 가장 먼저 나오는 질문입니다. 공시 최저로 안내하면 나중에 탈락합니다.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검정고시 학생은 두 번째 줄이 기본, 성적과 영어가 좋으면 세 번째 줄입니다. DHES는 기간 손해가 없다는 점을 꼭 말해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MUFY를 모나쉬에서 하는 줄 아는 분이 많습니다. 선웨이 칼리지에서 합니다. 인테이크도 1·7·8월로 DHES(2·7·10월)와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DHES 경로가 1년을 아낍니다. 같은 3년에 졸업합니다. 공학은 4년이라 총 5년이 된다는 점을 분명히 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 고정은 다른 학교에 없는 장점입니다. 공학 5년 과정에서 체감이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파운데이션부터 공학까지 학비가 올라가는 순서로 읽으십시오. 공학이 4년이라는 점이 1차 자료에서 확인됐습니다.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두 행부터 읽으십시오. 학부모가 알고 싶은 것은 "우리 아이는 어디냐"입니다.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가장 많이 나오는 표입니다. 1년차는 파운데이션, 2년차부터는 학부라서 금액이 뛴다 — 이 한 문장으로 정리하십시오.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검정고시 1회(4월)를 잡으면 그해에 들어갑니다. 2회(8월)면 이듬해입니다. 이 한 가지가 1년을 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유학  2편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</a:t>
            </a:r>
            <a:endParaRPr lang="en-US" sz="5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캠퍼스편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 ·  노팅엄 말레이시아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호주·영국 본교 학위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분교가 아니라 직영 캠퍼스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조건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· 공인 영어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링깃·원화 기준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IS DIFFERENT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1편과 무엇이 다른가?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말레이시아 안에 있지만, 학위를 주는 주체가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 명문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해외대 연계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· 트위닝 · ADTP로 취득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대학이 해외와 손잡는 구조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0488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64808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2편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927848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· 노팅엄 말레이시아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927848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 · 영국 노팅엄 본교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927848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순간부터 본교 학위 과정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927848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대학이 말레이시아에 캠퍼스를 둔 구조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193792"/>
            <a:ext cx="10911535" cy="621792"/>
          </a:xfrm>
          <a:prstGeom prst="roundRect">
            <a:avLst>
              <a:gd name="adj" fmla="val 10294"/>
            </a:avLst>
          </a:prstGeom>
          <a:solidFill>
            <a:srgbClr val="F5EED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96112" y="5193792"/>
            <a:ext cx="1039947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차이 — 1편은 "말레이시아 학위 + 해외 학위"를 설계하는 것이고, 2편은 처음부터 해외 본교 학위 하나입니다!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대학 한눈에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 프로스펙터스 · 브로셔 기준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University Malaysia · 반다르선웨이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4203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54203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9,000+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254203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69664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169664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169664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출신 국가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모나쉬대 본교 학위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3년제 · 공학 4년 (호주식)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7월 · 10월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(선웨이) · DHES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0488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말레이시아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6464808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University of Nottingham Malaysia · 스므니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64808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64808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#97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09244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4,000+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809244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72007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72007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972007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출신 국가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464808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27848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노팅엄대 본교 학위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927848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3년제 · 공학(MEng) 4년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7927848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464808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927848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ENTRY REQUIREMENTS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조건 — 검정고시 · 공인 영어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모두 문과·이공계 구분 없이 파운데이션을 거칩니다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10512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0976" y="1938528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평균 90점 이상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3774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 공통 지원 기준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95681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검정고시는 호주 12학년이 아니라 11학년 수준으로 분류됩니다.</a:t>
            </a:r>
            <a:endParaRPr lang="en-US" sz="13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계열과 무관하게 파운데이션 1년을 먼저 거칩니다.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926080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 영어 — 파운데이션 입학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73552"/>
          <a:ext cx="535838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10512"/>
                <a:gridCol w="18105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5.5 (각 5.0 이상)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 (각 5.5 이상)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190488" y="2926080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 영어 — 학사 (본과) 입학</a:t>
            </a:r>
            <a:endParaRPr lang="en-US" sz="15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3273552"/>
          <a:ext cx="535838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10512"/>
                <a:gridCol w="18105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 (각 6.0 이상)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 (각 6.0 이상)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640080" y="4919472"/>
            <a:ext cx="5358384" cy="914400"/>
          </a:xfrm>
          <a:prstGeom prst="roundRect">
            <a:avLst>
              <a:gd name="adj" fmla="val 8000"/>
            </a:avLst>
          </a:prstGeom>
          <a:solidFill>
            <a:srgbClr val="F7EBE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14400" y="5029200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시험은 받지 않습니다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5303520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보는 TOEFL Home Edition, IELTS Online, PTE Online은 두 학교 모두 불인정입니다. 반드시 시험장 응시로 준비하십시오.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90488" y="4919472"/>
            <a:ext cx="5358384" cy="914400"/>
          </a:xfrm>
          <a:prstGeom prst="roundRect">
            <a:avLst>
              <a:gd name="adj" fmla="val 8000"/>
            </a:avLst>
          </a:prstGeom>
          <a:solidFill>
            <a:srgbClr val="F5EED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464808" y="5029200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미달해도 길이 있습니다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464808" y="5303520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모나쉬는 Monash English(ME), 노팅엄은 Pre-Sessional English(10 · 20 · 30주)를 먼저 이수하면 됩니다. 성적 유효기간은 2년입니다.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위 영어 점수는 합격선을 고려한 권장치입니다. 프로스펙터스에 공시된 최저 기준은 모나쉬 파운데이션 TOEFL iBT 46 · 학사 79입니다 (Monash UG Prospectus 2027 p.53 · p.55, UNM 브로셔 p.9 · p.18).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WAYS INTO MONASH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입학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학력 수준에 따라 들어가는 문이 다릅니다 · 프로스펙터스 10쪽 경로도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1F6B6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192024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12학년 수준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2212848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A-Level · IB · STPM · UEC · 캐나다 12학년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706624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54096" y="1828800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18688" y="182880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과정 없음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516368" y="1828800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80960" y="182880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 직행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2798064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A841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6384" y="2889504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11학년 수준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" y="3182112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· O-Level · 한국 검정고시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706624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054096" y="2798064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18688" y="2798064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— 파운데이션 1년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(선웨이 칼리지에서 이수)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516368" y="2798064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80960" y="27980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767328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86384" y="385876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대안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" y="4151376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&amp; 영어 성적이 탁월한 경우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706624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054096" y="3767328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18688" y="3767328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— Diploma of Higher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Education Studies 1년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14032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516368" y="3767328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8096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2학년 편입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Graduate Certificate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4828032"/>
            <a:ext cx="10911535" cy="1005840"/>
          </a:xfrm>
          <a:prstGeom prst="roundRect">
            <a:avLst>
              <a:gd name="adj" fmla="val 6364"/>
            </a:avLst>
          </a:prstGeom>
          <a:solidFill>
            <a:srgbClr val="F5EED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96112" y="4937760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(Diploma of Higher Education Studies)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96112" y="5212080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1년을 이수하면 Graduate Certificate를 받고 학부 2학년으로 들어갑니다. 즉 학사 과정과 같은 총 3년 안에 졸업을 하게 됩니다!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파운데이션(MUFY)을 거치면 총 4년이 되는데, DHES는 그 1년을 쓰지 않습니다.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p.10 (WAYS INTO MONASH)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PATHWAYS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파운데이션 두 가지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MUFY와 DHES입니다 · 운영 기관과 인테이크가 서로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1005840"/>
                <a:gridCol w="1737360"/>
                <a:gridCol w="1920240"/>
                <a:gridCol w="112745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기관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국제학생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(Monash University Foundation Year)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칼리지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· 7 · 8월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17,850 ~ 29,350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605만 ~ 995만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1학년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(Diploma of Higher Education Studies)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비과학 RM 49,440 · 약 1,676만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과학 RM 55,680 · 약 1,888만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2학년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3657600"/>
            <a:ext cx="5358384" cy="1243584"/>
          </a:xfrm>
          <a:prstGeom prst="roundRect">
            <a:avLst>
              <a:gd name="adj" fmla="val 5882"/>
            </a:avLst>
          </a:prstGeom>
          <a:solidFill>
            <a:srgbClr val="F5EED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76732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MUFY는 모나쉬가 아니라 선웨이에서 합니다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059936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MUFY는 선웨이 칼리지에서만 운영합니다. 모나쉬 캠퍼스에서 하는 과정이 아닙니다. 호주 12학년 상당으로 인정되어 호주·뉴질랜드·영국 대학에도 통용됩니다.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90488" y="3657600"/>
            <a:ext cx="5358384" cy="1243584"/>
          </a:xfrm>
          <a:prstGeom prst="roundRect">
            <a:avLst>
              <a:gd name="adj" fmla="val 5882"/>
            </a:avLst>
          </a:prstGeom>
          <a:solidFill>
            <a:srgbClr val="F1EDE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4808" y="376732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진급 조건 — WAM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4059936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과목 통과 + 가중평균(WAM) 50 이상으로 문학·사회과학·경영·이학 진급, 정보기술은 WAM 60. 영어는 IELTS 5.5(각 5.0 이상)이며 미달 시 Monash English를 선이수합니다.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5029200"/>
            <a:ext cx="10911535" cy="658368"/>
          </a:xfrm>
          <a:prstGeom prst="roundRect">
            <a:avLst>
              <a:gd name="adj" fmla="val 9722"/>
            </a:avLst>
          </a:prstGeom>
          <a:solidFill>
            <a:srgbClr val="F7EBE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96112" y="5102352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지망자 주의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96112" y="535838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DHES로는 공학 2학년 진입이 안 됩니다. 공학을 하려면 MUFY → 공학 1학년 경로이며, 공학이 4년이므로 총 5년이 됩니다.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UG Prospectus 2027, p.10 (MUFY AT A GLANCE) · p.55 · p.58  |  MUFY 학비는 선웨이 칼리지 파운데이션 기준 · 환율 RM 1 ≈ 339원 · 6% 서비스세(SST) 별도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UNDERGRADUATE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학부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*국제학생 기준 · 2027 fees · 환율 RM 1 ≈ 339원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188720"/>
                <a:gridCol w="2194560"/>
                <a:gridCol w="2011680"/>
                <a:gridCol w="167609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문학·사회과학, 디지털미디어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51,360 ~ 54,240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1,741만 ~ 1,839만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경영·상학, 응용데이터과학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53,280 ~ 63,360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1,806만 ~ 2,148만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컴퓨터과학·정보기술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53,760 ~ 62,880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1,822만 ~ 2,132만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(화학·토목·전기·기계·소프트웨어 등)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68,160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2,311만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352544"/>
            <a:ext cx="10911535" cy="1463040"/>
          </a:xfrm>
          <a:prstGeom prst="roundRect">
            <a:avLst>
              <a:gd name="adj" fmla="val 5000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462272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대표 경로 — 졸업까지 학비 총액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75488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DHES 1년 (RM 49,440) → 학부 2·3학년 (RM 51,360 × 2)   =   총 3년 · RM 152,160 · 약 5,158만 원      ← 시간, 비용 절약!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065776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MUFY 1년 (RM 17,850~29,350) → 학부 1~3학년 (RM 51,360 × 3)   =   총 4년 · RM 171,930~183,430 · 약 5,828만~6,218만 원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37667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MUFY 1년 → 공학 1~4학년 (RM 68,160 × 4)   =   총 5년 · RM 290,490~301,990 · 약 9,848만~1억 237만 원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*모든 학비에 6% 서비스세(SST) 별도  |  출처: Monash University Malaysia Undergraduate Prospectus 2027, p.56 · p.58 · p.60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파운데이션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48헥타르 열대우림 캠퍼스 · 영국 러셀그룹 창립 멤버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2학기 구성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· 9월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2회 인테이크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38,000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1,288만 원 · 과정 전체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07424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150학점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107424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4 + 선택 7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 Programme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310128"/>
            <a:ext cx="5358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과목 — 영어 1·2, 비판적 사고, 지속가능성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과목 — 생물·화학·물리·수학·경영·경제·회계·심리·IT·프로그래밍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이수 후 노팅엄 학부로 진학하며, 영국 본교 직접 진학 경로도 운영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0488" y="3255264"/>
            <a:ext cx="5358384" cy="1426464"/>
          </a:xfrm>
          <a:prstGeom prst="roundRect">
            <a:avLst>
              <a:gd name="adj" fmla="val 5128"/>
            </a:avLst>
          </a:prstGeom>
          <a:solidFill>
            <a:srgbClr val="F5EED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64808" y="3364992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노팅엄의 장점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657600"/>
            <a:ext cx="4809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학비 고정 — 과정 전체 기간 동안 학비가 오르지 않습니다 (지원비 제외).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장학금 — 고득점자 15~25% 감면, 파운데이션 10~25% 감면이 자동 적용됩니다.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846320"/>
            <a:ext cx="10911535" cy="969264"/>
          </a:xfrm>
          <a:prstGeom prst="roundRect">
            <a:avLst>
              <a:gd name="adj" fmla="val 6604"/>
            </a:avLst>
          </a:prstGeom>
          <a:solidFill>
            <a:srgbClr val="F1EDE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495604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영국 본교로 이동할 수 있습니다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5248656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과정은 2+1로 3학년을 영국에서 이수할 수 있고, 공학(MEng)은 2+2 또는 3+1로 영국 캠퍼스로 이동합니다. 성적과 비자 승인이 조건이며 중국 닝보 캠퍼스 옵션도 있습니다.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University of Nottingham Malaysia 브로셔 p.1 · p.3 · p.5  |  환율 RM 1 ≈ 339원 · 6% 서비스세(SST) 별도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UNDERGRADUATE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학부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연간 · 환율 RM 1 ≈ 339원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180015" y="54864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180015" y="5486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공학은 4년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188720"/>
                <a:gridCol w="2194560"/>
                <a:gridCol w="2011680"/>
                <a:gridCol w="167609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이동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(과정 전체)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1,288만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경영·경제·금융 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1,932만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인문·사회과학, 심리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1,865만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이학 BSc (생명과학·컴퓨터과학 등)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1,763만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MEng (화학·토목·전기전자·기계·메카트로닉)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2,271만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2+2 또는 3+1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846320"/>
            <a:ext cx="5358384" cy="969264"/>
          </a:xfrm>
          <a:prstGeom prst="roundRect">
            <a:avLst>
              <a:gd name="adj" fmla="val 7547"/>
            </a:avLst>
          </a:prstGeom>
          <a:solidFill>
            <a:srgbClr val="F1EDE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493776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대표 경로 — 학비 총액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193792"/>
            <a:ext cx="4809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+ 인문·사회 3년 = 총 4년 · RM 203,000 · 약 6,882만 원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+ 공학 MEng 4년 = 총 5년 · RM 306,000 · 약 1억 374만 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90488" y="4846320"/>
            <a:ext cx="5358384" cy="969264"/>
          </a:xfrm>
          <a:prstGeom prst="roundRect">
            <a:avLst>
              <a:gd name="adj" fmla="val 7547"/>
            </a:avLst>
          </a:prstGeom>
          <a:solidFill>
            <a:srgbClr val="F5EED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4808" y="493776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공학은 MEng 학사 + 석사 통합 학위라 4년입니다!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5193792"/>
            <a:ext cx="4809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학사(BEng)가 아니라 석사통합(MEng) 과정입니다. 9월 인테이크 단일이며 IET·BEM·IChemE 인정, 화학공학은 영국 9위(Guardian 2026)입니다.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*모든 학비에 6% 서비스세(SST) 별도 · 학비 고정 적용  |  출처: UNM 브로셔 p.5 · 공학 학과 페이지 (국제학생 RM 67,000 / 말레이시아 학생 RM 56,500)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 BY SIDE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vs 노팅엄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좋은 학교인가가 아니라, 어느 쪽이 이 학생에게 맞는가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10512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67048"/>
                <a:gridCol w="4267048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 모나쉬대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노팅엄대 (러셀그룹 창립 멤버)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· 공학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· 공학(MEng)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7월 · 10월 (연 3회)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9월 (파운데이션은 4월 · 9월)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90점 이상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90점 이상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(선웨이) · DHES (모나쉬)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Nottingham Foundation (단일)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최단 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 1년 + 학부 2년 = 총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학부 3년 = 총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총 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1년 + 공학 4년 = 총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MEng 4년 = 총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이동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일부는 호주 이동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· 공학 2+2 / 3+1 (영국 · 중국 닝보)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계열별 편차 큼 (RM 51,360 ~ 68,160)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고정 · 장학금 자동 적용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급하면 모나쉬 DHES, 영국 학위와 비용 예측 가능성이 중요하면 노팅엄입니다.  |  공학은 두 학교 모두 총 5년입니다.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공동체 입회 시 1회만 납부합니다 — 3년이든 5년이든 동일합니다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73936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066544"/>
                <a:gridCol w="2066544"/>
                <a:gridCol w="2066544"/>
                <a:gridCol w="2060143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DHES 3년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문과 계열 4년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MUFY + 공학 5년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MEng 공학 5년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학비 (파운데이션)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 약 1,676만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약 1,288만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약 800만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약 1,288만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학비 (학부)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1,741만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1,865만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2,311만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2,271만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— 입회 시 1회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 (입학비 제외)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3,256만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2,868만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2,380만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2,868만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 (입학비 포함)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3,756만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3,368만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2,880만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3,368만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(연)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3,321만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3,445만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3,891만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3,851만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398만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3,702만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8,444만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8,773만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541264"/>
            <a:ext cx="10911535" cy="786384"/>
          </a:xfrm>
          <a:prstGeom prst="roundRect">
            <a:avLst>
              <a:gd name="adj" fmla="val 814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596128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"2년차가 1년차보다 비싼데 맞나요?" — 맞습니다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5852160"/>
            <a:ext cx="103994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1년차는 학비가 싼 파운데이션, 2년차부터는 학비가 비싼 학부입니다. 입학비 500만 원을 더해도 파운데이션 1년이 학부 1년보다 쌀 수 있습니다.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6071616"/>
            <a:ext cx="103994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차액 — 2년차가 더 많음: 노팅엄 문과 77만 · 공학 483만 · 모나쉬 공학 1,011만  |  모나쉬 DHES만 1년차가 435만 더 많습니다.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입학비 500만 원은 1년차에만 포함했고 이전 공동체 입학금을 최대 200만 원까지 인정합니다 · MUFY는 선웨이 파운데이션 학비 평균 적용 · 환율 RM 1 ≈ 339원 · 6% 서비스세와 생활비 별도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일정 — 파운데이션 입학 기준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학생은 대부분 검정고시 출신이므로 학사 직행이 아니라 파운데이션으로 들어갑니다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10512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88366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(선웨이 칼리지)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1396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 · 7월 · 8월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5968" y="1810512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7136" y="188366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DHES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17136" y="21396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7월 · 10월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1810512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93024" y="188366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파운데이션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193024" y="21396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· 9월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2615184"/>
            <a:ext cx="5358384" cy="3108960"/>
          </a:xfrm>
          <a:prstGeom prst="roundRect">
            <a:avLst>
              <a:gd name="adj" fmla="val 2353"/>
            </a:avLst>
          </a:prstGeom>
          <a:solidFill>
            <a:srgbClr val="F1EDE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72491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A안 — 검정고시 1회 (4월 응시)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072384"/>
            <a:ext cx="4809744" cy="365760"/>
          </a:xfrm>
          <a:prstGeom prst="roundRect">
            <a:avLst>
              <a:gd name="adj" fmla="val 12500"/>
            </a:avLst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0704" y="3072384"/>
            <a:ext cx="4517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그해 안에 입학합니다 · 권장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4400" y="360273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36027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243584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2~3월  검정고시 1회 원서 접수 · 시험 대비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14400" y="396849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43584" y="39319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초  응시 → 5월 중 합격 발표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4400" y="433425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243584" y="42976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5~6월  영문 증명서 + 번역공증 + 영사확인 (2~3주)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470001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4700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243584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5~7월  IELTS 확보 (모나쉬 5.5 · 노팅엄 6.0)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14400" y="506577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14400" y="5065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243584" y="50292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6~7월  원서 접수 → EMGS 비자 심사 4~8주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14400" y="5358384"/>
            <a:ext cx="4809744" cy="13716"/>
          </a:xfrm>
          <a:prstGeom prst="rect">
            <a:avLst/>
          </a:prstGeom>
          <a:solidFill>
            <a:srgbClr val="DCD6C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4400" y="5394960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— MUFY 8월 · 노팅엄 9월 · DHES 10월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90488" y="2615184"/>
            <a:ext cx="5358384" cy="3108960"/>
          </a:xfrm>
          <a:prstGeom prst="roundRect">
            <a:avLst>
              <a:gd name="adj" fmla="val 2353"/>
            </a:avLst>
          </a:prstGeom>
          <a:solidFill>
            <a:srgbClr val="F1EDE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272491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B안 — 검정고시 2회 (8월 응시)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64808" y="3072384"/>
            <a:ext cx="4809744" cy="365760"/>
          </a:xfrm>
          <a:prstGeom prst="roundRect">
            <a:avLst>
              <a:gd name="adj" fmla="val 12500"/>
            </a:avLst>
          </a:prstGeom>
          <a:solidFill>
            <a:srgbClr val="A841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611112" y="3072384"/>
            <a:ext cx="4517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이듬해 입학이 됩니다 · 일정 여유 있음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64808" y="360273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64808" y="36027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79399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6~7월  검정고시 2회 원서 접수 · 시험 대비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64808" y="396849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64808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793992" y="39319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 응시 → 9월 초 합격 발표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64808" y="433425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793992" y="42976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9~10월  영문 증명서 + 번역공증 + 영사확인 (2~3주)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464808" y="470001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700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79399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9~11월  IELTS 확보 (모나쉬 5.5 · 노팅엄 6.0)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464808" y="506577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5065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6793992" y="50292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10~11월  원서 접수 → EMGS 비자 심사 4~8주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64808" y="5358384"/>
            <a:ext cx="4809744" cy="13716"/>
          </a:xfrm>
          <a:prstGeom prst="rect">
            <a:avLst/>
          </a:prstGeom>
          <a:solidFill>
            <a:srgbClr val="DCD6C9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464808" y="5394960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— MUFY 이듬해 1월 · DHES 2월 · 노팅엄 4월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640080" y="5815584"/>
            <a:ext cx="10911535" cy="512064"/>
          </a:xfrm>
          <a:prstGeom prst="roundRect">
            <a:avLst>
              <a:gd name="adj" fmla="val 12500"/>
            </a:avLst>
          </a:prstGeom>
          <a:solidFill>
            <a:srgbClr val="F7EBE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96112" y="5815584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인증은 아포스티유가 아니라 영사확인입니다 — 말레이시아는 헤이그 아포스티유 협약 비가입국이며, 영문 번역공증 후 외교부 → 주한 말레이시아 대사관 순으로 밟습니다.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파운데이션 입학 기준 일정입니다. 학사 직행은 A-Level · IB 등 호주 12학년 수준 자격을 갖춘 경우에만 해당합니다.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말레이시아 유학 2편 — 해외 직영 캠퍼스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2026-10-09T09:39:05Z</dcterms:created>
  <dcterms:modified xsi:type="dcterms:W3CDTF">2026-10-09T09:39:05Z</dcterms:modified>
</cp:coreProperties>
</file>