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1편이 말레이시아 사립 명문(테일러스·선웨이)이었다면, 2편은 호주·영국 대학이 직접 운영하는 캠퍼스입니다. 성격이 완전히 다릅니다.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가장 헷갈리는 지점입니다. 분교라는 말보다 "직영 캠퍼스"가 정확합니다. 졸업장에 말레이시아 이야기가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학교 모두 본교 순위를 내세웁니다. 직영 캠퍼스라 본교 학위가 나오므로 과장은 아니지만, 캠퍼스 자체의 순위는 아니라는 점은 말해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2편에서 가장 실용적입니다. 검정고시 학생은 두 번째 줄, 성적이 아쉬우면 세 번째 줄입니다. DHES는 기간 손해가 없다는 점을 꼭 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MUFY 학비는 이 프로스펙터스에 없습니다. Monash College가 운영하므로 별도 확인이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DHES 경로가 1년을 아낍니다. 같은 3년에 자격이 두 개 나옵니다. 이 계산을 꼭 보여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학비 고정은 다른 학교에 없는 장점입니다. 4~5년 과정에서는 체감이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노팅엄은 3년제라 학부 기간이 짧지만, 파운데이션이 1년 붙어 총 4년이 됩니다. 모나쉬 DHES 경로(3년)와 비교해 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입학처 안내가 맞았다는 것을 문서로 확인했습니다. 60%라는 구체적 커트라인까지 있으니 상담에서 바로 쓰실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GED를 검정고시와 같다고 안내했다가 나중에 뒤집히면 신뢰를 잃습니다. 문안 그대로 보내서 회신을 받아 두십시오.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행부터 읽으십시오. 학부모가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모나쉬 DHES 3년 경로가 총액·기간 모두 가장 효율적입니다. 다만 성적 요건을 확인해야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입학비는 공동체에 들어올 때 한 번만 냅니다. 3년이든 5년이든 같습니다. 표에서 1년차 소계에만 들어가 있는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인테이크 횟수가 실제로는 큰 차이입니다. 모나쉬는 연 3회라 한 번 놓쳐도 4개월 뒤가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슬라이드는 내부용입니다. 학부모 배포본에서는 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2편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 ·  노팅엄 말레이시아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호주·영국 본교 학위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분교가 아니라 직영 캠퍼스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경로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원문 확인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   |   2026년 10월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무엇이 다른가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말레이시아 안에 있지만, 학위를 주는 주체가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복수 학위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해외와 손잡는 구조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· 영국 노팅엄대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대학이 말레이시아에 캠퍼스를 둔 구조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차이 — 1편은 "말레이시아 학위 + 해외 학위"를 설계하는 문제이고, 2편은 처음부터 해외 본교 학위 하나입니다.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 프로스펙터스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· 반다르선웨이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캠퍼스(4개국)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모나쉬대 본교 학위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3~4년제 (호주식)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· DHES · 디플로마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말레이시아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University of Nottingham Malaysia · 스므니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#16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영국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4,000+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9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19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출신 국가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영국 노팅엄대 본교 학위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3년제 (영국식)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중심 (일부 2월)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순위는 본교(모나쉬대·노팅엄대) 기준입니다. 노팅엄은 영국 러셀그룹 창립 멤버이며 QS 2027 세계 97위로 함께 표기합니다.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INTO MONASH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입학 경로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학력 수준에 따라 들어가는 문이 다릅니다. 프로스펙터스 10쪽 경로도입니다.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14255" y="54864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14255" y="54864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p.10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04672" y="1938528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12학년 수준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231136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A-Level · IB · STPM · UEC · 캐나다 12학년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(직행)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2798064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07792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11학년 수준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04672" y="3200400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· O-Level · 한국 검정고시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(파운데이션 1년)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Diploma of Business (2년)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(디플로마는 2학년)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40080" y="3767328"/>
            <a:ext cx="228600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4672" y="3877056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미달 시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04672" y="4169664"/>
            <a:ext cx="1956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정규 입학 요건에 못 미치는 경우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2651760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Diploma of Higher Education Studies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(1년)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2학년 편입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Graduate Certificate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DHES가 숨은 카드입니다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1년을 이수하면 Graduate Certificate를 받고 학부 2학년으로 들어갑니다. 즉 학사 과정과 같은 총 기간(3년) 안에 자격 두 개를 받습니다. 파운데이션을 거치면 보통 1년이 늘어나는데, DHES는 그 1년을 쓰지 않습니다.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PATHWAYS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파운데이션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2027 fees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2103120"/>
                <a:gridCol w="2377440"/>
                <a:gridCol w="204185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국제학생 학비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진입 지점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Monash University Foundation Year (MUFY)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Monash College 운영 (별도 확인)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1학년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Diploma of Higher Education Studies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비과학 RM 49,440 / 과학 RM 55,680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학부 2학년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Diploma of Business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42,240 (연간)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 학부 2학년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93192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0599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입학 영어 요건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352544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 (각 영역 5.0 이상)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· PTE 47 · C1 Advanced 162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 시 Monash English(ME) 선이수 경로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90488" y="3931920"/>
            <a:ext cx="5358384" cy="1371600"/>
          </a:xfrm>
          <a:prstGeom prst="roundRect">
            <a:avLst>
              <a:gd name="adj" fmla="val 5333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059936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일부는 호주 이동이 필수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4352544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생의학공학·재료공학은 말레이시아에서 2년을 마친 뒤 호주 클레이턴 캠퍼스로 반드시 옮겨야 합니다. 이동 조건은 가중평균 50% 이상입니다. 예산을 호주 2년치로 따로 잡아야 합니다.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p.10 · p.55 · p.56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2027 fees · 환율 RM 1 ≈ 339원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문학·사회과학, 디지털미디어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51,360 ~ 54,240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1,741만 ~ 1,839만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경영·상학, 응용데이터과학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53,280 ~ 63,360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1,806만 ~ 2,148만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컴퓨터과학·정보기술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53,760 ~ 62,880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1,822만 ~ 2,132만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(화학·토목·전기·기계·소프트웨어 등)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2,311만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· 7 · 10월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약학·의학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4~5년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 74,400 이상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2,522만 이상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10911535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총액 계산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DHES 1년 (RM 49,440) → 학부 2·3학년 2년 (RM 51,360 × 2)  =  총 3년 · RM 152,160 · 약 5,158만 원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58384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MUFY 1년 → 학부 1~3학년 3년 (RM 51,360 × 3)  =  총 4년 · 학부 학비만 RM 154,080 · 약 5,223만 원 + MUFY 학비 별도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University Malaysia Undergraduate Prospectus 2027, p.56 · p.58 · p.60 ·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캠퍼스와 파운데이션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48헥타르 열대우림 캠퍼스 · 영국 러셀그룹 창립 멤버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 구성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01568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84448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· 9월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2회 인테이크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63056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45936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38,000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345936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· 과정 전체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24544" y="1828800"/>
            <a:ext cx="2596896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07424" y="1956816"/>
            <a:ext cx="22311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150학점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107424" y="2395728"/>
            <a:ext cx="2231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4 + 선택 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98094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Foundation Programme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291840"/>
            <a:ext cx="5358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과목 — 영어 1·2, 비판적 사고, 지속가능성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과목 — 생물·화학·물리·수학·경영·경제·회계·심리·IT·프로그래밍 등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이수 후 노팅엄 학부로 진학, 영국 본교 직접 진학 경로도 운영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0488" y="3255264"/>
            <a:ext cx="5358384" cy="1426464"/>
          </a:xfrm>
          <a:prstGeom prst="roundRect">
            <a:avLst>
              <a:gd name="adj" fmla="val 5128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64808" y="3364992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노팅엄의 두 가지 차별점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657600"/>
            <a:ext cx="4809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학비 고정 — 과정 전체 기간 동안 학비가 오르지 않습니다 (지원비 제외).</a:t>
            </a:r>
            <a:endParaRPr lang="en-US" sz="12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장학금 — 고득점자 15~25% 감면, 파운데이션 10~25% 감면이 자동 적용됩니다.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6604"/>
            </a:avLst>
          </a:prstGeom>
          <a:solidFill>
            <a:srgbClr val="F1EDE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400" y="495604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2+1 — 3학년을 영국에서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14400" y="524865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학부 과정에서 3학년에 영국 본교의 동일 과정으로 이동할 수 있습니다. 성적과 비자 승인이 조건입니다. 중국 닝보 캠퍼스 이동 옵션도 있습니다.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p.1 · p.3 · p.5 ·  모든 학비에 6% 서비스세(SST) 별도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NOTTINGHAM UNDERGRADUATE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학부 과정과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국제학생 기준 · 연간 · 환율 RM 1 ≈ 339원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188720"/>
                <a:gridCol w="2194560"/>
                <a:gridCol w="2011680"/>
                <a:gridCol w="16760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이동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· 과학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 · 교육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52,000 ~ 58,000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1,763만 ~ 1,966만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인문·사회과학, 심리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경영·경제·금융 계열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1,932만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가능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(과정 전체)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1,288만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663440"/>
            <a:ext cx="10911535" cy="1152144"/>
          </a:xfrm>
          <a:prstGeom prst="roundRect">
            <a:avLst>
              <a:gd name="adj" fmla="val 6349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773168"/>
            <a:ext cx="10362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대표 경로 — 총액 계산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06577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1년 (RM 38,000) → 학부 1~3학년 3년  =  총 4년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58384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공학·과학 RM 194,000 (약 6,577만 원)   |   경영 RM 209,000 (약 7,085만 원)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University of Nottingham Malaysia 브로셔 p.5 · p.13~62 ·  6% 서비스세(SST) 별도 · 학비 고정 적용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KOREAN QUALIFICATION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검정고시로 갈 수 있는가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 원문을 직접 확인한 결과입니다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905695" y="548640"/>
            <a:ext cx="1645920" cy="329184"/>
          </a:xfrm>
          <a:prstGeom prst="roundRect">
            <a:avLst>
              <a:gd name="adj" fmla="val 13889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05695" y="548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 확인 완료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1975104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명시되어 있습니다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322576"/>
            <a:ext cx="4809744" cy="658368"/>
          </a:xfrm>
          <a:prstGeom prst="roundRect">
            <a:avLst>
              <a:gd name="adj" fmla="val 6944"/>
            </a:avLst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60704" y="2322576"/>
            <a:ext cx="4517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SOUTH KOREA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 School Graduation Equivalency Examination — 60%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프로스펙터스 2027, 55쪽 「MONASH PATHWAY PROGRAMS — ENTRY REQUIREMENTS」 표에 있습니다. 같은 표에 말레이시아 SPM, O-Level, 온타리오 고교 졸업장 등 호주 11학년 수준 자격이 함께 들어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1828800"/>
            <a:ext cx="5358384" cy="2286000"/>
          </a:xfrm>
          <a:prstGeom prst="roundRect">
            <a:avLst>
              <a:gd name="adj" fmla="val 3200"/>
            </a:avLst>
          </a:prstGeom>
          <a:solidFill>
            <a:srgbClr val="F7EBE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64808" y="1975104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목록에 없습니다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64808" y="2322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입학 자격표의 인정 학력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64808" y="2578608"/>
            <a:ext cx="48097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Level · IB · STPM · UEC · Gaokao 및 중국 고교졸업장 · 인도 CBSE/CISCE · 호주 12학년 · 캐나다 OSSD · AP · 타기관 디플로마 · 타기관 파운데이션 · 노팅엄 파운데이션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64808" y="3346704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항목이 아예 없습니다. 브로셔 전체에서 "Korea"는 0회 등장합니다.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261104"/>
            <a:ext cx="10911535" cy="1554480"/>
          </a:xfrm>
          <a:prstGeom prst="roundRect">
            <a:avLst>
              <a:gd name="adj" fmla="val 4706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438912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 — 두 학교 모두 문과·이공계 구분 없이 파운데이션을 거칩니다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00016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입학처가 "검정고시는 계열 상관없이 무조건 파운데이션"이라고 안내한 것은 프로스펙터스와 일치합니다. 검정고시가 호주 12학년이 아니라 11학년 수준으로 분류되기 때문입니다.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21208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노팅엄은 한국 학력을 명시하지 않으므로, 노팅엄 파운데이션 또는 타기관 파운데이션(GPA 3.0/4.0 이상, 학교 재량) 경유가 현실적 경로입니다.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Monash UG Prospectus 2027 p.10 · p.55  |  UNM 브로셔 p.18 입학 자격표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GED는 검정고시와 같은가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결론부터 — 같다고 말할 근거가 현재 없습니다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1097280"/>
          </a:xfrm>
          <a:prstGeom prst="roundRect">
            <a:avLst>
              <a:gd name="adj" fmla="val 6667"/>
            </a:avLst>
          </a:prstGeom>
          <a:solidFill>
            <a:srgbClr val="F7EBE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56816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자료 전체를 검색한 결과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학부 프로스펙터스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64쪽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대학원 프로스펙터스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48쪽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8600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브로셔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25420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157쪽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25420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0회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145536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이것이 중요한가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456432"/>
            <a:ext cx="53583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모나쉬는 한국 검정고시를 국가명과 함께 명시했습니다 — 즉 심사 기준이 서 있습니다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GED는 어느 자료에도 없습니다 — 기준이 공개돼 있지 않다는 뜻입니다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"검정고시가 되니 GED도 된다"는 추론은 위험합니다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0488" y="3419856"/>
            <a:ext cx="5358384" cy="1353312"/>
          </a:xfrm>
          <a:prstGeom prst="roundRect">
            <a:avLst>
              <a:gd name="adj" fmla="val 5405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64808" y="3529584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3822192"/>
            <a:ext cx="48097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"한국 검정고시는 모나쉬 프로스펙터스에 60% 기준으로 명시돼 있습니다. GED는 두 학교 자료 어디에도 없어, 입학처에 개별 확인이 필요합니다."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882896"/>
            <a:ext cx="10911535" cy="932688"/>
          </a:xfrm>
          <a:prstGeom prst="roundRect">
            <a:avLst>
              <a:gd name="adj" fmla="val 7843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974336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문의 문안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212080"/>
            <a:ext cx="103628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 the US GED (General Educational Development) accepted for entry into your Foundation / pathway programmes, and if so what minimum score? Is it treated the same as the Korean High School Graduation Equivalency Examination, which your prospectus lists at 60%?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vs 노팅엄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6590"/>
                <a:gridCol w="426659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말레이시아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본교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 모나쉬대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영국 노팅엄대 (러셀그룹 창립 멤버)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(공학 4년)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3년제 (일부 4년)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인테이크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7월 · 10월 (연 3회)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9월 중심 (일부 2월)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검정고시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프로스펙터스에 60% 명시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명시 없음 — 파운데이션 경유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MUFY · DHES · 디플로마 (선택지 3개)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Nottingham Foundation (단일)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최단 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DHES 1년 + 학부 2년 = 총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1년 + 학부 3년 = 총 4년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본교 이동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일부는 호주 이동 필수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선택 (영국 · 중국 닝보)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계열별 편차 큼 (RM 51,360~74,400)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학비 고정 · 장학금 자동 적용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7784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7784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급하면 모나쉬 DHES, 영국 학위와 비용 예측 가능성이 중요하면 노팅엄입니다.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COST COMPARISON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학비 비교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출신 기준 · 링깃과 원화로 통일 · 환율 RM 1 ≈ 339원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371600"/>
                <a:gridCol w="2286000"/>
                <a:gridCol w="2194560"/>
                <a:gridCol w="1401775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연평균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DHES 1년 + 학부 2년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152,160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5,158만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1,719만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MUFY 1년 + 학부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154,080 + MUFY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5,223만 + α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— 공학 (파운데이션 + 4년)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49,440 + 272,640 = 322,080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918만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2,184만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공학·과학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 + 156,000 = 194,000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6,577만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1,644만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— 파운데이션 + 경영 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38,000 + 171,000 = 209,000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7,085만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1,771만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82896"/>
            <a:ext cx="5358384" cy="932688"/>
          </a:xfrm>
          <a:prstGeom prst="roundRect">
            <a:avLst>
              <a:gd name="adj" fmla="val 6863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99262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1편(사립대)과 비교하면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24865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파운데이션+공학 5년이 약 5,810만~6,200만 원이었습니다. 직영 캠퍼스가 전반적으로 높지만, 받는 학위가 호주·영국 본교 명의입니다.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82896"/>
            <a:ext cx="5358384" cy="932688"/>
          </a:xfrm>
          <a:prstGeom prst="roundRect">
            <a:avLst>
              <a:gd name="adj" fmla="val 6863"/>
            </a:avLst>
          </a:prstGeom>
          <a:solidFill>
            <a:srgbClr val="F7EB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992624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더해야 할 것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248656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6% 서비스세 · 생활비 월 RM 1,600~3,000 · 비자·보험·항공 · IM 공동체 운영비. 학비만으로 예산을 잡으면 안 됩니다.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학비만 비교한 표입니다. 모나쉬 MUFY 학비는 Monash College 운영이라 이 프로스펙터스에 없습니다.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24912"/>
                <a:gridCol w="2724912"/>
                <a:gridCol w="2718511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DHES 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노팅엄 4년 (공학·과학)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1,719만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1,644만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2,184만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140만 / 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 (120×12)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3,799만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3,724만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4,264만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3,299만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3,224만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3,764만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397만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3,396만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9,320만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394960"/>
            <a:ext cx="10911535" cy="457200"/>
          </a:xfrm>
          <a:prstGeom prst="roundRect">
            <a:avLst>
              <a:gd name="adj" fmla="val 12000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394960"/>
            <a:ext cx="103994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이전 공동체 입학금을 최대 200만 원까지 인정합니다.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포함했습니다. 수학 기간이 길어져도 입학비는 늘지 않습니다. 6% 서비스세와 생활비는 별도입니다.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인테이크가 다르므로 역산 시점도 다릅니다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— 연 3회 (유리)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13474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60704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7월 · 10월 인테이크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98448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개강 12~16주 전 원서 접수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98448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합격 후 영사확인 2~3주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98448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IELTS 5.5 확보 (파운데이션 기준)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98448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298448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놓쳐도 4개월 뒤 다음 인테이크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90488" y="1828800"/>
            <a:ext cx="5358384" cy="3291840"/>
          </a:xfrm>
          <a:prstGeom prst="roundRect">
            <a:avLst>
              <a:gd name="adj" fmla="val 2222"/>
            </a:avLst>
          </a:prstGeom>
          <a:solidFill>
            <a:srgbClr val="F1EDE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64808" y="1975104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— 9월 중심 (주의)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64808" y="2340864"/>
            <a:ext cx="4809744" cy="420624"/>
          </a:xfrm>
          <a:prstGeom prst="roundRect">
            <a:avLst>
              <a:gd name="adj" fmla="val 10870"/>
            </a:avLst>
          </a:prstGeom>
          <a:solidFill>
            <a:srgbClr val="A8412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11112" y="2340864"/>
            <a:ext cx="4517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중심 · 파운데이션은 4월 · 9월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64808" y="2944368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96265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848856" y="2889504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 개강 기준 5월까지 원서 접수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64808" y="3474720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64808" y="3493008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848856" y="3419856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1회(4월) 합격 후 바로 착수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64808" y="4005072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64808" y="40233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848856" y="3950208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영사확인·어학 일정이 빡빡함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64808" y="4535424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55371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848856" y="4480560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EMGS 비자 심사 4~8주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464808" y="506577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508406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848856" y="5010912"/>
            <a:ext cx="44256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파운데이션은 4월까지 대기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640080" y="5248656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F7EBE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96112" y="5248656"/>
            <a:ext cx="103994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노팅엄을 목표로 한다면 검정고시 1회(4월)를 반드시 잡으셔야 합니다. 2회(8월)로는 그해 9월 입학이 사실상 불가능합니다.</a:t>
            </a:r>
            <a:endParaRPr lang="en-US" sz="12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서류 인증은 아포스티유가 아니라 영사확인(외교부 → 주한 말레이시아 대사관)입니다. 말레이시아는 헤이그 아포스티유 협약 비가입국입니다.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CHECKLIST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확인해야 할 것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프로스펙터스로 확인된 것과, 입학처에 물어야 할 것을 나눴습니다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완료 — 원문 근거 있음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231136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231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1762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= 호주 11학년 수준, 파운데이션 필수 (모나쉬 p.55, 60%)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43200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268833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파운데이션 기간·인테이크·학비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55264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255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200400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 계열별 연간 학비와 수학 기간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767328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67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12464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 2+1 영국 이동 조건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279392"/>
            <a:ext cx="237744" cy="237744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279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4224528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공학 일부 호주 이동 필수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190488" y="1828800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입학처 확인 필요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223113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190488" y="2231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537960" y="21762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GED 인정 여부와 최소 점수 (두 학교 모두 자료에 없음)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90488" y="2743200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90488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537960" y="2688336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학비 (Monash College 운영)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90488" y="325526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90488" y="32552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3200400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노팅엄의 한국 검정고시 취급 기준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90488" y="3767328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90488" y="37673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37960" y="3712464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지망 학과별 원서 마감일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90488" y="427939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190488" y="42793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537960" y="4224528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 적용 조건과 감면 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4846320"/>
            <a:ext cx="10911535" cy="969264"/>
          </a:xfrm>
          <a:prstGeom prst="roundRect">
            <a:avLst>
              <a:gd name="adj" fmla="val 7547"/>
            </a:avLst>
          </a:prstGeom>
          <a:solidFill>
            <a:srgbClr val="13474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4937760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5175504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Monash University Malaysia — Undergraduate Prospectus 2027 (64쪽) · Postgraduate Prospectus 2027 (48쪽)  ·  University of Nottingham Malaysia 브로셔 (65쪽 + 92쪽)  ·  IM 말레이시아 입학안내문 2027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2편 — 해외 직영 캠퍼스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2026-10-09T02:38:52Z</dcterms:created>
  <dcterms:modified xsi:type="dcterms:W3CDTF">2026-10-09T02:38:52Z</dcterms:modified>
</cp:coreProperties>
</file>