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1편이 말레이시아 사립 명문(테일러스·선웨이)이었다면, 2편은 호주·영국 대학이 직접 운영하는 캠퍼스입니다. 성격이 완전히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학부모가 가장 헷갈리는 지점입니다. 분교라는 말보다 "직영 캠퍼스"가 정확합니다. 졸업장에 말레이시아 이야기가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학교 모두 본교 순위를 내세웁니다. 직영 캠퍼스라 본교 학위가 나오므로 과장은 아니지만, 캠퍼스 자체의 순위는 아니라는 점은 말해 두십시오.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2편에서 가장 실용적입니다. 검정고시 학생은 두 번째 줄, 성적이 아쉬우면 세 번째 줄입니다. DHES는 기간 손해가 없다는 점을 꼭 말해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MUFY를 모나쉬에서 하는 줄 아는 분이 많습니다. 선웨이 칼리지에서 합니다. 인테이크도 모나쉬 디플로마(2·7·10월)와 달라 1·7·8월입니다.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인테이크 횟수가 실제 일정에서 가장 큰 변수입니다. 모나쉬는 여유가 있고 노팅엄은 빡빡합니다.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DHES 경로가 1년을 아낍니다. 같은 3년에 자격이 두 개 나옵니다. 이 계산을 꼭 보여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학비 고정은 다른 학교에 없는 장점입니다. 4~5년 과정에서는 체감이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노팅엄은 3년제라 학부 기간이 짧지만, 파운데이션이 1년 붙어 총 4년이 됩니다. 모나쉬 DHES 경로(3년)와 비교해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③번이 실무에서 자주 걸립니다. 집에서 보는 온라인 시험 점수는 받지 않습니다. 반드시 시험장 응시로 안내하십시오.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입학처 안내가 맞았다는 것을 문서로 확인했습니다. 60%라는 구체적 커트라인까지 있으니 상담에서 바로 쓰실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노팅엄은 불가가 확인됐습니다. 모나쉬는 아직입니다. 문안 그대로 보내 회신을 받아 두십시오.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A안이 가장 현실적입니다. 1편에서 다룬 선웨이·테일러스 파운데이션을 먼저 하고 GPA 3.0을 넘기면 노팅엄 학부로 올라갑니다. 1편과 2편이 여기서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행부터 읽으십시오. 학부모가 알고 싶은 것은 "우리 아이는 어디냐"입니다.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모나쉬 DHES 3년 경로가 총액·기간 모두 가장 효율적입니다. 다만 성적 요건을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입학비는 공동체에 들어올 때 한 번만 냅니다. 3년이든 5년이든 같습니다. 표에서 1년차 소계에만 들어가 있는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인테이크 횟수가 실제로는 큰 차이입니다. 모나쉬는 연 3회라 한 번 놓쳐도 4개월 뒤가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유학  2편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</a:t>
            </a:r>
            <a:endParaRPr lang="en-US" sz="5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캠퍼스편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  ·  노팅엄 말레이시아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호주·영국 본교 학위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분교가 아니라 직영 캠퍼스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경로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 원문 확인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학비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링깃·원화 기준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   |   2026년 10월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DIFFERENT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1편과 무엇이 다른가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말레이시아 안에 있지만, 학위를 주는 주체가 다릅니다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933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9424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사립 명문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학교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743200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· 선웨이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 주체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310128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학위 + 해외대 연계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877056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복수 학위 · 트위닝 · ADTP로 취득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443984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대학이 해외와 손잡는 구조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0488" y="1828800"/>
            <a:ext cx="5358384" cy="3200400"/>
          </a:xfrm>
          <a:prstGeom prst="roundRect">
            <a:avLst>
              <a:gd name="adj" fmla="val 2286"/>
            </a:avLst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64808" y="19933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2편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2249424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직영 캠퍼스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학교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927848" y="2743200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 · 노팅엄 말레이시아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 주체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927848" y="3310128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모나쉬대 · 영국 노팅엄대 본교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877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학위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927848" y="3877056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순간부터 본교 학위 과정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성격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27848" y="4443984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대학이 말레이시아에 캠퍼스를 둔 구조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93792"/>
            <a:ext cx="10911535" cy="621792"/>
          </a:xfrm>
          <a:prstGeom prst="roundRect">
            <a:avLst>
              <a:gd name="adj" fmla="val 10294"/>
            </a:avLst>
          </a:prstGeom>
          <a:solidFill>
            <a:srgbClr val="F5EED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193792"/>
            <a:ext cx="1039947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차이 — 1편은 "말레이시아 학위 + 해외 학위"를 설계하는 문제이고, 2편은 처음부터 해외 본교 학위 하나입니다.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대학 한눈에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 프로스펙터스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Monash University Malaysia · 반다르선웨이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#31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4203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캠퍼스(4개국)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9664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169664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출신 국가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3621024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모나쉬대 본교 학위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09651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3~4년제 (호주식)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인테이크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4572000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· 7월 · 10월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504748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· DHES · 디플로마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0488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말레이시아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University of Nottingham Malaysia · 스므니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64808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#16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영국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9244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4,000+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72007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72007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72007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출신 국가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64808" y="3621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927848" y="3621024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노팅엄대 본교 학위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927848" y="409651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3년제 (영국식)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4572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인테이크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27848" y="4572000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중심 (일부 2월)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5047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927848" y="504748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 Foundation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순위는 본교(모나쉬대·노팅엄대) 기준입니다. 노팅엄은 영국 러셀그룹 창립 멤버이며 QS 2027 세계 97위로 함께 표기합니다.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WAYS INTO MONASH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— 입학 경로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학력 수준에 따라 들어가는 문이 다릅니다. 프로스펙터스 10쪽 경로도입니다.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14255" y="54864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14255" y="548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 p.10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1F6B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193852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12학년 수준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23113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A-Level · IB · STPM · UEC · 캐나다 12학년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54096" y="182880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18688" y="1828800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과정 없음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103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16368" y="1828800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18288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말레이시아 학부 1학년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(직행)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798064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A841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29077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호주 11학년 수준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20040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SPM · O-Level · 한국 검정고시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0723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54096" y="2798064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18688" y="2798064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(파운데이션 1년)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Diploma of Business (2년)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307238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16368" y="2798064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279806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1학년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(디플로마는 2학년)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76732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38770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미달 시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16966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 입학 요건에 못 미치는 경우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54096" y="3767328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1ED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18688" y="3767328"/>
            <a:ext cx="3602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Diploma of Higher Education Studies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(1년)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14032" y="4041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16368" y="3767328"/>
            <a:ext cx="4032504" cy="82296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680960" y="37673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2학년 편입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Graduate Certificate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4828032"/>
            <a:ext cx="10911535" cy="1005840"/>
          </a:xfrm>
          <a:prstGeom prst="roundRect">
            <a:avLst>
              <a:gd name="adj" fmla="val 6364"/>
            </a:avLst>
          </a:prstGeom>
          <a:solidFill>
            <a:srgbClr val="F5EED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96112" y="4937760"/>
            <a:ext cx="103994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DHES가 숨은 카드입니다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96112" y="5212080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1년을 이수하면 Graduate Certificate를 받고 학부 2학년으로 들어갑니다. 즉 학사 과정과 같은 총 기간(3년) 안에 자격 두 개를 받습니다. 파운데이션을 거치면 보통 1년이 늘어나는데, DHES는 그 1년을 쓰지 않습니다.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University Malaysia Undergraduate Prospectus 2027, p.10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MONASH PATHWAYS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— 파운데이션 세 가지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사실부터 — MUFY는 모나쉬 캠퍼스가 아니라 선웨이 칼리지에서 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814255" y="54864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14255" y="5486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 p.10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005840"/>
                <a:gridCol w="1737360"/>
                <a:gridCol w="1920240"/>
                <a:gridCol w="112745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기관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인테이크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국제학생 학비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(Monash University Foundation Year)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칼리지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쿠알라룸푸르 · 조호바루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· 7 · 8월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17,850 ~ 29,350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605만 ~ 995만 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 1학년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Diploma of Higher Education Studies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말레이시아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비과학 RM 49,440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과학 RM 55,680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학부 2학년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Diploma of Business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말레이시아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42,240 (연간)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 2학년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114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5EE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22452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= 선웨이 칼리지 운영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517136"/>
            <a:ext cx="4809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MUFY는 선웨이 칼리지(쿠알라룸푸르·조호바루)에서만 운영합니다. 모나쉬 캠퍼스에서 하는 과정이 아닙니다. 호주 12학년 상당으로 인정되며, 호주·뉴질랜드·영국 대학에서도 통용됩니다.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90488" y="4114800"/>
            <a:ext cx="5358384" cy="1207008"/>
          </a:xfrm>
          <a:prstGeom prst="roundRect">
            <a:avLst>
              <a:gd name="adj" fmla="val 6061"/>
            </a:avLst>
          </a:prstGeom>
          <a:solidFill>
            <a:srgbClr val="F1EDE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64808" y="422452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 진급 조건 — WAM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64808" y="4517136"/>
            <a:ext cx="4809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과목 통과 + 가중평균(WAM) 50 이상으로 문학·사회과학·경영·이학 진급, 정보기술은 WAM 60. 영어는 IELTS 5.5(각 5.0 이상), 미달 시 Monash English 선이수.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5431536"/>
            <a:ext cx="10911535" cy="420624"/>
          </a:xfrm>
          <a:prstGeom prst="roundRect">
            <a:avLst>
              <a:gd name="adj" fmla="val 13043"/>
            </a:avLst>
          </a:prstGeom>
          <a:solidFill>
            <a:srgbClr val="F7EBE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5431536"/>
            <a:ext cx="103994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지망자 주의 — DHES로는 공학 2학년 진입이 안 됩니다 (프로스펙터스 각주 4: Monash College Diploma Part 2 이수자만 가능). 말레이시아에서 공학을 하려면 MUFY → 공학 1학년(4년) 경로입니다.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University Malaysia Undergraduate Prospectus 2027, p.10 (MUFY AT A GLANCE) · p.55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FOUNDATION INTAKES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인테이크 한눈에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과정마다 입학 시기가 다릅니다. 이 표가 일정 설계의 출발점입니다.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88736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156448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23376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290304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857232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0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91088" y="1828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194560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1ED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21945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(선웨이 칼리지)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C08A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2194560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21808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25" name="Shape 23"/>
          <p:cNvSpPr/>
          <p:nvPr/>
        </p:nvSpPr>
        <p:spPr>
          <a:xfrm>
            <a:off x="5888736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5664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27" name="Shape 25"/>
          <p:cNvSpPr/>
          <p:nvPr/>
        </p:nvSpPr>
        <p:spPr>
          <a:xfrm>
            <a:off x="7022592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29" name="Shape 27"/>
          <p:cNvSpPr/>
          <p:nvPr/>
        </p:nvSpPr>
        <p:spPr>
          <a:xfrm>
            <a:off x="8156448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C08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56448" y="2194560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23376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C08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23376" y="2194560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290304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34" name="Shape 32"/>
          <p:cNvSpPr/>
          <p:nvPr/>
        </p:nvSpPr>
        <p:spPr>
          <a:xfrm>
            <a:off x="9857232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24160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91088" y="2194560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2980944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1EDE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29809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DHES · Diploma of Business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0" name="Shape 38"/>
          <p:cNvSpPr/>
          <p:nvPr/>
        </p:nvSpPr>
        <p:spPr>
          <a:xfrm>
            <a:off x="5321808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13474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321808" y="2980944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88736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3" name="Shape 41"/>
          <p:cNvSpPr/>
          <p:nvPr/>
        </p:nvSpPr>
        <p:spPr>
          <a:xfrm>
            <a:off x="6455664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4" name="Shape 42"/>
          <p:cNvSpPr/>
          <p:nvPr/>
        </p:nvSpPr>
        <p:spPr>
          <a:xfrm>
            <a:off x="7022592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5" name="Shape 43"/>
          <p:cNvSpPr/>
          <p:nvPr/>
        </p:nvSpPr>
        <p:spPr>
          <a:xfrm>
            <a:off x="7589520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6" name="Shape 44"/>
          <p:cNvSpPr/>
          <p:nvPr/>
        </p:nvSpPr>
        <p:spPr>
          <a:xfrm>
            <a:off x="8156448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1347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56448" y="2980944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49" name="Shape 47"/>
          <p:cNvSpPr/>
          <p:nvPr/>
        </p:nvSpPr>
        <p:spPr>
          <a:xfrm>
            <a:off x="9290304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0" name="Shape 48"/>
          <p:cNvSpPr/>
          <p:nvPr/>
        </p:nvSpPr>
        <p:spPr>
          <a:xfrm>
            <a:off x="9857232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13474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857232" y="2980944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424160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91088" y="2980944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080" y="3767328"/>
            <a:ext cx="3840480" cy="621792"/>
          </a:xfrm>
          <a:prstGeom prst="roundRect">
            <a:avLst>
              <a:gd name="adj" fmla="val 8824"/>
            </a:avLst>
          </a:prstGeom>
          <a:solidFill>
            <a:srgbClr val="F1EDE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2960" y="37673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Foundation Programme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54880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7" name="Shape 55"/>
          <p:cNvSpPr/>
          <p:nvPr/>
        </p:nvSpPr>
        <p:spPr>
          <a:xfrm>
            <a:off x="5321808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8" name="Shape 56"/>
          <p:cNvSpPr/>
          <p:nvPr/>
        </p:nvSpPr>
        <p:spPr>
          <a:xfrm>
            <a:off x="5888736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59" name="Shape 57"/>
          <p:cNvSpPr/>
          <p:nvPr/>
        </p:nvSpPr>
        <p:spPr>
          <a:xfrm>
            <a:off x="6455664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1F6B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455664" y="3767328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022592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2" name="Shape 60"/>
          <p:cNvSpPr/>
          <p:nvPr/>
        </p:nvSpPr>
        <p:spPr>
          <a:xfrm>
            <a:off x="7589520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3" name="Shape 61"/>
          <p:cNvSpPr/>
          <p:nvPr/>
        </p:nvSpPr>
        <p:spPr>
          <a:xfrm>
            <a:off x="8156448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4" name="Shape 62"/>
          <p:cNvSpPr/>
          <p:nvPr/>
        </p:nvSpPr>
        <p:spPr>
          <a:xfrm>
            <a:off x="8723376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5" name="Shape 63"/>
          <p:cNvSpPr/>
          <p:nvPr/>
        </p:nvSpPr>
        <p:spPr>
          <a:xfrm>
            <a:off x="9290304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1F6B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290304" y="3767328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857232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8" name="Shape 66"/>
          <p:cNvSpPr/>
          <p:nvPr/>
        </p:nvSpPr>
        <p:spPr>
          <a:xfrm>
            <a:off x="10424160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91088" y="3767328"/>
            <a:ext cx="512064" cy="621792"/>
          </a:xfrm>
          <a:prstGeom prst="roundRect">
            <a:avLst>
              <a:gd name="adj" fmla="val 8929"/>
            </a:avLst>
          </a:prstGeom>
          <a:solidFill>
            <a:srgbClr val="DCD6C9"/>
          </a:solidFill>
          <a:ln/>
        </p:spPr>
      </p:sp>
      <p:sp>
        <p:nvSpPr>
          <p:cNvPr id="70" name="Shape 68"/>
          <p:cNvSpPr/>
          <p:nvPr/>
        </p:nvSpPr>
        <p:spPr>
          <a:xfrm>
            <a:off x="640080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5EEDC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14400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모나쉬를 노린다면 선택지가 넓습니다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914400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1·7·8월과 DHES 2·7·10월을 합치면 사실상 연 5~6회 진입 기회가 있습니다. 한 번 놓쳐도 두세 달 뒤가 있습니다.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190488" y="4663440"/>
            <a:ext cx="5358384" cy="1152144"/>
          </a:xfrm>
          <a:prstGeom prst="roundRect">
            <a:avLst>
              <a:gd name="adj" fmla="val 6349"/>
            </a:avLst>
          </a:prstGeom>
          <a:solidFill>
            <a:srgbClr val="F7EBE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464808" y="47731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노팅엄은 연 2회뿐입니다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6464808" y="506577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4월과 9월만 있습니다. 검정고시 1회(4월) 합격 후 영사확인·어학을 마치면 그해 9월이 현실적인 목표입니다. 놓치면 이듬해 4월까지 기다립니다.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UG Prospectus 2027 p.10  |  UNM 브로셔 p.5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MONASH UNDERGRADUATE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— 학부 과정과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2027 fees · 환율 RM 1 ≈ 339원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88720"/>
                <a:gridCol w="2194560"/>
                <a:gridCol w="2011680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인테이크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문학·사회과학, 디지털미디어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51,360 ~ 54,240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1,741만 ~ 1,839만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경영·상학, 응용데이터과학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53,280 ~ 63,360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1,806만 ~ 2,148만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컴퓨터과학·정보기술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53,760 ~ 62,880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1,822만 ~ 2,132만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(화학·토목·전기·기계·소프트웨어 등)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68,160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2,311만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· 7 · 10월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약학·의학 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74,400 이상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2,522만 이상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663440"/>
            <a:ext cx="10911535" cy="1152144"/>
          </a:xfrm>
          <a:prstGeom prst="roundRect">
            <a:avLst>
              <a:gd name="adj" fmla="val 6349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73168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출신 대표 경로 — 총액 계산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6577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DHES 1년 (RM 49,440) → 학부 2·3학년 (RM 51,360 × 2)  =  총 3년 · RM 152,160 · 약 5,158만 원   ← 가장 짧고 저렴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5838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MUFY 1년 (RM 17,850~29,350) → 학부 1~3학년 (RM 51,360 × 3)  =  총 4년 · RM 171,930~183,430 · 약 5,828만~6,218만 원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University Malaysia Undergraduate Prospectus 2027, p.56 · p.58 · p.60 ·  모든 학비에 6% 서비스세(SST) 별도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캠퍼스와 파운데이션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48헥타르 열대우림 캠퍼스 · 영국 러셀그룹 창립 멤버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구성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· 9월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2회 인테이크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RM 38,000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· 과정 전체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596896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07424" y="195681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150학점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23957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4 + 선택 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98094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 Foundation Programme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91840"/>
            <a:ext cx="5358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과목 — 영어 1·2, 비판적 사고, 지속가능성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과목 — 생물·화학·물리·수학·경영·경제·회계·심리·IT·프로그래밍 등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이수 후 노팅엄 학부로 진학, 영국 본교 직접 진학 경로도 운영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3255264"/>
            <a:ext cx="5358384" cy="1426464"/>
          </a:xfrm>
          <a:prstGeom prst="roundRect">
            <a:avLst>
              <a:gd name="adj" fmla="val 5128"/>
            </a:avLst>
          </a:prstGeom>
          <a:solidFill>
            <a:srgbClr val="F5EED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3364992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노팅엄의 두 가지 차별점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657600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학비 고정 — 과정 전체 기간 동안 학비가 오르지 않습니다 (지원비 제외).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장학금 — 고득점자 15~25% 감면, 파운데이션 10~25% 감면이 자동 적용됩니다.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911535" cy="969264"/>
          </a:xfrm>
          <a:prstGeom prst="roundRect">
            <a:avLst>
              <a:gd name="adj" fmla="val 6604"/>
            </a:avLst>
          </a:prstGeom>
          <a:solidFill>
            <a:srgbClr val="F1ED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956048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2+1 — 3학년을 영국에서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248656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학부 과정에서 3학년에 영국 본교의 동일 과정으로 이동할 수 있습니다. 성적과 비자 승인이 조건입니다. 중국 닝보 캠퍼스 이동 옵션도 있습니다.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University of Nottingham Malaysia 브로셔 p.1 · p.3 · p.5 ·  모든 학비에 6% 서비스세(SST) 별도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 UNDERGRADUATE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학부 과정과 학비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연간 · 환율 RM 1 ≈ 339원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88720"/>
                <a:gridCol w="2194560"/>
                <a:gridCol w="2011680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이동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· 과학 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1,763만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일부 · 교육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52,000 ~ 58,000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1,763만 ~ 1,966만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인문·사회과학, 심리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1,865만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경영·경제·금융 계열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1,932만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(과정 전체)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1,288만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663440"/>
            <a:ext cx="10911535" cy="1152144"/>
          </a:xfrm>
          <a:prstGeom prst="roundRect">
            <a:avLst>
              <a:gd name="adj" fmla="val 6349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773168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출신 대표 경로 — 총액 계산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06577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1년 (RM 38,000) → 학부 1~3학년 3년  =  총 4년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5358384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공학·과학 RM 194,000 (약 6,577만 원)   |   경영 RM 209,000 (약 7,085만 원)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University of Nottingham Malaysia 브로셔 p.5 · p.13~62 ·  6% 서비스세(SST) 별도 · 학비 고정 적용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NOTTINGHAM ENGLISH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영어 요건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In-Sessional English(교내 무료 영어과정)를 함께 듣느냐에 따라 기준이 달라집니다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22815" y="5486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722815" y="548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브로셔 p.9 · p.18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입학 기준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76272"/>
          <a:ext cx="535838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47672"/>
                <a:gridCol w="19476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In-Sessional 포함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In-Sessional 없이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 (각 영역 5.0↑)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 (각 영역 5.5↑)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 (W16·L15·R14·S19)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 (W·L17·R18·S20)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PTE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 (각 53↑)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 (각 59↑)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Band 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190488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입학 기준 (경영계열 예시)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2176272"/>
          <a:ext cx="535838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9534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점수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IELTS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 (각 영역 6.0 이상)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TOEFL iBT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 (W·L 19, R 20, S 22)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PTE (Academic)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 (각 영역 65 이상)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Band 4.5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" y="4334256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1EDE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14400" y="444398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Pre-Sessional English — 조건부 합격자용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4736592"/>
            <a:ext cx="4809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10주  IELTS 5.5~6.0 → +0.5밴드   RM 8,000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20주  IELTS 5.0~5.5 → +1.0밴드   RM 13,000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30주  IELTS 4.5~5.0 → +1.5밴드   RM 20,000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548640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국제학생 기준 · IELTS 응시료 별도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0488" y="4334256"/>
            <a:ext cx="5358384" cy="1481328"/>
          </a:xfrm>
          <a:prstGeom prst="roundRect">
            <a:avLst>
              <a:gd name="adj" fmla="val 4938"/>
            </a:avLst>
          </a:prstGeom>
          <a:solidFill>
            <a:srgbClr val="F7EBE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64808" y="444398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확인할 세 가지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64808" y="4736592"/>
            <a:ext cx="4809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성적 유효기간은 2년입니다.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IELTS One Skill Retake는 인정됩니다.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온라인 시험은 불인정 — IELTS Academic Online, TOEFL iBT Home Edition, PTE Academic Online 모두 받지 않습니다.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학부 요구 점수는 계열별로 다릅니다. 위는 경영계열 기준이며 지망 학과 기준으로 재확인하십시오.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 QUALIFICATION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검정고시로 갈 수 있는가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 원문을 직접 확인한 결과입니다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05695" y="54864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05695" y="548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확인 완료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1347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97510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— 명시되어 있습니다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322576"/>
            <a:ext cx="4809744" cy="658368"/>
          </a:xfrm>
          <a:prstGeom prst="roundRect">
            <a:avLst>
              <a:gd name="adj" fmla="val 6944"/>
            </a:avLst>
          </a:prstGeom>
          <a:solidFill>
            <a:srgbClr val="1F6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60704" y="2322576"/>
            <a:ext cx="4517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SOUTH KOREA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School Graduation Equivalency Examination — 60%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072384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프로스펙터스 2027, 55쪽 「MONASH PATHWAY PROGRAMS — ENTRY REQUIREMENTS」 표에 있습니다. 같은 표에 말레이시아 SPM, O-Level, 온타리오 고교 졸업장 등 호주 11학년 수준 자격이 함께 들어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1828800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F7EB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4808" y="197510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목록에 없습니다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32257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 입학 자격표의 인정 학력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2578608"/>
            <a:ext cx="4809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Level · IB · STPM · UEC · Gaokao 및 중국 고교졸업장 · 인도 CBSE/CISCE · 호주 12학년 · 캐나다 OSSD · AP · 타기관 디플로마 · 타기관 파운데이션 · 노팅엄 파운데이션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3346704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항목이 아예 없습니다. 브로셔 전체에서 "Korea"는 0회 등장합니다.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61104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3891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— 두 학교 모두 문과·이공계 구분 없이 파운데이션을 거칩니다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700016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입학처가 "검정고시는 계열 상관없이 무조건 파운데이션"이라고 안내한 것은 프로스펙터스와 일치합니다. 검정고시가 호주 12학년이 아니라 11학년 수준으로 분류되기 때문입니다.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노팅엄은 한국 학력을 명시하지 않으므로, 노팅엄 파운데이션 또는 타기관 파운데이션(GPA 3.0/4.0 이상, 학교 재량) 경유가 현실적 경로입니다.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Monash UG Prospectus 2027 p.10 · p.55  |  UNM 브로셔 p.18 입학 자격표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GED는 검정고시와 같은가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결론부터 — 같지 않습니다. 노팅엄은 입학처가 불가로 회신했습니다.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F7EB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56816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자료 전체를 검색한 결과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학부 프로스펙터스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64쪽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542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0회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대학원 프로스펙터스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48쪽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542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0회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286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브로셔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542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0회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4553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이것이 중요한가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456432"/>
            <a:ext cx="5358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모나쉬는 한국 검정고시를 국가명과 함께 명시했습니다 — 즉 심사 기준이 서 있습니다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GED는 어느 자료에도 없습니다 — 기준이 공개돼 있지 않다는 뜻입니다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노팅엄은 담당자가 불가로 회신 — 모나쉬는 아직 미확인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419856"/>
            <a:ext cx="5358384" cy="1353312"/>
          </a:xfrm>
          <a:prstGeom prst="roundRect">
            <a:avLst>
              <a:gd name="adj" fmla="val 5405"/>
            </a:avLst>
          </a:prstGeom>
          <a:solidFill>
            <a:srgbClr val="F7EB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352958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입학처 회신 확보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3822192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담당자는 GED로는 입학이 불가하다고 안내했습니다. 브로셔 파운데이션 입학 요건(p.9)에도 GED가 없어 자료와 일치합니다. 우회 경로는 다음 장에서 다룹니다.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82896"/>
            <a:ext cx="10911535" cy="932688"/>
          </a:xfrm>
          <a:prstGeom prst="roundRect">
            <a:avLst>
              <a:gd name="adj" fmla="val 7843"/>
            </a:avLst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974336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입학처 문의 문안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212080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 the US GED (General Educational Development) accepted for entry into your Foundation / pathway programmes, and if so what minimum score? Is it treated the same as the Korean High School Graduation Equivalency Examination, which your prospectus lists at 60%?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 ROUTE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GED로는 어떻게 들어가는가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담당자가 GED 불가라고 안내했다면, 우회 경로를 설계해야 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F7EB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920240"/>
            <a:ext cx="103994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파운데이션 입학 요건 (브로셔 p.9) — 여기에 GED도 검정고시도 없습니다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12848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16세 이상  ·  SPM/GCSE/IGCSE 최소 5C  ·  A Level DDD  ·  STPM C+C+C+  ·  UEC 5 B6s  ·  IB Diploma 24점  ·  호주 12학년 ATAR 56  ·  캐나다 OSSD 67%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34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그렇다면 들어갈 수 있는 길은 네 가지입니다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1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3383280"/>
            <a:ext cx="365760" cy="36576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" y="34472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타기관 파운데이션 경유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336499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347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현실적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675888"/>
            <a:ext cx="4425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선웨이·테일러스 등에서 파운데이션을 이수하고 노팅엄 학부 1학년으로 지원합니다. 브로셔에 "Foundation — Other Institutions: 학교 재량, GPA 3.0/4.0 이상"으로 명시된 경로입니다.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0488" y="3200400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1EDE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28232" y="3383280"/>
            <a:ext cx="365760" cy="365760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34472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346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타기관 디플로마 경유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122408" y="336499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F6B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22408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진입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675888"/>
            <a:ext cx="4425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디플로마(2~2.5년)를 마치면 학부 2학년 진입을 케이스별로 심사합니다. 역시 GPA 3.0/4.0 이상과 관련 과목 우수 성적이 조건입니다.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17136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1EDE4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" y="4700016"/>
            <a:ext cx="365760" cy="36576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7824" y="4764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A-Level 또는 IB 취득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468172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C08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46817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정공법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353312" y="4992624"/>
            <a:ext cx="4425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Level DDD 이상 또는 IB 24점 이상이면 노팅엄 파운데이션에 바로 들어갑니다. 성적이 높으면 학부 직행도 가능합니다. 시간은 더 걸립니다.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4517136"/>
            <a:ext cx="5358384" cy="1188720"/>
          </a:xfrm>
          <a:prstGeom prst="roundRect">
            <a:avLst>
              <a:gd name="adj" fmla="val 6154"/>
            </a:avLst>
          </a:prstGeom>
          <a:solidFill>
            <a:srgbClr val="F1EDE4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4700016"/>
            <a:ext cx="365760" cy="365760"/>
          </a:xfrm>
          <a:prstGeom prst="ellipse">
            <a:avLst/>
          </a:prstGeom>
          <a:solidFill>
            <a:srgbClr val="A841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764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모나쉬로 방향 전환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0122408" y="468172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8412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122408" y="46817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변경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4992624"/>
            <a:ext cx="4425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모나쉬는 한국 검정고시를 60% 기준으로 명시했습니다. 다만 GED는 모나쉬 자료에도 없으므로, GED 소지자라면 모나쉬에도 먼저 확인해야 합니다.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870448"/>
            <a:ext cx="10911535" cy="0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UNM 브로셔 p.9 (파운데이션 입학 요건) · p.18~19 (Diploma/Foundation — Other Institutions 조건)  |  A안을 택하면 1편의 선웨이·테일러스 파운데이션이 그대로 디딤돌이 됩니다.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vs 노팅엄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좋은 학교인가가 아니라, 어느 쪽이 이 학생에게 맞는가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66590"/>
                <a:gridCol w="426659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말레이시아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말레이시아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본교 학위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호주 모나쉬대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영국 노팅엄대 (러셀그룹 창립 멤버)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(공학 4년)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3년제 (일부 4년)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인테이크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 · 7월 · 10월 (연 3회)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중심 (일부 2월)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검정고시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프로스펙터스에 60% 명시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명시 없음 — 파운데이션 경유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· DHES · 디플로마 (선택지 3개)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Nottingham Foundation (단일)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최단 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DHES 1년 + 학부 2년 = 총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1년 + 학부 3년 = 총 4년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해외 본교 이동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공학 일부는 호주 이동 필수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2+1 선택 (영국 · 중국 닝보)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학비 특징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계열별 편차 큼 (RM 51,360~74,400)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학비 고정 · 장학금 자동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57784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577840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급하면 모나쉬 DHES, 영국 학위와 비용 예측 가능성이 중요하면 노팅엄입니다.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학비 비교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출신 기준 · 링깃과 원화로 통일 · 환율 RM 1 ≈ 339원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2286000"/>
                <a:gridCol w="2194560"/>
                <a:gridCol w="140177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(RM)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학비 (원화)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연평균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DHES 1년 + 학부 2년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152,160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5,158만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1,719만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MUFY 1년 + 학부 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171,930 ~ 183,430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5,828만 ~ 6,218만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1,512만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— MUFY + 공학 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290,490 ~ 301,990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9,848만 ~ 1억 237만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2,009만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— 파운데이션 + 공학·과학 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38,000 + 156,000 = 194,000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6,577만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1,644만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— 파운데이션 + 경영 3년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38,000 + 171,000 = 209,000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7,085만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1,771만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82896"/>
            <a:ext cx="5358384" cy="932688"/>
          </a:xfrm>
          <a:prstGeom prst="roundRect">
            <a:avLst>
              <a:gd name="adj" fmla="val 6863"/>
            </a:avLst>
          </a:prstGeom>
          <a:solidFill>
            <a:srgbClr val="F1ED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99262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1편(사립대)과 비교하면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24865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파운데이션+공학 5년이 약 5,810만~6,200만 원이었습니다. 직영 캠퍼스가 전반적으로 높지만, 받는 학위가 호주·영국 본교 명의입니다.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4882896"/>
            <a:ext cx="5358384" cy="932688"/>
          </a:xfrm>
          <a:prstGeom prst="roundRect">
            <a:avLst>
              <a:gd name="adj" fmla="val 6863"/>
            </a:avLst>
          </a:prstGeom>
          <a:solidFill>
            <a:srgbClr val="F7EB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499262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더해야 할 것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24865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6% 서비스세 · 생활비 월 RM 1,600~3,000 · 비자·보험·항공 · IM 공동체 운영비. 학비만으로 예산을 잡으면 안 됩니다.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학비만 비교한 표입니다. MUFY 학비는 선웨이 칼리지 파운데이션 기준(RM 17,850~29,350)을 적용했습니다 · 6% 서비스세 별도.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입학비는 공동체 입회 시 1회만 납부합니다 — 3년이든 5년이든 동일합니다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24912"/>
                <a:gridCol w="2724912"/>
                <a:gridCol w="2718511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DHES 3년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노팅엄 4년 (공학·과학)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모나쉬 MUFY + 공학 5년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학비 (파운데이션)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DHES 약 1,676만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 약 1,288만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MUFY 약 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학비 (학부)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1,741만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1,763만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2,311만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학생비자 갱신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140만 / 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 공동체 운영비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1,440만 / 년 (120×12)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입학비 — 입회 시 1회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1년차 소계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3,756만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3,368만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2,880만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2년차 이후 (연)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3,321만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3,343만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3,891만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398만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3,397만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8,444만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39496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96112" y="5394960"/>
            <a:ext cx="10399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입학비는 이전 공동체 입학금을 최대 200만 원까지 인정합니다.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입학비 500만 원은 1년차에만 포함했습니다. 수학 기간이 길어져도 늘지 않습니다 · MUFY는 선웨이 파운데이션 학비(RM 17,850~29,350) 평균 적용 · 6% 서비스세와 생활비 별도.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일정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인테이크가 다르므로 역산 시점도 다릅니다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291840"/>
          </a:xfrm>
          <a:prstGeom prst="roundRect">
            <a:avLst>
              <a:gd name="adj" fmla="val 2222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7510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 — 연 3회 (유리)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340864"/>
            <a:ext cx="4809744" cy="420624"/>
          </a:xfrm>
          <a:prstGeom prst="roundRect">
            <a:avLst>
              <a:gd name="adj" fmla="val 10870"/>
            </a:avLst>
          </a:prstGeom>
          <a:solidFill>
            <a:srgbClr val="1347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0704" y="2340864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 · 7월 · 10월 인테이크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889504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개강 12~16주 전 원서 접수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4930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419856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합격 후 영사확인 2~3주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005072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233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950208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IELTS 5.5 확보 (파운데이션 기준)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4535424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553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480560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비자 심사 4~8주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06577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0840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5010912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놓쳐도 4개월 뒤 다음 인테이크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0488" y="1828800"/>
            <a:ext cx="5358384" cy="3291840"/>
          </a:xfrm>
          <a:prstGeom prst="roundRect">
            <a:avLst>
              <a:gd name="adj" fmla="val 2222"/>
            </a:avLst>
          </a:prstGeom>
          <a:solidFill>
            <a:srgbClr val="F1ED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64808" y="197510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— 9월 중심 (주의)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4808" y="2340864"/>
            <a:ext cx="4809744" cy="420624"/>
          </a:xfrm>
          <a:prstGeom prst="roundRect">
            <a:avLst>
              <a:gd name="adj" fmla="val 10870"/>
            </a:avLst>
          </a:prstGeom>
          <a:solidFill>
            <a:srgbClr val="A8412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2340864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중심 · 파운데이션은 4월 · 9월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64808" y="2944368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29626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48856" y="2889504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개강 기준 5월까지 원서 접수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64808" y="3474720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64808" y="349300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48856" y="3419856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1회(4월) 합격 후 바로 착수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64808" y="4005072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64808" y="40233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3950208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영사확인·어학 일정이 빡빡함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64808" y="4535424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4808" y="4553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48856" y="4480560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EMGS 비자 심사 4~8주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64808" y="506577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64808" y="50840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848856" y="5010912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놓치면 파운데이션은 4월까지 대기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5248656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F7EBE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96112" y="5248656"/>
            <a:ext cx="103994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노팅엄을 목표로 한다면 검정고시 1회(4월)를 반드시 잡으셔야 합니다. 2회(8월)로는 그해 9월 입학이 사실상 불가능합니다.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서류 인증은 아포스티유가 아니라 영사확인(외교부 → 주한 말레이시아 대사관)입니다. 말레이시아는 헤이그 아포스티유 협약 비가입국입니다.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확인해야 할 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프로스펙터스로 확인된 것과, 입학처에 물어야 할 것을 나눴습니다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완료 — 원문 근거 있음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17627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= 호주 11학년 수준, 파운데이션 필수 (모나쉬 p.55, 60%)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68833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MUFY는 선웨이 칼리지 운영 · 인테이크 1·7·8월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55264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20040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DHES로는 공학 2학년 진입 불가 (각주 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67328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7124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영어 요건 및 2+1 영국 이동 조건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2245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 GED 불가 — 입학처 회신 + 브로셔 p.9 일치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입학처 확인 필요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2231136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0488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17627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모나쉬의 GED 인정 여부와 최소 점수 (자료에 없음)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2743200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0488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68833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MUFY 학비 — 선웨이 칼리지 공식 금액 재확인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3255264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0488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20040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노팅엄의 한국 검정고시 취급 기준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90488" y="3767328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0488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37124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지망 학과별 원서 마감일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0488" y="4279392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90488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22452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 적용 조건과 감면 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846320"/>
            <a:ext cx="10911535" cy="969264"/>
          </a:xfrm>
          <a:prstGeom prst="roundRect">
            <a:avLst>
              <a:gd name="adj" fmla="val 7547"/>
            </a:avLst>
          </a:prstGeom>
          <a:solidFill>
            <a:srgbClr val="13474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937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5175504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Monash University Malaysia — Undergraduate Prospectus 2027 (64쪽) · Postgraduate Prospectus 2027 (48쪽)  ·  University of Nottingham Malaysia 브로셔 (65쪽 + 92쪽)  ·  IM 말레이시아 입학안내문 2027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유학 2편 — 해외 직영 캠퍼스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2026-10-09T03:06:58Z</dcterms:created>
  <dcterms:modified xsi:type="dcterms:W3CDTF">2026-10-09T03:06:58Z</dcterms:modified>
</cp:coreProperties>
</file>