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2027학년도 입학안내문 통합판입니다. 원본 14장에 해외 학위 경로 정리와 ADTP 심화·편입 사례를 더했고, 서류 인증 절차를 영사확인으로 바로잡았습니다.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말레이시아를 택하는 근거는 영어 환경, 비용, 진로 옵션, 적응 용이성 네 가지입니다.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유형 중 사립대가 입학 기회와 진로 유연성에서 가장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 한 장이 학부모가 가장 헷갈리는 지점을 정리합니다. 특히 경로 확정 시점 행을 강조하십시오.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트위닝과 학점 이전을 구분하는 것이 핵심입니다. 비용은 3+0가 압도적으로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복수 학위는 해외에 나가지 않고도 해외 학위를 받는 구조라 비용이 가장 낮고, 부모가 가장 선호합니다.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선웨이가 테일러스보다 9년 앞섭니다. 그리고 선웨이 미국 과정이 트위닝에서 출발했다는 사실이 세 경로를 하나로 묶어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사례는 학교가 스스로 공개한 것만 썼습니다. 커뮤니티에서 도는 이름은 넣지 않았습니다. 마지막 경고 문구를 꼭 읽어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가장 먼저 묻는 것이 "언제 들어가느냐"입니다. 선웨이 1월, 테일러스 2월. 이 두 숫자만 기억하시면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테일러스의 결정적 강점은 호텔·관광 세계 26위입니다.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표를 RM 기준으로 통일했습니다. 공대 지망자는 5년 행을 보여 주는 것이 정확합니다.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선웨이는 학비 가성비와 랭커스터 복수 학위가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 경영계열만 학교가 달러로 표기합니다. 환산값임을 밝혀 두었습니다. 공대 지망자는 5년 행이 실제 예산입니다.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영어 점수가 가장 큰 변수입니다. TOEFL 60점은 본과 직행 최저선이라 여유를 두는 편이 안전합니다.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흔한 실수가 원서를 늦게 내는 것입니다. 4단계에서 12~16주 전 접수를 못 맞추면 다음 인테이크로 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아포스티유는 말레이시아에 통하지 않습니다. 영사확인으로 진행해야 하며, 이 절차에만 2~3주가 더 듭니다. 이전 안내문에 아포스티유로 적힌 부분이 있다면 모두 정정하십시오.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A플랜의 핵심은 10월 원서 접수입니다. 비자 심사를 감안해 앞당겼습니다.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B플랜은 어학 확보 기간이 짧은 것이 최대 약점입니다.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공대 지망자는 파운데이션 1년이 붙어 5년 예산이 됩니다. 총액이 두 배 가까이 차이 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내부용입니다. 학부모 배포본에서는 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2027학년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</a:t>
            </a:r>
            <a:endParaRPr lang="en-US" sz="5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입학안내문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통합판 — 유학 경로 · 대학 · 입학 절차 · 비자 · 예산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8463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듀얼 디그리 · 트위닝 · ADTP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8463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8463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입학 1·2·4·9월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MALAYSIA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말레이시아인가?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배우고, 영국·호주 학위를 본교보다 낮은 비용으로 취득하며, 한국인이 적응하기 수월한 다인종 사회라는 세 가지가 맞물립니다.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환경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 수업은 전 과목 영어로 진행되며 공식 비즈니스 언어도 영어입니다. 영미권 교육기관과 학위 연계가 폭넓습니다.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01568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93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93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39312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경제적인 유학비용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639312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학비가 국내 사립대와 비슷한 수준(약 900만~1,800만 원)이며, 해외 프로그램도 본교 대비 낮은 금액으로 취득할 수 있습니다.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진로 옵션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자체 학위와 해외대학 연계 프로그램(트위닝 · 트랜스퍼 · 복수 학위)을 함께 운영합니다.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924544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9162288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62288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62288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유학생활 적응 용이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62288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국가이자 다인종 사회로 한국인 선호도가 높고 문화적 적응이 비교적 수월합니다.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UNIVERSITY TYPES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유형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말레이시아는 연 3회 입학 기회와 해외대학 연계 진로를 동시에 갖춘 사립대학교 경로를 추천합니다.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국립대학교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말라야 대학교 (UM)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1회 (하반기)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500만 원 / 연간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수업이나 말레이어가 필수 교양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34256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0288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사립대학교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004304" y="2029968"/>
            <a:ext cx="658368" cy="292608"/>
          </a:xfrm>
          <a:prstGeom prst="roundRect">
            <a:avLst>
              <a:gd name="adj" fmla="val 12500"/>
            </a:avLst>
          </a:prstGeom>
          <a:solidFill>
            <a:srgbClr val="C08A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04304" y="202996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추천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590288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3회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900만~1,800만 원 / 연간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 명문대 연계 진로 선택 가능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84464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84464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284464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1~2회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4464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284464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1,200만~1,800만 원 / 연간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284464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284464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본교 교환학생 자유, 학비가 높은 편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PATHWAYS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학위로 가는 세 가지 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차이는 두 가지입니다 — 어디서 공부하는가, 그리고 학위증을 누가 몇 장 주는가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026664"/>
                <a:gridCol w="3026664"/>
                <a:gridCol w="3026664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듀얼 디그리 (복수 학위)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트위닝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ADTP (학점 이전)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공부하는 곳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말레이시아에서 전 과정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+ 해외 본교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1~2년 + 미국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2장 (말레이시아 + 해외)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(해외 본교)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(편입한 미국 대학)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(선택 가능)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 확정 시점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시 확정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시 확정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매년 새로 지원 · 합격 보장 없음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높음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 대상 국가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미국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호주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미국 · 캐나다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806440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806440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중요한 차이 — 트위닝은 입학 시점에 해외 본교 프로그램에 이미 등록되어 경로가 확정됩니다. ADTP는 매년 새로 지원해야 하고 합격이 보장되지 않습니다.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TWINNING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 제도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대학에서 해외 본교 학위 과정을 이수하고, 해외 본교 명의의 학위를 받는 제도입니다.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18872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3+0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3년 + 해외 0년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본교 또는 복수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2년 + 해외 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1년 + 해외 2년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2+2 · 1+3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4년제 과정 (공학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 이수 후 편입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편입 대학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23760" y="18288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구간별 연간 학비</a:t>
            </a:r>
            <a:endParaRPr lang="en-US" sz="14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2176272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81912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27,000~54,000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900만~1,800만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£15,000~30,000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2,670만~5,340만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A$20,000~45,000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1,900만~4,275만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223760" y="3986784"/>
            <a:ext cx="4325112" cy="1005840"/>
          </a:xfrm>
          <a:prstGeom prst="roundRect">
            <a:avLst>
              <a:gd name="adj" fmla="val 6364"/>
            </a:avLst>
          </a:prstGeom>
          <a:solidFill>
            <a:srgbClr val="F5EED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443216" y="4114800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결론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443216" y="437083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3+0 이 압도적으로 유리합니다. 해외 본교에서 보내는 1년마다 학비가 2~3배로 뜁니다.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029200"/>
            <a:ext cx="6309360" cy="566928"/>
          </a:xfrm>
          <a:prstGeom prst="roundRect">
            <a:avLst>
              <a:gd name="adj" fmla="val 11290"/>
            </a:avLst>
          </a:prstGeom>
          <a:solidFill>
            <a:srgbClr val="F1EDE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96112" y="5029200"/>
            <a:ext cx="5797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기준  £1 ≈ 1,780원  ·  A$1 ≈ 950원  ·  RM 1 ≈ 339원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환율은 안내 시점 기준입니다. 설명 당일 환율로 다시 계산하고 기준일을 표기하십시오.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DUAL DEGREE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— 학위증을 두 장 받는다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전 과정을 마치고, 두 대학이 각각 학위를 수여하는 구조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108960" cy="822960"/>
          </a:xfrm>
          <a:prstGeom prst="roundRect">
            <a:avLst>
              <a:gd name="adj" fmla="val 7778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전 과정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85616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33088" y="1828800"/>
            <a:ext cx="3108960" cy="822960"/>
          </a:xfrm>
          <a:prstGeom prst="roundRect">
            <a:avLst>
              <a:gd name="adj" fmla="val 7778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15968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학위증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278624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26096" y="1828800"/>
            <a:ext cx="3108960" cy="822960"/>
          </a:xfrm>
          <a:prstGeom prst="roundRect">
            <a:avLst>
              <a:gd name="adj" fmla="val 7778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08976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대학 학위증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834640"/>
            <a:ext cx="5358384" cy="2286000"/>
          </a:xfrm>
          <a:prstGeom prst="roundRect">
            <a:avLst>
              <a:gd name="adj" fmla="val 3200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299923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× 랭커스터 대학교 (영국)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364992"/>
            <a:ext cx="4809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비용 없음 · 기본 등록금 포함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803904"/>
            <a:ext cx="4809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2006년부터 이어온 파트너십으로 영국–말레이시아 대학 간 최대 규모입니다. 7,000명 이상이 31개 학위 과정에서 공부했습니다. 졸업 시 선웨이·랭커스터 2개 학위증을 받고 양교 동문 자격을 갖습니다.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랭커스터 협력 프로그램(경영·컴퓨팅·심리 등)에 한합니다.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2834640"/>
            <a:ext cx="5358384" cy="2286000"/>
          </a:xfrm>
          <a:prstGeom prst="roundRect">
            <a:avLst>
              <a:gd name="adj" fmla="val 3200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64808" y="299923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× UWE 브리스톨(영국) · QUT(호주)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3364992"/>
            <a:ext cx="4809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 · 컴퓨팅 계열 중심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3803904"/>
            <a:ext cx="4809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UWE 브리스톨, 호주 퀸즐랜드공대(QUT)와 복수 학위(Dual Award)를 운영합니다. 과정을 마치면 테일러스와 파트너 대학 학위증을 함께 받습니다.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학과가 한정되어 있으므로 지망 전공이 대상인지 반드시 확인하십시오.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285232"/>
            <a:ext cx="10911535" cy="548640"/>
          </a:xfrm>
          <a:prstGeom prst="roundRect">
            <a:avLst>
              <a:gd name="adj" fmla="val 11667"/>
            </a:avLst>
          </a:prstGeom>
          <a:solidFill>
            <a:srgbClr val="F7EBE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5285232"/>
            <a:ext cx="103994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오해 방지 — 학위증이 두 장이어도 학비가 두 배는 아닙니다. 한 과정을 이수하고 두 기관이 각각 수여합니다.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Lancaster University — Sunway Partnership · Taylor's University — Dual Awards · UWE Bristol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학점 이전 편입 — American Degree Transfer Program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미국 학점을 쌓은 뒤 미국 대학 3학년으로 편입합니다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108960" cy="877824"/>
          </a:xfrm>
          <a:prstGeom prst="roundRect">
            <a:avLst>
              <a:gd name="adj" fmla="val 7292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ADTP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 · 교양 + 기초 전공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785616" y="2139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33088" y="1828800"/>
            <a:ext cx="3108960" cy="877824"/>
          </a:xfrm>
          <a:prstGeom prst="roundRect">
            <a:avLst>
              <a:gd name="adj" fmla="val 7292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15968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편입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15968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 · 전공 심화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278624" y="2139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26096" y="1828800"/>
            <a:ext cx="3108960" cy="877824"/>
          </a:xfrm>
          <a:prstGeom prst="roundRect">
            <a:avLst>
              <a:gd name="adj" fmla="val 7292"/>
            </a:avLst>
          </a:prstGeom>
          <a:solidFill>
            <a:srgbClr val="1347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08976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학위증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808976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대학 명의 1장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2889504"/>
            <a:ext cx="5358384" cy="2066544"/>
          </a:xfrm>
          <a:prstGeom prst="roundRect">
            <a:avLst>
              <a:gd name="adj" fmla="val 3540"/>
            </a:avLst>
          </a:prstGeom>
          <a:solidFill>
            <a:srgbClr val="F1ED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3035808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미국 과정 개설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4670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3291840" y="356616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올해로 39년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096512"/>
            <a:ext cx="48097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웨스턴미시간대와의 트위닝으로 출발해, 2010~2012년에 여러 대학으로 편입할 수 있는 Transfer 방식으로 전환했습니다.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90488" y="2889504"/>
            <a:ext cx="5358384" cy="2066544"/>
          </a:xfrm>
          <a:prstGeom prst="roundRect">
            <a:avLst>
              <a:gd name="adj" fmla="val 3540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64808" y="3035808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— ADTP 개설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334670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8842248" y="356616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올해로 30년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4096512"/>
            <a:ext cx="48097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이래 5,000명 이상이 미국 상위권 대학으로 편입했다고 학교는 밝히고 있습니다. 전공 12개 계열로 폭이 넓습니다.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084064"/>
            <a:ext cx="10911535" cy="822960"/>
          </a:xfrm>
          <a:prstGeom prst="roundRect">
            <a:avLst>
              <a:gd name="adj" fmla="val 7778"/>
            </a:avLst>
          </a:prstGeom>
          <a:solidFill>
            <a:srgbClr val="F7EBE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96112" y="5175504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함께 안내할 것 — ADTP는 합격 보장이 아닙니다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" y="5449824"/>
            <a:ext cx="103994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트위닝과 달리 매년 미국 대학에 새로 지원해야 하며, 과목 실라버스가 목표 대학과 맞지 않으면 학점이 인정되지 않아 미국에서 다시 들어야 합니다. 입학 초기부터 전담 어드바이저와 과목 매핑을 문서로 확인하십시오.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— Center for American Education 연혁 · Taylor's University — ADTP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PLACEMENTS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편입 사례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공개한 실제 편입 기록입니다. 출처 성격을 함께 밝혀 주십시오.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학교 공개 동문 사례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5358384" cy="566928"/>
          </a:xfrm>
          <a:prstGeom prst="roundRect">
            <a:avLst>
              <a:gd name="adj" fmla="val 806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2194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Aaron Arul A/L Patrick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애리조나주립대 (ASU)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219456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852928"/>
            <a:ext cx="535838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" y="285292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 Xiang Ting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8529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미시간대 앤아버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65776" y="285292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커뮤니케이션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11296"/>
            <a:ext cx="5358384" cy="566928"/>
          </a:xfrm>
          <a:prstGeom prst="roundRect">
            <a:avLst>
              <a:gd name="adj" fmla="val 806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9536" y="351129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Christian Trey Jackson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5112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드레이크대학교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65776" y="351129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마케팅경영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190488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— 학교 공개 편입 대학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90488" y="224942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90488" y="2267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74536" y="2194560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퍼듀대학교 웨스트라피엣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0488" y="274320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90488" y="276148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574536" y="2688336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미시간대 앤아버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190488" y="323697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90488" y="32552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574536" y="3182112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일리노이대 어배너-섐페인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90488" y="373075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90488" y="37490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574536" y="3675888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미네소타대 트윈시티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190488" y="4261104"/>
            <a:ext cx="5358384" cy="621792"/>
          </a:xfrm>
          <a:prstGeom prst="roundRect">
            <a:avLst>
              <a:gd name="adj" fmla="val 10294"/>
            </a:avLst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09944" y="43159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5,000명+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4261104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테일러스가 밝힌 미국 상위권 대학 누적 편입 인원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084064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96112" y="517550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표현에 주의 — "편입 실적"과 "공식 연계"는 다릅니다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96112" y="544982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학생이 코넬·NYU·보스턴대·펜스테이트·위스콘신·퍼듀로 편입한 기록은 있으나, 이는 개별 학생의 합격 결과이지 학교 간 공식 연계나 편입 보장 협약이 아닙니다. "코넬·NYU 편입 가능"이라는 식의 안내는 과장이므로 쓰지 마시고, "편입 실적이 보고된 대학"으로 표현하십시오.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ADTP 동문 페이지 · Taylor's University — Successful University Placements / University Transfers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INTAKE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입학 시기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시기가 전체 일정을 결정합니다. 원서는 개강 12~16주 전에 접수해야 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50831" y="548640"/>
            <a:ext cx="1700784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50831" y="54864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확인 완료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358384" cy="2468880"/>
          </a:xfrm>
          <a:prstGeom prst="roundRect">
            <a:avLst>
              <a:gd name="adj" fmla="val 2963"/>
            </a:avLst>
          </a:prstGeom>
          <a:solidFill>
            <a:srgbClr val="F1EDE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1993392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(본과) 입학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2542032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42032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169664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169664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51129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입학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767328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FIA · FIST  1월 · 4월 · 8월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 1월 · 7월 · 8월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90488" y="1828800"/>
            <a:ext cx="5358384" cy="2468880"/>
          </a:xfrm>
          <a:prstGeom prst="roundRect">
            <a:avLst>
              <a:gd name="adj" fmla="val 2963"/>
            </a:avLst>
          </a:prstGeom>
          <a:solidFill>
            <a:srgbClr val="F1EDE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4808" y="1993392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(본과) 입학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64808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64808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8092440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92440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720072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720072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464808" y="351129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입학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3767328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4월 · 8월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5358384" cy="1371600"/>
          </a:xfrm>
          <a:prstGeom prst="roundRect">
            <a:avLst>
              <a:gd name="adj" fmla="val 5333"/>
            </a:avLst>
          </a:prstGeom>
          <a:solidFill>
            <a:srgbClr val="F5EED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400" y="460857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A플랜이 1~2월인 이유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4882896"/>
            <a:ext cx="48097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1월, 테일러스 2월 입학이 가장 여유 있는 진입 시기입니다. 검정고시 1회(4월) → 영사확인 → 어학 → 10월 원서 순으로 무리 없이 이어집니다.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190488" y="4480560"/>
            <a:ext cx="5358384" cy="1371600"/>
          </a:xfrm>
          <a:prstGeom prst="roundRect">
            <a:avLst>
              <a:gd name="adj" fmla="val 5333"/>
            </a:avLst>
          </a:prstGeom>
          <a:solidFill>
            <a:srgbClr val="F7EBE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4808" y="460857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입학을 택할 때 주의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464808" y="4882896"/>
            <a:ext cx="48097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9월은 두 학교 공통 인테이크지만 전 세계 지원이 몰리는 피크입니다. 인기 학과는 외국인 정원이 먼저 차고 EMGS 심사도 밀립니다. 최소 16주 전 접수를 권합니다.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학사·파운데이션 입학 시기는 두 학교에 직접 문의해 확인한 내용입니다.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대학 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  Taylor's University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1969년 설립된 말레이시아 최상위권 사립대학교입니다. 호텔·관광 분야는 7년 연속 세계 Top 20~30위권을 유지하고 있으며, 80~90개국 다국적 학생이 재학 중입니다.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#272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 순위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1752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1868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2위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9612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#26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559612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세계 순위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8월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고교 졸업 또는 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60~78) / 파운데이션 IELTS 5.0~5.5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호텔경영·관광(세계 #26위), 경영학 계열 전체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공학사(기계·화학 등), BSc 이학사(약학·데이터사이언스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120학점 내외 (경영·호텔) / 4년제 130~140학점 (공대·약대)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원문의 "말레이시아 사립대 1위" 표현은 사실과 달라 2위로 바로잡았습니다.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TAYLOR'S — 학비 및 글로벌 학위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학비와 진학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모든 금액은 링깃(RM)과 원화로 통일했습니다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2377440"/>
                <a:gridCol w="2560320"/>
                <a:gridCol w="249905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44,044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국제호텔경영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133,146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기계공학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200,736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기계공학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244,780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8,300만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1,660만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572000"/>
            <a:ext cx="3529584" cy="1133856"/>
          </a:xfrm>
          <a:prstGeom prst="roundRect">
            <a:avLst>
              <a:gd name="adj" fmla="val 5645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77824" y="470001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(Dual Award)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992624"/>
            <a:ext cx="3054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UWE 브리스톨(영국) · QUT(호주)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 · 컴퓨팅 계열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34256" y="4572000"/>
            <a:ext cx="3529584" cy="1133856"/>
          </a:xfrm>
          <a:prstGeom prst="roundRect">
            <a:avLst>
              <a:gd name="adj" fmla="val 5645"/>
            </a:avLst>
          </a:prstGeom>
          <a:solidFill>
            <a:srgbClr val="F1EDE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0" y="470001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 · 편입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4992624"/>
            <a:ext cx="3054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디킨·모나쉬·QUT·멜버른·남호주대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샐퍼드·UWE, 뉴질랜드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28432" y="4572000"/>
            <a:ext cx="3529584" cy="1133856"/>
          </a:xfrm>
          <a:prstGeom prst="roundRect">
            <a:avLst>
              <a:gd name="adj" fmla="val 5645"/>
            </a:avLst>
          </a:prstGeom>
          <a:solidFill>
            <a:srgbClr val="F1EDE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66176" y="470001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(학점 이전)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66176" y="4992624"/>
            <a:ext cx="3054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1996년 개설 · 미국 상위권 편입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보장 아님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RM 1 ≈ 339원 기준 · 5년은 파운데이션 1년 + 본과 4년 ·  2025년 7월부터 외국인 학비에 6% 서비스세(SST)가 별도 부과됩니다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대학 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  Sunway University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1987년 설립, Jeffrey Cheah 재단이 지원하는 사립대학교입니다. 90개국 이상의 다국적 학생이 재학 중입니다.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#354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 순위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1752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1868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상승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9612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$0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559612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복수학위 추가비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FIA · FIST (1·4·8월, 3학기 / 평가 출석·에세이·발표 50% + 시험 50%) · MUFY (1·7·8월, 2학기 / 70% + 30%)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고교 졸업 또는 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 이상) / 파운데이션·디플로마 IELTS 5.0~5.5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 인문사회과학 전반, BSc 경영학 · 호텔경영학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공학사(전자·화학 등), BSc 컴퓨터공학 · 바이오메디컬 · 순수과학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120학점 내외 (영국식) / 4년제 130~140학점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QS 354위와 THE 303위를 혼동하지 마십시오. 위 수치는 QS 2027 기준입니다.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— 학비 및 글로벌 학위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학비와 진학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달러 표기를 링깃으로 환산해 통일했습니다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2377440"/>
                <a:gridCol w="2560320"/>
                <a:gridCol w="249905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17,850~29,350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80,400~114,150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2,730만~3,870만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153,568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5,210만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1,300만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공학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171,418~182,918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5,810만~6,200만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1,160만~1,240만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133088"/>
            <a:ext cx="3529584" cy="1133856"/>
          </a:xfrm>
          <a:prstGeom prst="roundRect">
            <a:avLst>
              <a:gd name="adj" fmla="val 5645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77824" y="426110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— 랭커스터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553712"/>
            <a:ext cx="3054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학위증 · 양교 동문 자격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비용 없이 기본 등록금에 포함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34256" y="4133088"/>
            <a:ext cx="3529584" cy="1133856"/>
          </a:xfrm>
          <a:prstGeom prst="roundRect">
            <a:avLst>
              <a:gd name="adj" fmla="val 5645"/>
            </a:avLst>
          </a:prstGeom>
          <a:solidFill>
            <a:srgbClr val="F1EDE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0" y="426110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파트너십 — ASU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4553712"/>
            <a:ext cx="3054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Cintana Alliance 파트너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 이상 패스웨이 · 최대 90학점 이전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28432" y="4133088"/>
            <a:ext cx="3529584" cy="1133856"/>
          </a:xfrm>
          <a:prstGeom prst="roundRect">
            <a:avLst>
              <a:gd name="adj" fmla="val 5645"/>
            </a:avLst>
          </a:prstGeom>
          <a:solidFill>
            <a:srgbClr val="F1EDE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66176" y="426110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(학점 이전)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66176" y="4553712"/>
            <a:ext cx="3054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1987년 개설 · 2,000개 이상 대학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보장 아님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0080" y="5431536"/>
            <a:ext cx="10911535" cy="548640"/>
          </a:xfrm>
          <a:prstGeom prst="roundRect">
            <a:avLst>
              <a:gd name="adj" fmla="val 11667"/>
            </a:avLst>
          </a:prstGeom>
          <a:solidFill>
            <a:srgbClr val="F5EED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96112" y="5431536"/>
            <a:ext cx="103994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선웨이의 결정적 장점 — 랭커스터 복수 학위에 추가 비용이 없습니다. 영국에 가지 않고도 영국 학위를 받고, 등록금도 더 내지 않습니다.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RM 1 ≈ 339원 기준 · 경영계열은 학교가 달러로 표기한 금액을 환산한 값입니다 ·  2025년 7월부터 외국인 학비에 6% 서비스세(SST)가 별도 부과됩니다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ELIGIBILITY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지원 자격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네 가지 조건이 모두 준비된 학생만 지원 가능합니다.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리뉴젠 공동체 6개월 이상 훈련자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26464" y="23591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공동체 디렉터 추천서 제출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0488" y="1828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고등과정 학력 이수자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76872" y="23591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고교 12학년 졸업 : 내신 평균 70점 이상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고졸 검정고시 : 평균 80점 이상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34198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5021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33832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공인 점수 취득자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37307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5.5~6.0 이상 또는 TOEFL iBT 60점 이상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본과 직행 목표 시 IELTS 6.0 / TOEFL iBT 70점대 권장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0488" y="32004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6446520" y="34198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46520" y="35021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76872" y="33832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필말레이시아존 코스 수료자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37307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66344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475488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항목 주의 — 영어 점수가 가장 큰 변수입니다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5047488"/>
            <a:ext cx="103994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TOEFL iBT 60점은 IELTS 6.0의 하한선이므로 전공에 따라 미달될 수 있습니다. 본과 직행을 노린다면 70점대를 목표로 하십시오. 성적 유효기간은 2년입니다.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ADMISSION PROCESS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절차 6단계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 원서 접수 시점이 전체 일정을 좌우합니다. 개강 8주 전 마감이 원칙이며, 국제학생은 12~16주 전 접수를 권장합니다.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9933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디렉터 상담 후 입학 시기 결정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529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개인의 학력 조건에 맞추어 지망 학교와 학과를 설정합니다.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4256" y="18288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90288" y="19933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필말레이시아존 유학 과정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8529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과정을 통해 유학과 어학을 준비합니다.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28432" y="18288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84464" y="19933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 입학 신청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84464" y="28529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IM말레이시아에 필요한 서류를 준비하여 신청합니다.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1347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38221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 서류 준비 및 원서 접수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681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개강 최소 3개월 전 권장. 이 단계가 전체 일정을 결정합니다.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34256" y="36576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90288" y="38221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입학허가서(Offer Letter) 수령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681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 기준 1~2주 심사 후 발송. 수락 서명 후 재제출합니다.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28432" y="36576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84464" y="38221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신청 및 입국비자 진행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84464" y="4681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EMGS를 통해 학생 비자를 신청·대행합니다.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STUDENT VISA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발급 절차와 리드타임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비자 절차에 4~8주가 소요되므로, 입학 예정일 3~4개월 전에 시작해야 안전합니다.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8366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01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182880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 수령 및 서명 후 제출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0428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223113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서포팅레터 첨부 후 EMGS 비자신청서 제출 및 비용 납부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7066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6334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비자 서류 심사  (2~4주)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09067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1089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03580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최종 승인 여부 결정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493008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5112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43814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승인 후 비자허가서(VAL) 발급  — 합계 4~8주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89534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91363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384048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항공권 구매 후 입국 비자(SEV 또는 eVisa) 신청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29768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431596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424281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비자 승인 후 입국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70001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471830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464515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후 1주일 이내 현지 신체검사 진행 후 여권 제출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510235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51206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504748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스티커가 붙은 여권 수령  (제출 후 2~4주)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75120" y="1828800"/>
            <a:ext cx="4873752" cy="1865376"/>
          </a:xfrm>
          <a:prstGeom prst="roundRect">
            <a:avLst>
              <a:gd name="adj" fmla="val 3922"/>
            </a:avLst>
          </a:prstGeom>
          <a:solidFill>
            <a:srgbClr val="F7EBE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12864" y="1956816"/>
            <a:ext cx="4398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서류 인증 — 아포스티유가 아닙니다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912864" y="2286000"/>
            <a:ext cx="4398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말레이시아는 헤이그 아포스티유 협약 비가입국입니다.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한국에서 발급한 검정고시 합격증명서·성적증명서는 아포스티유가 아니라 영사확인(외교부 → 주한 말레이시아 대사관)을 밟아야 합니다.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75120" y="3858768"/>
            <a:ext cx="4873752" cy="914400"/>
          </a:xfrm>
          <a:prstGeom prst="roundRect">
            <a:avLst>
              <a:gd name="adj" fmla="val 8000"/>
            </a:avLst>
          </a:prstGeom>
          <a:solidFill>
            <a:srgbClr val="F1EDE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12864" y="3968496"/>
            <a:ext cx="4398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귀국·편입 시에도 동일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912864" y="4242816"/>
            <a:ext cx="4398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대학 편입 시에도 말레이시아 대학 서류는 주말레이시아 한국대사관 영사확인이 필요합니다.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675120" y="4937760"/>
            <a:ext cx="4873752" cy="786384"/>
          </a:xfrm>
          <a:prstGeom prst="roundRect">
            <a:avLst>
              <a:gd name="adj" fmla="val 9302"/>
            </a:avLst>
          </a:prstGeom>
          <a:solidFill>
            <a:srgbClr val="F5EED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912864" y="5047488"/>
            <a:ext cx="4398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일정에 2~3주를 더 잡으십시오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912864" y="5303520"/>
            <a:ext cx="4398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영사확인 절차에만 2~3주가 추가로 듭니다. 검정고시 합격 발표 직후 착수해야 합니다.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말레이시아는 헤이그 아포스티유 협약 비가입국 — 영사 인증(consular legalisation) 체계를 유지합니다.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 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 · 1~2월 입학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1월 · 테일러스 2월 — 가장 여유 있는 최적 진입 시기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702552"/>
                <a:gridCol w="3017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고졸 검정고시 제1회 원서 접수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시·도 교육청 공고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제1회 응시 (평균 80점 이상 목표)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시험일 4월 초·중순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05 중순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합격자 발표 → 영문 합격증명서·성적증명서 발급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 후 영사확인 절차 착수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05~10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영어 몰입 훈련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1차 응시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미달 시 10월 재응시 (성적 유효 2년)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 원서 접수 (선웨이 1월 / 테일러스 2월)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개강 12~16주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10~11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신청 및 심사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 소요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Offer Letter · VAL 수령 → eVisa 신청, 항공권 예약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출국 최종 점검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 / 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선웨이(1월) · 테일러스(2월) 정식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여유 있는 최적 진입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 B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 · 4월 입학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· 테일러스 공통 — 한국 학제 졸업 후 가장 빠른 입학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702552"/>
                <a:gridCol w="3017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고졸 검정고시 제2회 원서 접수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시·도 교육청 공고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제2회 응시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시험일 8월 초·중순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영문 증명서 발급 + 영사확인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 후 영사확인 절차 착수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09~02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영어 몰입 훈련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11~12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1차 응시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미달 시 12월 재응시 (성적 유효 2년)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12~01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 원서 접수 (4월 개강)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개강 12~16주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01~02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심사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Offer Letter · VAL 수령 → eVisa 신청, 항공권 예약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출국 최종 점검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· 테일러스 4월 정식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 학제 졸업 후 가장 빠른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961888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7EB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961888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B플랜의 최대 약점은 어학 확보 기간이 짧다는 것입니다. 무리하지 말고 C플랜(9월 입학)을 예비로 준비해 두십시오.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장학금을 하나도 넣지 않은 금액입니다. 성적우수자 장학 혜택이 별도로 있습니다.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43784"/>
                <a:gridCol w="2843784"/>
                <a:gridCol w="2843784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910만~1,290만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1,430만~1,710만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(1회)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소계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3,500만~3,600만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2·3년 3,000만~3,100만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3,000만~3,300만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2·3년 2,500만~2,800만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3,500만~3,900만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이후 3,000만~3,400만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수학 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본과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9,500만~9,800만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8,000만~8,900만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5,500만~1억 7,500만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943600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943600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이전 공동체 입학금을 최대 200만 원까지 인정합니다. 공대 지망자는 반드시 5년 예산으로 잡으십시오.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설명회 전에 확인할 것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아래는 학교·기관에 직접 확인해 확정해야 하는 항목입니다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학과별 지원 마감일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시기는 확인 완료. 학과별 원서 마감일만 추가 확인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90488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11112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검정고시로 본과 직행 가능 여부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11112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입학처 서면 회신 확보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743200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77063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" y="26700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학위·트위닝 운영 학과 목록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29809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학과가 아니므로 지망 전공 포함 여부 확인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90488" y="2743200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90488" y="277063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26700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— 연간인지 총액인지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29809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Fees Schedule 원본으로 대조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58444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6118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" y="35112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영사확인 절차와 소요 기간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" y="3822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외교부 → 주한 말레이시아 대사관 최신 안내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90488" y="358444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90488" y="36118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611112" y="35112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기준일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611112" y="3822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당일 환율로 원화 환산표 재작성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535424"/>
            <a:ext cx="10911535" cy="1280160"/>
          </a:xfrm>
          <a:prstGeom prst="roundRect">
            <a:avLst>
              <a:gd name="adj" fmla="val 5714"/>
            </a:avLst>
          </a:prstGeom>
          <a:solidFill>
            <a:srgbClr val="1347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400" y="4645152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4901184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입학안내문 2027 원본  ·  Sunway University — School of American Education / Center for American Education 연혁 / ADTP 동문  ·  Lancaster University — Sunway Partnership  ·  Taylor's University — ADTP, Successful University Placements, University Transfers, Dual Awards  ·  UWE Bristol  ·  헤이그 아포스티유 협약 가입국 현황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88736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학사·파운데이션 입학 시기와 과정 구성은 학교 문의로 확인된 내용입니다. 학비·순위 등 나머지 수치는 원본 안내문과 3자 집계 자료 기준이므로, 대외 배포 전 위 6개 항목을 확정하십시오.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 말레이시아 입학안내문 2027 통합판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2026-09-21T05:07:57Z</dcterms:created>
  <dcterms:modified xsi:type="dcterms:W3CDTF">2026-09-21T05:07:57Z</dcterms:modified>
</cp:coreProperties>
</file>