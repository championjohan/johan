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1편(사립 명문)과 2편(해외 직영 캠퍼스)을 하나로 합친 완성본입니다. 전체 설명회는 90~120분, 개별 상담은 필요한 파트만 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진행자용입니다. 학부모에게는 "오늘 이 순서로 갑니다" 정도로 짧게 넘기십시오.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아시아의 학부모들은 이미 이 답을 찾았습니다. 한국이 늦은 편이라는 점을 말씀하십시오.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장이 1편과 2편을 가르는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학부모가 가장 헷갈리는 지점입니다. 경로 확정 시점 행을 강조하십시오.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띄우고 "우리 아이 전공이 뭐냐"부터 물으십시오. 강세 행에서 답이 좁혀집니다.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테일러스의 결정적 강점은 호텔·관광 세계 26위입니다. 이 분야면 아시아에서 더 나은 선택지가 거의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선웨이의 결정적 장점은 랭커스터 복수 학위에 추가 비용이 없다는 점입니다. 그리고 MUFY를 선웨이가 운영한다는 사실도 꼭 짚으십시오.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줄이 검정고시 학생의 자리입니다. MUFY는 선웨이 칼리지에서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③번이 실무에서 자주 걸립니다. 집에서 보는 온라인 시험 점수는 받지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모나쉬만 국가명과 커트라인(60%)을 명시했습니다. 상담에서 바로 인용하실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A안이 핵심입니다. 1편의 선웨이·테일러스 파운데이션이 노팅엄으로 가는 디딤돌이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학부모가 가장 먼저 묻는 것이 "언제 들어가느냐"입니다. 이 표 한 장으로 답하십시오.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금액부터 말하면 학부모가 혼란스러워합니다. 왼쪽 네 가지를 먼저 맞추고 표로 들어가십시오.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짧고 저렴한 조합은 모나쉬 DHES 3년입니다. 다만 공학은 DHES가 안 되므로 MUFY 경로로 5년이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"1년차 소계 (입학비 제외)" 행을 먼저 보여 주십시오. 입학비를 빼면 1년차가 2년차보다 싸다는 것이 바로 보입니다. 마지막 행이 학부모가 실제로 알고 싶은 숫자입니다.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영어 점수가 가장 큰 변수입니다. 여유를 두는 편이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아포스티유는 말레이시아에 통하지 않습니다. 이전 안내문에 아포스티유로 적힌 부분이 있다면 모두 정정하십시오.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실수가 원서를 늦게 내는 것입니다. 12~16주 전 접수를 못 맞추면 다음 인테이크로 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상담의 순서는 전공 → 목표 학위 국가 → 예산입니다. 학교 이름부터 꺼내지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내부용입니다. 학부모 배포본에서는 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2027학년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</a:t>
            </a:r>
            <a:endParaRPr lang="en-US" sz="5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입학안내문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완성본 — 사립 명문 2개교 · 해외 직영 캠퍼스 2개교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65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사립 명문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· 노팅엄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5065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· 영국 직영 캠퍼스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· GED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5065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경로 총정리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996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· 말레이시아 지부   |   2026년 10월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USE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구성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파트만 떼어 쓰셔도 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0116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말레이시아인가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7432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· 대학 유형 · 세 가지 학위 경로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F1ED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20116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 대학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7432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 · 모나쉬 · 노팅엄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182880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F1ED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20116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검정고시와 GED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7432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학교별 인정 여부와 우회 경로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F1ED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3749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돈과 일정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4805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· 총 예산 · 입학 시기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4256" y="356616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F1ED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90288" y="3749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4805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자격 · 절차 · 비자 · 타임라인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28432" y="356616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84464" y="3749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44805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선택 가이드 · 확인 항목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394960"/>
            <a:ext cx="10911535" cy="438912"/>
          </a:xfrm>
          <a:prstGeom prst="roundRect">
            <a:avLst>
              <a:gd name="adj" fmla="val 12500"/>
            </a:avLst>
          </a:prstGeom>
          <a:solidFill>
            <a:srgbClr val="F5EED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5394960"/>
            <a:ext cx="103994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설명회 90~120분  ·  개별 상담 30분이면 PART 3 → 4 → 6만 보셔도 됩니다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spc="200" kern="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MALAYSIA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말레이시아인가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개요와 유학 시장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유형 세 가지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 경로 세 가지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MALAYSIA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말레이시아인가?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배우고, 영국·호주 학위를 본교보다 낮은 비용으로 취득하며, 한국인이 적응하기 수월한 다인종 사회입니다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96896" cy="320040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환경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2004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사립대 수업은 전 과목 영어로 진행되며 공식 비즈니스 언어도 영어입니다. 영미권 교육기관과 학위 연계가 폭넓습니다.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1568" y="1828800"/>
            <a:ext cx="2596896" cy="320040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9312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9312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경제적인 유학비용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2004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학비가 국내 사립대와 비슷한 수준이며, 해외 학위도 본교 대비 낮은 금액으로 취득할 수 있습니다.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828800"/>
            <a:ext cx="2596896" cy="320040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진로 옵션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2004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학위와 해외대학 연계(복수 학위 · 트위닝 · 학점 이전)를 함께 운영합니다.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24544" y="1828800"/>
            <a:ext cx="2596896" cy="320040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9162288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62288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유학생활 적응 용이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32004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국가이자 다인종 사회로 문화적 적응이 비교적 수월하고, 인천에서 6시간 30분 · 시차 1시간입니다.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193792"/>
            <a:ext cx="10911535" cy="621792"/>
          </a:xfrm>
          <a:prstGeom prst="roundRect">
            <a:avLst>
              <a:gd name="adj" fmla="val 10294"/>
            </a:avLst>
          </a:prstGeom>
          <a:solidFill>
            <a:srgbClr val="F5EED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5193792"/>
            <a:ext cx="1039947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유학생 25만 명 목표에 이미 15만 명 돌파 — 2년이 채 안 되는 기간에 63% 증가했습니다. 중국 학생만 연 3만 명이 갑니다.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Malay Mail · ICEF Monitor · EMGS International Student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UNIVERSITY TYPES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 유형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말레이시아는 사립 명문과 해외 직영 캠퍼스 두 갈래를 추천합니다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국립대학교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말라야 대학교 (UM)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1회 (하반기)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730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500만 원 / 연간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224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443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수업이나 말레이어가 필수 교양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4256" y="182880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0288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 명문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004304" y="2029968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C08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4304" y="20299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추천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3회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3730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900만~1,800만 원 / 연간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4224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443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학위 + 해외대 연계 (복수 학위 · 트위닝 · ADTP)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28432" y="182880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1347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84464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직영 캠퍼스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0698480" y="2029968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C08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98480" y="20299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추천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84464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· 노팅엄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84464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연 3회 / 노팅엄 9월 중심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284464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284464" y="3730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1,700만~2,300만 원 / 연간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284464" y="4224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284464" y="4443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호주·영국 본교 학위가 그대로 나옴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5193792"/>
            <a:ext cx="10911535" cy="621792"/>
          </a:xfrm>
          <a:prstGeom prst="roundRect">
            <a:avLst>
              <a:gd name="adj" fmla="val 10294"/>
            </a:avLst>
          </a:prstGeom>
          <a:solidFill>
            <a:srgbClr val="F5EED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6112" y="5193792"/>
            <a:ext cx="1039947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 명문은 "말레이시아 학위 + 해외 학위"를 설계하는 구조이고, 직영 캠퍼스는 처음부터 해외 본교 학위 하나입니다.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PATHWAYS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학위로 가는 세 가지 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두 가지 — 어디서 공부하는가, 학위증을 누가 몇 장 주는가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26664"/>
                <a:gridCol w="3026664"/>
                <a:gridCol w="302666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복수 학위 (듀얼디그리)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트위닝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학점 이전 (ADTP)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공부하는 곳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말레이시아에서 전 과정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+ 해외 본교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1~2년 + 미국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받는 학위증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2장 (말레이시아 + 해외)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(해외 본교)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(편입한 미국 대학)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체류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(선택 가능)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 확정 시점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 시 확정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 시 확정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매년 새로 지원 · 합격 보장 없음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낮음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높음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사례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× 랭커스터 (추가비 없음)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3+0 · 2+1 · 1+2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1987 · 테일러스 1996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806440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F7EB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806440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차이 — 트위닝은 입학 시점에 해외 본교 프로그램에 등록되어 경로가 확정됩니다. ADTP는 매년 새로 지원해야 하고 합격이 보장되지 않습니다.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직영 캠퍼스(모나쉬·노팅엄)는 입학 순간부터 본교 학위 과정이므로 이 세 경로가 적용되지 않습니다.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spc="200" kern="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UNIVERSITIES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 대학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 명문 — 테일러스 · 선웨이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캠퍼스 — 모나쉬 · 노팅엄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 · 학비 · 진학 경로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 대학 한눈에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2026~2027 공식 자료 기준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67712"/>
                <a:gridCol w="2267712"/>
                <a:gridCol w="2267712"/>
                <a:gridCol w="22704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말레이시아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말레이시아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사립 명문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사립 명문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호주 모나쉬대 직영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노팅엄대 직영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1969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칼리지 1987 → 대학 2011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1998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캠퍼스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수방자야 레이크사이드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선웨이시티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반다르선웨이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스므니 · 48ha 열대우림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QS 2027 세계 #272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QS 2027 세계 #354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QS 2027 세계 #31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QS 2027 영국 #16 · 세계 #97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호텔·관광 세계 26위, 디자인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회계·금융, 계리학, CS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공학, 의학, 경영, 이학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공학, 약학, 경영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 (공학 4년)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 (공학 4년)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 (공학 4년)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 (일부 4년)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학위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ADTP · UWE · QUT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랭커스터 복수학위 · ASU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호주 본교 학위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본교 학위 · 2+1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모나쉬·노팅엄 순위는 본교 기준입니다. 직영 캠퍼스라 본교 학위가 나오므로 과장은 아니지만 캠퍼스 자체의 순위는 아닙니다.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TAYLOR'S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대학교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1969년 설립 · 80~90개국 다국적 학생 · 호텔·관광 7년 연속 세계 Top 20~30위권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#272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사립대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45936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호텔경영 세계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07424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07424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개설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 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9월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8월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영어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IELTS 6.0 (= TOEFL iBT 60~78) / 파운데이션 IELTS 5.0~5.5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직행 가능 계열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호텔경영·관광(세계 26위), 경영학 계열 전체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필수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BEng 공학사(기계·화학 등), BSc 이학사(약학·데이터사이언스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학위 경로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ADTP(미국 편입, 1996년 개설) · UWE 브리스톨·QUT 복수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원문의 "말레이시아 사립대 1위" 표현은 사실과 달라 2위로 바로잡았습니다.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대학교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칼리지 1987 → 2011년 대학 승격 · 90개국 이상 · 몰·병원·경전철이 도보권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#354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+50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대비 상승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45936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 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복수학위 추가비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07424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07424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과정 개설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 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9월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FIA · FIST 1·4·8월  |  MUFY 1·7·8월 (모나쉬 진학용)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영어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IELTS 6.0 (= TOEFL iBT 60 이상) / 파운데이션·디플로마 IELTS 5.0~5.5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직행 가능 계열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 인문사회과학 전반, BSc 경영학 · 호텔경영학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필수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BEng 공학사(전자·화학 등), BSc 컴퓨터공학 · 바이오메디컬 · 순수과학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학위 경로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랭커스터 복수 학위(추가비 없음) · ASU Cintana · ADTP(1987년 개설)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40080" y="5705856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5EED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6112" y="5705856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칼리지는 모나쉬의 MUFY도 운영합니다 — 선웨이에서 공부하다 모나쉬로 가는 경로가 여기서 열립니다.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MONASH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말레이시아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모나쉬대 직영 캠퍼스 · 8개 캠퍼스 4개국 · 92개국 출신 학생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14255" y="54864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14255" y="548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프로스펙터스 p.10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1F6B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1920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12학년 수준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21284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A-Level · IB · STPM · UEC · 캐나다 12학년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0848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54096" y="1828800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F1ED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18688" y="1828800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과정 없음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0848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16368" y="1828800"/>
            <a:ext cx="4032504" cy="786384"/>
          </a:xfrm>
          <a:prstGeom prst="roundRect">
            <a:avLst>
              <a:gd name="adj" fmla="val 6977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1828800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1학년 직행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A841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28346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11학년 수준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12724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SPM · O-Level · 한국 검정고시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54096" y="2743200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F1ED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18688" y="2743200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— 파운데이션 1년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(선웨이 칼리지에서 이수)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16368" y="2743200"/>
            <a:ext cx="4032504" cy="786384"/>
          </a:xfrm>
          <a:prstGeom prst="roundRect">
            <a:avLst>
              <a:gd name="adj" fmla="val 6977"/>
            </a:avLst>
          </a:prstGeom>
          <a:solidFill>
            <a:srgbClr val="1347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2743200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1학년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657600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C08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37490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 미달 시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404164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 입학 요건에 못 미치는 경우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39136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54096" y="3657600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F1ED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18688" y="3657600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DHES 1년 (모나쉬 운영)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14032" y="39136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16368" y="3657600"/>
            <a:ext cx="4032504" cy="786384"/>
          </a:xfrm>
          <a:prstGeom prst="roundRect">
            <a:avLst>
              <a:gd name="adj" fmla="val 6977"/>
            </a:avLst>
          </a:prstGeom>
          <a:solidFill>
            <a:srgbClr val="1347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80960" y="3657600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2학년 + Graduate Certificate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663440"/>
            <a:ext cx="5358384" cy="1152144"/>
          </a:xfrm>
          <a:prstGeom prst="roundRect">
            <a:avLst>
              <a:gd name="adj" fmla="val 5556"/>
            </a:avLst>
          </a:prstGeom>
          <a:solidFill>
            <a:srgbClr val="F5EED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4400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DHES — 기간 손해가 없습니다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이수 후 Graduate Certificate를 받고 학부 2학년 진입. 학사와 같은 총 3년에 자격 두 개를 받습니다. 진급 조건은 WAM 50 (정보기술 60).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0488" y="4663440"/>
            <a:ext cx="5358384" cy="1152144"/>
          </a:xfrm>
          <a:prstGeom prst="roundRect">
            <a:avLst>
              <a:gd name="adj" fmla="val 5556"/>
            </a:avLst>
          </a:prstGeom>
          <a:solidFill>
            <a:srgbClr val="F7EBE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64808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지망자 주의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DHES로는 공학 2학년 진입이 안 됩니다 (각주 4: Monash College Diploma Part 2 이수자만). 말레이시아에서 공학은 MUFY → 공학 1학년(4년) 경로입니다.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Monash University Malaysia Undergraduate Prospectus 2027, p.10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NOTTINGHAM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말레이시아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노팅엄대 직영 캠퍼스 · 러셀그룹 창립 멤버 · 재학생 4,000명 · 74개국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#16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영국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4,000+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45936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2+1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본교 이동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07424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4년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07424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MEng · RM 67,000/년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17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Nottingham Foundation Programme — 1년 (2학기) · 4월·9월 · RM 38,000 (과정 전체) · 150학점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64992"/>
          <a:ext cx="535838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47672"/>
                <a:gridCol w="19476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영어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In-Sessional 포함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In-Sessional 없이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 (각 5.0↑)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 (각 5.5↑)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TOEFL iBT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PTE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 (각 53↑)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 (각 59↑)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3364992"/>
          <a:ext cx="535838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9534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학부 영어 (경영 예시)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점수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 (각 영역 6.0 이상)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TOEFL iBT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 (W·L 19, R 20, S 22)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PTE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 (각 영역 65 이상)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40080" y="5120640"/>
            <a:ext cx="10911535" cy="694944"/>
          </a:xfrm>
          <a:prstGeom prst="roundRect">
            <a:avLst>
              <a:gd name="adj" fmla="val 9211"/>
            </a:avLst>
          </a:prstGeom>
          <a:solidFill>
            <a:srgbClr val="F7EBE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96112" y="5212080"/>
            <a:ext cx="10399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성적 — 반드시 확인할 세 가지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896112" y="5468112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유효기간 2년   ② IELTS One Skill Retake 인정   ③ 온라인 시험 불인정 — IELTS Academic Online · TOEFL iBT Home Edition · PTE Academic Online 모두 불가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UNM 브로셔 p.5 · p.9 · p.18 · 공학 학과 페이지  |  공학은 석사통합(MEng) 4년이며 2+2 / 3+1로 영국 이동  |  학비 고정 · Pre-Sessional English 10주 RM 8,000 / 20주 RM 13,000 / 30주 RM 20,000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spc="200" kern="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KOREAN QUALIFICATIONS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검정고시와 GED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학교별 인정 여부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확인 결과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우회 경로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KOREAN EXAM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— 네 개 학교 총정리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결론부터 — 네 곳 모두 계열과 무관하게 파운데이션을 거칩니다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05695" y="54864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5695" y="548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확인 완료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62656"/>
                <a:gridCol w="2962656"/>
                <a:gridCol w="2974543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공식 자료의 검정고시 취급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수준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현실적 경로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학력 조건 "고교 졸업 또는 검정고시"로 명시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안내문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또는 디플로마 경유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학력 조건 "고교 졸업 또는 검정고시"로 명시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안내문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또는 디플로마 경유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"SOUTH KOREA High School Graduation Equivalency Examination — 60%"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프로스펙터스 p.55 원문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또는 디플로마 경유 (입학처 안내와 일치)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 학력 목록에 한국 항목 없음 (Korea 0회)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브로셔 p.9 · p.18 원문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파운데이션 또는 타기관 파운데이션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992624"/>
            <a:ext cx="10911535" cy="896112"/>
          </a:xfrm>
          <a:prstGeom prst="roundRect">
            <a:avLst>
              <a:gd name="adj" fmla="val 7143"/>
            </a:avLst>
          </a:prstGeom>
          <a:solidFill>
            <a:srgbClr val="F5EED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96112" y="5084064"/>
            <a:ext cx="103994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입학처 안내가 맞았습니다  —  다만 실제 지원 기준은 평균 90점 이상입니다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5358384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"검정고시는 계열 상관없이 무조건 파운데이션"이라는 안내는 프로스펙터스와 일치합니다. 검정고시가 호주 12학년이 아니라 11학년 수준으로 분류되기 때문입니다. 공시된 최소 기준은 60%지만 파운데이션은 선발 과정이므로, 모나쉬·노팅엄 모두 평균 90점 이상을 보셔야 합니다.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Monash UG Prospectus 2027 p.10 · p.55  |  UNM 브로셔 p.9 · p.18  |  IM 말레이시아 입학안내문 2027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— 검정고시와 같지 않습니다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학교마다 답이 다르고, 공식 자료에는 거의 나오지 않습니다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80944" y="2011680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A841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80944" y="20116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3230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입학처가 GED로는 입학 불가로 회신했습니다. 브로셔 파운데이션 입학 요건(p.9)에도 GED가 없어 자료와 일치합니다.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4256" y="182880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1ED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011680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C08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20116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미확인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243230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학부·대학원 프로스펙터스 112쪽 전체에서 GED가 0회 등장합니다. 심사 기준이 공개돼 있지 않으므로 입학처 확인이 필요합니다.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28432" y="182880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1ED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84464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369296" y="2011680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1F6B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369296" y="20116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있음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243230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소지자를 파운데이션·디플로마로 받아들인 사례가 보고됩니다. 다만 공식 요건에 점수 기준이 명시돼 있지 않아 확인이 필요합니다.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40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GED로 노팅엄에 가려면 — 네 가지 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242816"/>
            <a:ext cx="292608" cy="292608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702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타기관 파운데이션 경유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364992" y="4169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현실적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4425696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선웨이·테일러스에서 파운데이션을 이수하고 노팅엄 학부 1학년 지원. 브로셔에 "Foundation — Other Institutions: 학교 재량, GPA 3.0/4.0 이상"으로 명시된 경로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0488" y="4242816"/>
            <a:ext cx="292608" cy="292608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90488" y="42702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92824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타기관 디플로마 경유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169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진입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92824" y="4425696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디플로마(2~2.5년) 이수 후 학부 2학년 진입, 케이스별 심사. GPA 3.0/4.0 이상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5138928"/>
            <a:ext cx="292608" cy="292608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" y="51663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42416" y="5047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A-Level 또는 IB 취득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364992" y="5065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정공법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42416" y="53218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Level DDD 이상 또는 IB 24점 이상이면 노팅엄 파운데이션 직행. 성적이 높으면 학부 직행도 가능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90488" y="5138928"/>
            <a:ext cx="292608" cy="292608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90488" y="51663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92824" y="5047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모나쉬로 방향 전환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915400" y="5065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변경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592824" y="53218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검정고시는 60% 기준으로 명시. 다만 GED는 모나쉬 자료에도 없어 먼저 확인 필요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입학처 문의 문안: Is the US GED accepted for entry into your Foundation / pathway programmes, and if so what minimum score? Is it treated the same as the Korean High School Graduation Equivalency Examination?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spc="200" kern="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MONEY &amp; TIMING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돈과 일정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시기 총정리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총정리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INTAKES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시기 총정리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시기가 전체 일정을 결정합니다 — 원서는 개강 12~16주 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05695" y="54864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5695" y="548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확인 완료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66590"/>
                <a:gridCol w="426659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(본과) 입학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9월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8월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9월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FIA · FIST 1·4·8월  |  MUFY 1·7·8월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7월 · 10월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1·7·8월 (선웨이)  |  DHES · 디플로마 2·7·10월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중심 (일부 2월)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4월 · 9월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663440"/>
            <a:ext cx="5358384" cy="1152144"/>
          </a:xfrm>
          <a:prstGeom prst="roundRect">
            <a:avLst>
              <a:gd name="adj" fmla="val 6349"/>
            </a:avLst>
          </a:prstGeom>
          <a:solidFill>
            <a:srgbClr val="F5EED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선택지가 가장 넓은 쪽 — 모나쉬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1·7·8월과 DHES 2·7·10월을 합치면 사실상 연 5~6회 진입 기회가 있습니다. 한 번 놓쳐도 두세 달 뒤가 있습니다.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90488" y="4663440"/>
            <a:ext cx="5358384" cy="1152144"/>
          </a:xfrm>
          <a:prstGeom prst="roundRect">
            <a:avLst>
              <a:gd name="adj" fmla="val 6349"/>
            </a:avLst>
          </a:prstGeom>
          <a:solidFill>
            <a:srgbClr val="F7EBE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64808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빡빡한 쪽 — 노팅엄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64808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파운데이션이 4·9월 연 2회뿐입니다. 노팅엄을 목표로 한다면 검정고시 1회(4월)를 반드시 잡아야 그해 9월 입학이 가능합니다.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총정리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링깃과 원화로 통일 · 환율 RM 1 ≈ 339원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834640"/>
                <a:gridCol w="277337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학부 (연간, RM)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학부 (연간, 원화)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44,044 (1년)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34,000 ~ 71,000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1,150만 ~ 2,400만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17,850 ~ 29,350 (1년)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 ~ 55,000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1,020만 ~ 1,860만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17,850~29,350  |  DHES 49,440~55,680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51,360 ~ 74,400 (공학 68,160)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1,740만 ~ 2,520만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38,000 (과정 전체)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52,000 ~ 57,000 (공학 MEng 67,000)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1,760만 ~ 2,270만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663440"/>
            <a:ext cx="5358384" cy="1152144"/>
          </a:xfrm>
          <a:prstGeom prst="roundRect">
            <a:avLst>
              <a:gd name="adj" fmla="val 6349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표 읽는 법 — 네 가지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총액인가 연간인가  ② 몇 년 과정인가  ③ 어느 통화인가 (달러 표기는 참고용, 납부는 링깃)  ④ 세금이 붙는가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0488" y="4663440"/>
            <a:ext cx="5358384" cy="1152144"/>
          </a:xfrm>
          <a:prstGeom prst="roundRect">
            <a:avLst>
              <a:gd name="adj" fmla="val 6349"/>
            </a:avLst>
          </a:prstGeom>
          <a:solidFill>
            <a:srgbClr val="F7EB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4808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7월부터 6% 서비스세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학비에 별도 부과됩니다. 위 금액에 포함돼 있지 않습니다. 5년 과정이면 350만~500만 원, 3년이면 165만~270만 원이 추가됩니다. 국제학생 보증금·EMGS 수수료는 제외.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MUFY는 선웨이 칼리지 운영이므로 선웨이 파운데이션 학비를 적용했습니다. 선웨이 경영계열은 입학처가 달러로 안내한 금액을 환산한 값입니다.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TUITION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학비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출신 기준 · 파운데이션 포함 · 낮은 순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188720"/>
                <a:gridCol w="2743200"/>
                <a:gridCol w="277337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— 파운데이션 + 경영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98,250 ~ 143,500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3,331만 ~ 4,865만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— DHES 1년 + 학부 2년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152,160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5,158만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— 파운데이션 + 공학 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171,418 ~ 182,918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5,811만 ~ 6,201만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— MUFY 1년 + 학부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171,930 ~ 183,430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5,828만 ~ 6,218만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— 파운데이션 + 호텔경영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177,190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6,007만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— 파운데이션 + 이학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194,000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6,577만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— 파운데이션 + 경영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7,085만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— 파운데이션 + 기계공학 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244,780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8,298만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— MUFY 1년 + 공학 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290,490 ~ 301,990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9,848만 ~ 1억 237만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— 파운데이션 + 공학 MEng 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306,000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374만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학비만 비교한 표입니다. 6% 서비스세 · 생활비(월 RM 1,600~3,000) · 비자·보험·항공 · IM 공동체 운영비는 별도입니다.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외에 공동체 운영비·비자 갱신·입학비가 함께 듭니다 · 장학금 미반영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73936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83340"/>
                <a:gridCol w="1483340"/>
                <a:gridCol w="1483340"/>
                <a:gridCol w="1483340"/>
                <a:gridCol w="1483340"/>
                <a:gridCol w="14833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 4년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DHES 3년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+ 학부 4년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문과 4년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+ 공학 5년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MEng 공학 5년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학비 (파운데이션)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1,676만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1,288만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1,288만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2년차 이후 학비 (학부, 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 ~ 1,290만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1,741만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1,741만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1,865만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2,311만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2,271만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학생비자 갱신 (연)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공동체 운영비 (연)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입학비 — 입회 시 1회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소계 (입학비 제외)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3,256만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2,868만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2,868만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소계 (입학비 포함)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3,756만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3,368만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3,368만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2년차 이후 (연)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2,490 ~ 2,870만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3,321만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3,321만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3,445만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3,891만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3,851만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350만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 1억 1,490만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398만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2,843만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3,702만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8,444만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8,773만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760720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815584"/>
            <a:ext cx="103994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입학비는 공동체 입회 시 1회만 납부합니다 — 3년이든 5년이든 같습니다 (이전 공동체 입학금 최대 200만 원 인정).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6053328"/>
            <a:ext cx="103994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1년차는 학비가 싼 파운데이션, 2년차부터는 학비가 비싼 학부입니다. 입학비 500만 원을 더해도 파운데이션 1년이 학부 1년보다 쌀 수 있습니다.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6% 서비스세와 생활비는 별도입니다. 파운데이션 연도와 학부 연도의 학비가 크게 달라 분리해 표기했습니다 · 환율 RM 1 ≈ 339원.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spc="200" kern="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APPLY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자격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절차와 비자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타임라인 A · B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 지원 자격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네 가지 조건이 모두 준비된 학생만 지원 가능합니다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0116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리뉴젠 공동체 6개월 이상 훈련자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3591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공동체 디렉터 추천서 제출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8288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0116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고등과정 학력 이수자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23591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인가 고교 12학년 졸업 : 내신 평균 70점 이상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고졸 검정고시 : 평균 80점 이상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34198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35021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33832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공인 점수 취득자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26464" y="37307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IELTS 5.5~6.0 이상 또는 TOEFL iBT 60점 이상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본과 직행 목표 시 IELTS 6.0 / TOEFL iBT 70점대 권장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0488" y="32004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34198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5021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3832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필말레이시아존 코스 수료자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37307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과정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7EBE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475488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항목 주의 — 영어 점수가 가장 큰 변수입니다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5047488"/>
            <a:ext cx="103994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TOEFL iBT 60점은 IELTS 6.0의 하한선이므로 전공에 따라 미달될 수 있습니다. 본과 직행을 노린다면 70점대를 목표로 하십시오. 성적 유효기간은 2년이며, 노팅엄은 온라인 시험을 인정하지 않습니다.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ADMISSION &amp; VISA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절차와 비자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원서 접수 시점이 전체 일정을 좌우합니다 — 개강 12~16주 전 권장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682496" cy="1188720"/>
          </a:xfrm>
          <a:prstGeom prst="roundRect">
            <a:avLst>
              <a:gd name="adj" fmla="val 5385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9568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2311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디렉터 상담 후 입학 시기 결정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828800"/>
            <a:ext cx="1682496" cy="1188720"/>
          </a:xfrm>
          <a:prstGeom prst="roundRect">
            <a:avLst>
              <a:gd name="adj" fmla="val 5385"/>
            </a:avLst>
          </a:prstGeom>
          <a:solidFill>
            <a:srgbClr val="F1ED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51760" y="19568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2311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필말레이시아존 유학 과정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4256" y="1828800"/>
            <a:ext cx="1682496" cy="1188720"/>
          </a:xfrm>
          <a:prstGeom prst="roundRect">
            <a:avLst>
              <a:gd name="adj" fmla="val 5385"/>
            </a:avLst>
          </a:prstGeom>
          <a:solidFill>
            <a:srgbClr val="F1ED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98848" y="19568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2311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IM말레이시아 입학 신청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1682496" cy="1188720"/>
          </a:xfrm>
          <a:prstGeom prst="roundRect">
            <a:avLst>
              <a:gd name="adj" fmla="val 5385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45936" y="19568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spc="1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2311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 서류 준비 및 원서 접수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28432" y="1828800"/>
            <a:ext cx="1682496" cy="1188720"/>
          </a:xfrm>
          <a:prstGeom prst="roundRect">
            <a:avLst>
              <a:gd name="adj" fmla="val 5385"/>
            </a:avLst>
          </a:prstGeom>
          <a:solidFill>
            <a:srgbClr val="F1ED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93024" y="19568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193024" y="22311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입학허가서(Offer Letter) 수령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75520" y="1828800"/>
            <a:ext cx="1682496" cy="1188720"/>
          </a:xfrm>
          <a:prstGeom prst="roundRect">
            <a:avLst>
              <a:gd name="adj" fmla="val 5385"/>
            </a:avLst>
          </a:prstGeom>
          <a:solidFill>
            <a:srgbClr val="F1ED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40112" y="19568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040112" y="22311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 신청 및 입국비자 진행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300984"/>
            <a:ext cx="256032" cy="256032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3101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2552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오퍼레터 수령·서명 후 제출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685032"/>
            <a:ext cx="256032" cy="256032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36941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6393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EMGS에 신청 (학생 직접 불가)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069080"/>
            <a:ext cx="256032" cy="256032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40782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023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EMGS 서류 심사 2~4주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453128"/>
            <a:ext cx="256032" cy="256032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4622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4407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이민국 승인 → eVAL 발급 (합계 4~8주)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37176"/>
            <a:ext cx="256032" cy="256032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48463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47914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주한 말레이시아 대사관 SEV 발급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5221224"/>
            <a:ext cx="256032" cy="256032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" y="52303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" y="51755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입국 → 7영업일 내 건강검진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" y="5605272"/>
            <a:ext cx="256032" cy="256032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0080" y="56144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05840" y="5559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이민국 Student Pass 스티커 (2~4주)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0" y="3200400"/>
            <a:ext cx="5148072" cy="1645920"/>
          </a:xfrm>
          <a:prstGeom prst="roundRect">
            <a:avLst>
              <a:gd name="adj" fmla="val 4444"/>
            </a:avLst>
          </a:prstGeom>
          <a:solidFill>
            <a:srgbClr val="F7EBE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638544" y="332841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서류 인증 — 아포스티유가 아닙니다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638544" y="3657600"/>
            <a:ext cx="4672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말레이시아는 헤이그 아포스티유 협약 비가입국입니다.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합격증명서·성적증명서는 아포스티유가 아니라 영사확인(외교부 → 주한 말레이시아 대사관)을 밟아야 합니다. 이 절차에만 2~3주가 추가로 듭니다.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00800" y="4974336"/>
            <a:ext cx="5148072" cy="822960"/>
          </a:xfrm>
          <a:prstGeom prst="roundRect">
            <a:avLst>
              <a:gd name="adj" fmla="val 8889"/>
            </a:avLst>
          </a:prstGeom>
          <a:solidFill>
            <a:srgbClr val="F1EDE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638544" y="5084064"/>
            <a:ext cx="4672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선택이 곧 비자 대행사 선택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6638544" y="5340096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EMGS 신청은 학교가 대행합니다. 검정고시 학생을 처리해 본 경험이 있는 국제입학처가 훨씬 빠릅니다.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귀국 후 한국 대학 편입 시에도 말레이시아 대학 서류는 주말레이시아 한국대사관 영사확인이 필요합니다.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TIMELINE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타임라인 A · B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1회(4월)냐 2회(8월)냐가 입학 시기를 가릅니다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A플랜 — 1~2월 입학 (가장 여유 있는 최적 진입)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76272"/>
          <a:ext cx="1091153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93992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 및 행정 절차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체크포인트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 ~ 04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검정고시 제1회 원서 접수 → 응시 (평균 80점 이상 목표)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시험일 4월 초·중순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05 중순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 발표 → 영문 증명서 발급 → 영사확인 착수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아포스티유 아님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05 ~ 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필리핀 IM해외선교본부 6개월 과정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영어 몰입 훈련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09 ~ 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/ TOEFL 응시 → 대학 원서 접수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개강 12~16주 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~ 12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EMGS 비자 심사 → Offer Letter · VAL 수령 → eVisa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4~8주 소요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 / 02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선웨이(1월) · 테일러스(2월) 정식 입학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모나쉬는 2월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4663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B플랜 — 4월 입학 (한국 학제 졸업 후 가장 빠른 입학)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974336"/>
            <a:ext cx="10911535" cy="877824"/>
          </a:xfrm>
          <a:prstGeom prst="roundRect">
            <a:avLst>
              <a:gd name="adj" fmla="val 7292"/>
            </a:avLst>
          </a:prstGeom>
          <a:solidFill>
            <a:srgbClr val="F1ED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96112" y="5102352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06~08 검정고시 2회 응시  →  09 영문 증명서 + 영사확인  →  09~02 IM 과정  →  11~01 어학·원서  →  01~02 EMGS 심사  →  04 입학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5376672"/>
            <a:ext cx="103994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B플랜의 최대 약점은 어학 확보 기간이 짧다는 것입니다. 무리하지 말고 C플랜(9월 입학)을 예비로 준비해 두십시오. 노팅엄을 목표로 한다면 1회(4월)가 사실상 필수입니다.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spc="200" kern="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CHOOSING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선택 가이드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확인해야 할 것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WHICH SCHOOL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 아이는 어디인가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전공과 목표 학위 국가, 두 가지만 정하면 답이 좁혀집니다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호텔·관광·디자인·마케팅이 목표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86784" y="192024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호텔경영 세계 26위 · 전공 12개 계열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0488" y="182880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회계·금융·계리·컴퓨터과학이 목표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537192" y="192024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복수 학위 추가비 없음 · 학비 최저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학위를 받되 비용을 아끼고 싶다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복수 학위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92608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해외에 나가지 않고 영국 학위 2장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88" y="283464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학위가 목표다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테일러스·선웨이 ADTP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537192" y="292608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 합격 보장이 아님 · 과목 매핑 필수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급하다 (최단 3년)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" y="4334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DHES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986784" y="393192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+ 학부 2년 · 자격 두 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0488" y="384048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공학·의약학이 목표다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4334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또는 노팅엄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537192" y="393192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모나쉬는 MUFY 경유 5년 · 노팅엄 3~4년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84632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본교 경험을 원한다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" y="5340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2+1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986784" y="493776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3학년을 영국에서 · 학비 고정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0488" y="4846320"/>
            <a:ext cx="535838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9944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소지자다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9944" y="5340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선웨이·테일러스 파운데이션 먼저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537192" y="493776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노팅엄은 GED 불가 · GPA 3.0으로 편입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888736"/>
            <a:ext cx="10911535" cy="0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경로든 검정고시·GED 출신은 파운데이션 1년을 먼저 거치는 것이 기본값입니다.  |  "어디가 더 좋은 학교인가요?"에 순위로 답하지 마시고 "무엇을 할 것인가에 따라 답이 바뀐다"로 되돌리십시오.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확인해야 할 것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원문으로 확인된 것과, 학교에 물어야 할 것을 나눴습니다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완료 — 원문 근거 있음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19456" cy="21945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8541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1579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= 호주 11학년 수준 (모나쉬 p.55, 60%)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615184"/>
            <a:ext cx="219456" cy="21945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0604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578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MUFY는 선웨이 칼리지 운영 · 인테이크 1·7·8월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35808"/>
            <a:ext cx="219456" cy="21945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02666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29992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DHES로는 공학 2학년 진입 불가 (각주 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56432"/>
            <a:ext cx="219456" cy="21945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44728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34198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GED 불가 — 입학처 + 브로셔 p.9 일치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219456" cy="21945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679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" y="3840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영어 요건 · 2+1 영국 이동 조건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219456" cy="21945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88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69264" y="42611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학사·파운데이션 입학 시기 (학교 문의 확인)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718304"/>
            <a:ext cx="219456" cy="21945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7091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69264" y="46817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말레이시아는 아포스티유 비가입국 — 영사확인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90488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확인 필요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0488" y="2194560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0488" y="218541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19672" y="21579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모나쉬의 GED 인정 여부와 최소 점수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2615184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90488" y="260604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519672" y="2578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학비 — 선웨이 칼리지 공식 금액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0488" y="3035808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90488" y="302666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19672" y="29992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테일러스·선웨이의 GED 공식 기준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90488" y="3456432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90488" y="344728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519672" y="34198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지망 학과별 학비와 원서 마감일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0488" y="3877056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190488" y="38679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519672" y="3840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경영계열 적용 환율 (입학처 달러 안내)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0488" y="4297680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190488" y="4288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519672" y="42611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장학금 적용 조건과 감면 폭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90488" y="4718304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190488" y="47091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519672" y="46817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서비스세 과세 범위 (청구서 기준)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" y="5193792"/>
            <a:ext cx="10911535" cy="859536"/>
          </a:xfrm>
          <a:prstGeom prst="roundRect">
            <a:avLst>
              <a:gd name="adj" fmla="val 8511"/>
            </a:avLst>
          </a:prstGeom>
          <a:solidFill>
            <a:srgbClr val="13474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4400" y="5285232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914400" y="5522976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 입학안내문 2027  ·  Monash University Malaysia Undergraduate / Postgraduate Prospectus 2027  ·  University of Nottingham Malaysia 브로셔  ·  테일러스 · 선웨이 공식 안내  ·  EMGS · 말레이시아 이민국  ·  헤이그 아포스티유 협약 가입국 현황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 말레이시아 입학안내문 2027 완성본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2026-10-09T09:51:46Z</dcterms:created>
  <dcterms:modified xsi:type="dcterms:W3CDTF">2026-10-09T09:51:46Z</dcterms:modified>
</cp:coreProperties>
</file>