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1편(사립 명문)과 2편(해외 직영 캠퍼스)을 하나로 합친 완성본입니다. 전체 설명회는 90~120분, 개별 상담은 필요한 파트만 쓰십시오.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진행자용입니다. 학부모에게는 "오늘 이 순서로 갑니다" 정도로 짧게 넘기십시오.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아시아의 학부모들은 이미 이 답을 찾았습니다. 한국이 늦은 편이라는 점을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장이 1편과 2편을 가르는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헷갈리는 지점입니다.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띄우고 "우리 아이 전공이 뭐냐"부터 물으십시오. 강세 행에서 답이 좁혀집니다.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 이 분야면 아시아에서 더 나은 선택지가 거의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결정적 장점은 랭커스터 복수 학위에 추가 비용이 없다는 점입니다. 그리고 MUFY를 선웨이가 운영한다는 사실도 꼭 짚으십시오.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줄이 검정고시 학생의 자리입니다. MUFY는 선웨이 칼리지에서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③번이 실무에서 자주 걸립니다. 집에서 보는 온라인 시험 점수는 받지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모나쉬만 국가명과 커트라인(60%)을 명시했습니다. 상담에서 바로 인용하실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A안이 핵심입니다. 1편의 선웨이·테일러스 파운데이션이 노팅엄으로 가는 디딤돌이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이 표 한 장으로 답하십시오.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금액부터 말하면 학부모가 혼란스러워합니다. 왼쪽 네 가지를 먼저 맞추고 표로 들어가십시오.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짧고 저렴한 조합은 모나쉬 DHES 3년입니다. 다만 공학은 DHES가 안 되므로 MUFY 경로로 5년이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"1년차 소계 (입학비 제외)" 행을 먼저 보여 주십시오. 입학비를 빼면 1년차가 2년차보다 싸다는 것이 바로 보입니다. 마지막 행이 학부모가 실제로 알고 싶은 숫자입니다.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상담의 순서는 전공 → 목표 학위 국가 → 예산입니다. 학교 이름부터 꺼내지 마십시오.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2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완성본 — 사립 명문 2개교 · 해외 직영 캠퍼스 2개교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· 영국 직영 캠퍼스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GED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0657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경로 총정리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   |   2026년 10월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구성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파트만 떼어 쓰셔도 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· 대학 유형 · 세 가지 학위 경로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 · 모나쉬 · 노팅엄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20116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검정고시와 GED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7432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학교별 인정 여부와 우회 경로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일정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· 총 예산 · 입학 시기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34256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 · 절차 · 비자 · 타임라인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28432" y="3566160"/>
            <a:ext cx="3529584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74904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041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480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 가이드 · 확인 항목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394960"/>
            <a:ext cx="10911535" cy="438912"/>
          </a:xfrm>
          <a:prstGeom prst="roundRect">
            <a:avLst>
              <a:gd name="adj" fmla="val 12500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5394960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설명회 90~120분  ·  개별 상담 30분이면 PART 3 → 4 → 6만 보셔도 됩니다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개요와 유학 시장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유형 세 가지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 경로 세 가지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수준이며, 해외 학위도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학위와 해외대학 연계(복수 학위 · 트위닝 · 학점 이전)를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20040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문화적 적응이 비교적 수월하고, 인천에서 6시간 30분 · 시차 1시간입니다.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 25만 명 목표에 이미 15만 명 돌파 — 2년이 채 안 되는 기간에 63% 증가했습니다. 중국 학생만 연 3만 명이 갑니다.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Malay Mail · ICEF Monitor · EMGS International Student Data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사립 명문과 해외 직영 캠퍼스 두 갈래를 추천합니다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 (복수 학위 · 트위닝 · ADTP)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10698480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698480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연 3회 / 노팅엄 9월 중심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1,700만~2,300만 원 / 연간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학위가 그대로 나옴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명문은 "말레이시아 학위 + 해외 학위"를 설계하는 구조이고, 직영 캠퍼스는 처음부터 해외 본교 학위 하나입니다.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 — 어디서 공부하는가, 학위증을 누가 몇 장 주는가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복수 학위 (듀얼디그리)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학점 이전 (ADTP)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사례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× 랭커스터 (추가비 없음)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 · 2+1 · 1+2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1987 · 테일러스 1996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등록되어 경로가 확정됩니다. ADTP는 매년 새로 지원해야 하고 합격이 보장되지 않습니다.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캠퍼스(모나쉬·노팅엄)는 입학 순간부터 본교 학위 과정이므로 이 세 경로가 적용되지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 UNIVERSITIES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 — 테일러스 · 선웨이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캠퍼스 — 모나쉬 · 노팅엄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· 학비 · 진학 경로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개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2026~2027 공식 자료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67712"/>
                <a:gridCol w="2267712"/>
                <a:gridCol w="2267712"/>
                <a:gridCol w="22704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 명문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 명문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 직영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직영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1969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칼리지 1987 → 대학 2011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1998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캠퍼스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수방자야 레이크사이드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선웨이시티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반다르선웨이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스므니 · 48ha 열대우림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#272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#354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#31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영국 #16 · 세계 #97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세계 26위, 디자인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회계·금융, 계리학, CS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공학, 의학, 경영, 이학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공학, 약학, 경영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(공학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 (일부 4년)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· UWE · QUT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복수학위 · ASU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본교 학위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본교 학위 · 2+1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모나쉬·노팅엄 순위는 본교 기준입니다. 직영 캠퍼스라 본교 학위가 나오므로 과장은 아니지만 캠퍼스 자체의 순위는 아닙니다.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 · 80~90개국 다국적 학생 · 호텔·관광 7년 연속 세계 Top 20~30위권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개설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ADTP(미국 편입, 1996년 개설) · UWE 브리스톨·QUT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칼리지 1987 → 2011년 대학 승격 · 90개국 이상 · 몰·병원·경전철이 도보권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과정 개설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1·4·8월  |  MUFY 1·7·8월 (모나쉬 진학용)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복수 학위(추가비 없음) · ASU Cintana · ADTP(1987년 개설)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40080" y="5705856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96112" y="570585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칼리지는 모나쉬의 MUFY도 운영합니다 — 선웨이에서 공부하다 모나쉬로 가는 경로가 여기서 열립니다.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직영 캠퍼스 · 8개 캠퍼스 4개국 · 92개국 출신 학생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19202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2128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0848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0848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432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8346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31272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2999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432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432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— 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칼리지에서 이수)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992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432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432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65760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374904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미달 시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4041648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 입학 요건에 못 미치는 경우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39136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657600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657600"/>
            <a:ext cx="3602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1년 (모나쉬 운영)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39136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657600"/>
            <a:ext cx="4032504" cy="786384"/>
          </a:xfrm>
          <a:prstGeom prst="roundRect">
            <a:avLst>
              <a:gd name="adj" fmla="val 697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657600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5556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기간 손해가 없습니다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이수 후 Graduate Certificate를 받고 학부 2학년 진입. 학사와 같은 총 3년에 자격 두 개를 받습니다. 진급 조건은 WAM 50 (정보기술 60).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5556"/>
            </a:avLst>
          </a:prstGeom>
          <a:solidFill>
            <a:srgbClr val="F7EBE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 (각주 4: Monash College Diploma Part 2 이수자만). 말레이시아에서 공학은 MUFY → 공학 1학년(4년) 경로입니다.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직영 캠퍼스 · 러셀그룹 창립 멤버 · 재학생 4,000명 · 74개국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영국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본교 이동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4년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MEng · RM 67,000/년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0175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 — 1년 (2학기) · 4월·9월 · RM 38,000 (과정 전체) · 150학점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6499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9476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영어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포함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없이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 (각 53↑)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 (각 59↑)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36499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95344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영어 (경영 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 점수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영역 6.0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(W·L 19, R 20, S 22)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 (각 영역 65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9211"/>
            </a:avLst>
          </a:prstGeom>
          <a:solidFill>
            <a:srgbClr val="F7EBE6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896112" y="521208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성적 — 반드시 확인할 세 가지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896112" y="546811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유효기간 2년   ② IELTS One Skill Retake 인정   ③ 온라인 시험 불인정 — IELTS Academic Online · TOEFL iBT Home Edition · PTE Academic Online 모두 불가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UNM 브로셔 p.5 · p.9 · p.18 · 공학 학과 페이지  |  공학은 석사통합(MEng) 4년이며 2+2 / 3+1로 영국 이동  |  학비 고정 · Pre-Sessional English 10주 RM 8,000 / 20주 RM 13,000 / 30주 RM 20,000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QUALIFICATIONS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검정고시와 GED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학교별 인정 여부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결과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우회 경로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EXAM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— 네 개 학교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결론부터 — 네 곳 모두 계열과 무관하게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완료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62656"/>
                <a:gridCol w="2962656"/>
                <a:gridCol w="297454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자료의 검정고시 취급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수준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현실적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 "고교 졸업 또는 검정고시"로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안내문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또는 디플로마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 "고교 졸업 또는 검정고시"로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 안내문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또는 디플로마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"SOUTH KOREA High School Graduation Equivalency Examination — 60%"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 p.55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또는 디플로마 경유 (입학처 안내와 일치)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인정 학력 목록에 한국 항목 없음 (Korea 0회)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브로셔 p.9 · p.18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파운데이션 또는 타기관 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992624"/>
            <a:ext cx="10911535" cy="896112"/>
          </a:xfrm>
          <a:prstGeom prst="roundRect">
            <a:avLst>
              <a:gd name="adj" fmla="val 7143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96112" y="508406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입학처 안내가 맞았습니다  —  다만 실제 지원 기준은 평균 90점 이상입니다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5838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"검정고시는 계열 상관없이 무조건 파운데이션"이라는 안내는 프로스펙터스와 일치합니다. 검정고시가 호주 12학년이 아니라 11학년 수준으로 분류되기 때문입니다. 공시된 최소 기준은 60%지만 파운데이션은 선발 과정이므로, 모나쉬·노팅엄 모두 평균 90점 이상을 보셔야 합니다.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p.10 · p.55  |  UNM 브로셔 p.9 · p.18  |  IM 말레이시아 입학안내문 2027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— 검정고시와 같지 않습니다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학교마다 답이 다르고, 공식 자료에는 거의 나오지 않습니다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80944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80944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입학처가 GED로는 입학 불가로 회신했습니다. 브로셔 파운데이션 입학 요건(p.9)에도 GED가 없어 자료와 일치합니다.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34256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675120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75120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학부·대학원 프로스펙터스 112쪽 전체에서 GED가 0회 등장합니다. 심사 기준이 공개돼 있지 않으므로 입학처 확인이 필요합니다.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28432" y="1828800"/>
            <a:ext cx="3529584" cy="1828800"/>
          </a:xfrm>
          <a:prstGeom prst="roundRect">
            <a:avLst>
              <a:gd name="adj" fmla="val 4000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84464" y="199339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369296" y="2011680"/>
            <a:ext cx="969264" cy="292608"/>
          </a:xfrm>
          <a:prstGeom prst="roundRect">
            <a:avLst>
              <a:gd name="adj" fmla="val 12500"/>
            </a:avLst>
          </a:prstGeom>
          <a:solidFill>
            <a:srgbClr val="1F6B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69296" y="20116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있음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2432304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소지자를 파운데이션·디플로마로 받아들인 사례가 보고됩니다. 다만 공식 요건에 점수 기준이 명시돼 있지 않아 확인이 필요합니다.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8404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GED로 노팅엄에 가려면 — 네 가지 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242816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2702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15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파운데이션 경유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364992" y="41696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현실적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4425696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선웨이·테일러스에서 파운데이션을 이수하고 노팅엄 학부 1학년 지원. 브로셔에 "Foundation — Other Institutions: 학교 재량, GPA 3.0/4.0 이상"으로 명시된 경로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90488" y="4242816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90488" y="42702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92824" y="4151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디플로마 경유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915400" y="41696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 진입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92824" y="4425696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디플로마(2~2.5년) 이수 후 학부 2학년 진입, 케이스별 심사. GPA 3.0/4.0 이상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" y="5138928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080" y="51663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또는 IB 취득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336499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정공법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" y="5321808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Level DDD 이상 또는 IB 24점 이상이면 노팅엄 파운데이션 직행. 성적이 높으면 학부 직행도 가능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90488" y="5138928"/>
            <a:ext cx="292608" cy="292608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90488" y="51663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92824" y="50474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모나쉬로 방향 전환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8915400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변경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592824" y="5321808"/>
            <a:ext cx="4736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60% 기준으로 명시. 다만 GED는 모나쉬 자료에도 없어 먼저 확인 필요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문의 문안: Is the US GED accepted for entry into your Foundation / pathway programmes, and if so what minimum score? Is it treated the same as the Korean High School Graduation Equivalency Examination?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MONEY &amp; TIMING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일정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총정리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총정리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 — 원서는 개강 12~16주 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완료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6590"/>
                <a:gridCol w="426659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(본과) 입학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1·4·8월  |  MUFY 1·7·8월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1·7·8월 (선웨이)  |  DHES · 디플로마 2·7·10월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중심 (일부 2월)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· 9월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선택지가 가장 넓은 쪽 — 모나쉬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1·7·8월과 DHES 2·7·10월을 합치면 사실상 연 5~6회 진입 기회가 있습니다. 한 번 놓쳐도 두세 달 뒤가 있습니다.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7EBE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빡빡한 쪽 — 노팅엄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파운데이션이 4·9월 연 2회뿐입니다. 노팅엄을 목표로 한다면 검정고시 1회(4월)를 반드시 잡아야 그해 9월 입학이 가능합니다.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총정리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링깃과 원화로 통일 · 환율 RM 1 ≈ 339원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2834640"/>
                <a:gridCol w="277337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(연간, RM)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(연간, 원화)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44,044 (1년)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34,000 ~ 71,000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1,150만 ~ 2,400만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 (1년)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30,000 ~ 55,000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1,020만 ~ 1,860만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17,850~29,350  |  DHES 49,440~55,680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74,400 (공학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1,740만 ~ 2,520만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38,000 (과정 전체)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 ~ 57,000 (공학 MEng 67,000)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1,760만 ~ 2,270만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표 읽는 법 — 네 가지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총액인가 연간인가  ② 몇 년 과정인가  ③ 어느 통화인가 (달러 표기는 참고용, 납부는 링깃)  ④ 세금이 붙는가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7월부터 6% 서비스세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외국인 학비에 별도 부과됩니다. 위 금액에 포함돼 있지 않습니다. 5년 과정이면 350만~500만 원, 3년이면 165만~270만 원이 추가됩니다. 국제학생 보증금·EMGS 수수료는 제외.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MUFY는 선웨이 칼리지 운영이므로 선웨이 파운데이션 학비를 적용했습니다. 선웨이 경영계열은 입학처가 달러로 안내한 금액을 환산한 값입니다.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TUITION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기준 · 파운데이션 포함 · 낮은 순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188720"/>
                <a:gridCol w="2743200"/>
                <a:gridCol w="277337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— 파운데이션 + 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98,250 ~ 143,500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3,331만 ~ 4,865만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DHES 1년 + 학부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152,160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5,158만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— 파운데이션 +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 ~ 182,918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5,811만 ~ 6,201만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학부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171,930 ~ 183,430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5,828만 ~ 6,218만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— 파운데이션 + 호텔경영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177,190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이학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6,577만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경영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209,000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7,085만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— 파운데이션 + 기계공학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8,298만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290,490 ~ 301,990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9,848만 ~ 1억 237만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공학 MEng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306,000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374만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학비만 비교한 표입니다. 6% 서비스세 · 생활비(월 RM 1,600~3,000) · 비자·보험·항공 · IM 공동체 운영비는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외에 공동체 운영비·비자 갱신·입학비가 함께 듭니다 · 장학금 미반영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92224"/>
          <a:ext cx="109115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737360"/>
                <a:gridCol w="1737360"/>
                <a:gridCol w="1737360"/>
                <a:gridCol w="1737360"/>
                <a:gridCol w="172181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경영 4년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문과 4년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MUFY+공학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MEng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약 1,676만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약 800만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1,741만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1,865만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2,311만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2,271만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2,490만~2,870만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3,321만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3,445만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3,891만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3,851만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350만~1억 1,490만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3,702만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8,444만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8,773만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88736"/>
            <a:ext cx="10911535" cy="402336"/>
          </a:xfrm>
          <a:prstGeom prst="roundRect">
            <a:avLst>
              <a:gd name="adj" fmla="val 13636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88736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같습니다 (이전 공동체 입학금 최대 200만 원 인정).   1년차가 2년차보다 비싸 보이는 이유는 입학비 500만 원이 1년차에만 들어가기 때문입니다.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6% 서비스세와 생활비는 별도입니다. 파운데이션 연도와 학부 연도의 학비가 크게 달라 분리해 표기했습니다 · 환율 RM 1 ≈ 339원.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APPLY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절차와 비자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타임라인 A · B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2년이며, 노팅엄은 온라인 시험을 인정하지 않습니다.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&amp;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절차와 비자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 접수 시점이 전체 일정을 좌우합니다 — 개강 12~16주 전 권장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87168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51760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4256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98848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45936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28432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93024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875520" y="1828800"/>
            <a:ext cx="1682496" cy="1188720"/>
          </a:xfrm>
          <a:prstGeom prst="roundRect">
            <a:avLst>
              <a:gd name="adj" fmla="val 5385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40112" y="195681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b="1" spc="1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040112" y="22311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300984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310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325526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오퍼레터 수령·서명 후 제출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3685032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69417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63931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EMGS에 신청 (학생 직접 불가)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069080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4078224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" y="4023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서류 심사 2~4주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453128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46227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05840" y="44074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→ eVAL 발급 (합계 4~8주)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" y="4837176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" y="48463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47914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주한 말레이시아 대사관 SEV 발급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5221224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0080" y="523036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05840" y="51755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→ 7영업일 내 건강검진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5605272"/>
            <a:ext cx="256032" cy="256032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56144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005840" y="555955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Student Pass 스티커 (2~4주)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0" y="3200400"/>
            <a:ext cx="5148072" cy="1645920"/>
          </a:xfrm>
          <a:prstGeom prst="roundRect">
            <a:avLst>
              <a:gd name="adj" fmla="val 4444"/>
            </a:avLst>
          </a:prstGeom>
          <a:solidFill>
            <a:srgbClr val="F7EBE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638544" y="3328416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38544" y="3657600"/>
            <a:ext cx="46725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합격증명서·성적증명서는 아포스티유가 아니라 영사확인(외교부 → 주한 말레이시아 대사관)을 밟아야 합니다. 이 절차에만 2~3주가 추가로 듭니다.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0" y="4974336"/>
            <a:ext cx="5148072" cy="822960"/>
          </a:xfrm>
          <a:prstGeom prst="roundRect">
            <a:avLst>
              <a:gd name="adj" fmla="val 8889"/>
            </a:avLst>
          </a:prstGeom>
          <a:solidFill>
            <a:srgbClr val="F1EDE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638544" y="50840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선택이 곧 비자 대행사 선택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6638544" y="53400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신청은 학교가 대행합니다. 검정고시 학생을 처리해 본 경험이 있는 국제입학처가 훨씬 빠릅니다.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귀국 후 한국 대학 편입 시에도 말레이시아 대학 서류는 주말레이시아 한국대사관 영사확인이 필요합니다.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타임라인 A · B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1회(4월)냐 2회(8월)냐가 입학 시기를 가릅니다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— 1~2월 입학 (가장 여유 있는 최적 진입)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76272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93992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 ~ 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원서 접수 → 응시 (평균 80점 이상 목표)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발표 → 영문 증명서 발급 → 영사확인 착수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아포스티유 아님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~ 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 ~ 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응시 → 대학 원서 접수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~ 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 → Offer Letter · VAL 수령 → eVisa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모나쉬는 2월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6634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— 4월 입학 (한국 학제 졸업 후 가장 빠른 입학)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4974336"/>
            <a:ext cx="10911535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96112" y="510235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06~08 검정고시 2회 응시  →  09 영문 증명서 + 영사확인  →  09~02 IM 과정  →  11~01 어학·원서  →  01~02 EMGS 심사  →  04 입학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376672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 노팅엄을 목표로 한다면 1회(4월)가 사실상 필수입니다.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spc="200" kern="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CHOOSING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선택 가이드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3891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WHICH SCHOOL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우리 아이는 어디인가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전공과 목표 학위 국가, 두 가지만 정하면 답이 좁혀집니다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호텔·관광·디자인·마케팅이 목표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23225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86784" y="192024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26위 · 전공 12개 계열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0488" y="182880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9944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회계·금융·계리·컴퓨터과학이 목표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3225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37192" y="192024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 학위 추가비 없음 · 학비 최저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학위를 받되 비용을 아끼고 싶다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" y="33284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복수 학위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292608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해외에 나가지 않고 영국 학위 2장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926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학위가 목표다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33284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테일러스·선웨이 ADTP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537192" y="292608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합격 보장이 아님 · 과목 매핑 필수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9536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급하다 (최단 3년)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9536" y="43342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86784" y="393192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+ 학부 2년 · 자격 두 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90488" y="384048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공학·의약학이 목표다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3342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또는 노팅엄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537192" y="393192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MUFY 경유 5년 · 노팅엄 3~4년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484632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9536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본교 경험을 원한다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59536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2+1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3986784" y="493776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3학년을 영국에서 · 학비 고정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0488" y="4846320"/>
            <a:ext cx="535838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9944" y="4937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소지자다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9944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선웨이·테일러스 파운데이션 먼저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537192" y="4937760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GED 불가 · GPA 3.0으로 편입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5888736"/>
            <a:ext cx="10911535" cy="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경로든 검정고시·GED 출신은 파운데이션 1년을 먼저 거치는 것이 기본값입니다.  |  "어디가 더 좋은 학교인가요?"에 순위로 답하지 마시고 "무엇을 할 것인가에 따라 답이 바뀐다"로 되돌리십시오.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원문으로 확인된 것과, 학교에 물어야 할 것을 나눴습니다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완료 — 원문 근거 있음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8541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15798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= 호주 11학년 수준 (모나쉬 p.55, 60%)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0604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5786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선웨이 칼리지 운영 · 인테이크 1·7·8월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035808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2666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29992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 불가 (각주 4)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456432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44728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4198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GED 불가 — 입학처 + 브로셔 p.9 일치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86791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3840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영어 요건 · 2+1 영국 이동 조건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297680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288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2611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입학 시기 (학교 문의 확인)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718304"/>
            <a:ext cx="219456" cy="21945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47091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46817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아포스티유 비가입국 — 영사확인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필요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219456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218541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215798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모나쉬의 GED 인정 여부와 최소 점수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90488" y="261518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90488" y="260604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25786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학비 — 선웨이 칼리지 공식 금액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90488" y="3035808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302666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519672" y="29992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테일러스·선웨이의 GED 공식 기준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0488" y="3456432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90488" y="344728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519672" y="34198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학비와 원서 마감일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190488" y="3877056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90488" y="386791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519672" y="38404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경영계열 적용 환율 (입학처 달러 안내)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190488" y="4297680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90488" y="42885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519672" y="42611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조건과 감면 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90488" y="4718304"/>
            <a:ext cx="219456" cy="21945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90488" y="47091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519672" y="46817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서비스세 과세 범위 (청구서 기준)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193792"/>
            <a:ext cx="10911535" cy="859536"/>
          </a:xfrm>
          <a:prstGeom prst="roundRect">
            <a:avLst>
              <a:gd name="adj" fmla="val 8511"/>
            </a:avLst>
          </a:prstGeom>
          <a:solidFill>
            <a:srgbClr val="13474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4400" y="528523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52297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 ·  Monash University Malaysia Undergraduate / Postgraduate Prospectus 2027  ·  University of Nottingham Malaysia 브로셔  ·  테일러스 · 선웨이 공식 안내  ·  EMGS · 말레이시아 이민국  ·  헤이그 아포스티유 협약 가입국 현황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완성본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2026-10-09T07:23:39Z</dcterms:created>
  <dcterms:modified xsi:type="dcterms:W3CDTF">2026-10-09T07:23:39Z</dcterms:modified>
</cp:coreProperties>
</file>