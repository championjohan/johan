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세 가지 경로를 구분하는 것만 확실히 하고 갑니다. 이름이 비슷해 학부모들이 가장 많이 헷갈리는 지점입니다.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30~40년 된 학교입니다. 어느 쪽이 더 좋으냐가 아니라 강세 분야가 다르다는 점만 잡아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오늘 발표의 전부라고 해도 됩니다. 나머지 슬라이드는 이 표를 하나씩 풀어 설명하는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듀얼 디그리의 핵심은 해외에 나가지 않고도 해외 학위를 받는다는 것입니다. 비용이 가장 낮고 안전해 부모가 가장 선호합니다.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트위닝은 "같은 학위를 나눠서 듣는다"입니다. 듀얼 디그리와 달리 학위증은 한 장입니다. 이 차이를 꼭 짚어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선웨이가 테일러스보다 9년 앞섭니다. 그리고 선웨이 ADTP가 트위닝에서 출발했다는 사실이 오늘 세 경로를 하나로 묶어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경로 중 무엇이 좋으냐가 아니라, 예산과 목표 국가로 좁히는 것이 상담의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</a:t>
            </a:r>
            <a:endParaRPr lang="en-US" sz="4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길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700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 ·  트위닝  ·  ADTP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 · 테일러스대학교 비교 정리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602736"/>
            <a:ext cx="8229600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3730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학위증을 두 장 받는다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3730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나라에 나눠 다닌다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3730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학점만 들고 편입한다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5948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해외선교본부 · 말레이시아 지부 연합   |   2026년 9월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— 한눈에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말레이시아 사립 명문이며, 해외 학위 경로를 모두 갖추고 있습니다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743200"/>
          </a:xfrm>
          <a:prstGeom prst="roundRect">
            <a:avLst>
              <a:gd name="adj" fmla="val 2333"/>
            </a:avLst>
          </a:prstGeom>
          <a:solidFill>
            <a:srgbClr val="F1ED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76656" y="1517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18836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University · 선웨이시티(반다르선웨이)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76656" y="2176272"/>
            <a:ext cx="3584448" cy="420624"/>
          </a:xfrm>
          <a:prstGeom prst="roundRect">
            <a:avLst>
              <a:gd name="adj" fmla="val 1087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762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편입 과정을 1987년부터 운영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706624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06624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칼리지 1987 → 대학 승격 2011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05409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회계·금융, 계리학, 컴퓨터과학, STEM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401568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401568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몰·병원·경전철이 도보권, 게이티드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76656" y="3749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파트너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749040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랭커스터(영국) · ASU(미국)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4023360" cy="2743200"/>
          </a:xfrm>
          <a:prstGeom prst="roundRect">
            <a:avLst>
              <a:gd name="adj" fmla="val 2333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82896" y="1517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테일러스대학교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82896" y="18836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University · 수방자야 레이크사이드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82896" y="2176272"/>
            <a:ext cx="3584448" cy="420624"/>
          </a:xfrm>
          <a:prstGeom prst="roundRect">
            <a:avLst>
              <a:gd name="adj" fmla="val 10870"/>
            </a:avLst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21762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편입 과정을 1996년부터 운영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882896" y="2706624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2706624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· 사립 명문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882896" y="305409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760720" y="305409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호텔·관광(세계 26위), 디자인, 마케팅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882896" y="3401568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폭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3401568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계열 — 공연예술·역사까지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882896" y="3749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파트너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760720" y="3749040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UWE 브리스톨(영국) · QUT(호주)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College / Sunway University 연혁 · Taylor's University 공식 소개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경로 — 무엇이 다른가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딱 두 가지입니다. 어디서 공부하는가, 그리고 학위증을 누가 몇 장 주는가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53312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대상 국가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미국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· 캐나다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61104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58368" y="426110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 요약 — 비용은 ①&lt;②&lt;③ 순으로 오르고, 해외 체류 기간도 같은 순서로 길어집니다.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384048" cy="38404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54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3840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— 학위증을 두 장 받는다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과정을 마치고, 두 대학이 각각 학위를 수여하는 구조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237744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" y="135331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5727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55264" y="1353312"/>
            <a:ext cx="246888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01568" y="135331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학위증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1353312"/>
            <a:ext cx="283464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98464" y="1353312"/>
            <a:ext cx="2542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 학위증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12848"/>
            <a:ext cx="4023360" cy="1700784"/>
          </a:xfrm>
          <a:prstGeom prst="roundRect">
            <a:avLst>
              <a:gd name="adj" fmla="val 3763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3408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랭커스터(영국)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 · 31개 과정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98094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파트너십으로, 영국–말레이시아 대학 간 최대 규모입니다. 7,000명 이상이 31개 학위 과정에서 공부했습니다. 졸업 시 선웨이와 랭커스터 학위증을 각각 받습니다.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12848"/>
            <a:ext cx="4023360" cy="1700784"/>
          </a:xfrm>
          <a:prstGeom prst="roundRect">
            <a:avLst>
              <a:gd name="adj" fmla="val 3763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64608" y="23408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× UWE 브리스톨 · QUT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중심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98094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경영·컴퓨팅 분야에서 영국 UWE 브리스톨, 호주 QUT와 듀얼 어워드를 운영합니다. 과정을 마치면 테일러스와 파트너 대학 학위증을 함께 받습니다.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 방지 — 학위증이 두 장이어도 학비가 두 배는 아닙니다. 한 과정을 이수하고 두 기관이 각각 수여합니다.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Sunway Partnership · Taylor's University — Dual Awards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384048" cy="38404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54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3840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— 두 나라에 나눠 다닌다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학위 과정을 말레이시아와 해외 본교에서 나눠 이수하고, 학위증은 본교 한 곳에서 받습니다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350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70432" y="1335024"/>
            <a:ext cx="4206240" cy="512064"/>
          </a:xfrm>
          <a:prstGeom prst="roundRect">
            <a:avLst>
              <a:gd name="adj" fmla="val 8929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98448" y="1335024"/>
            <a:ext cx="3950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3년 — 전 과정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56816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70432" y="1956816"/>
            <a:ext cx="2834640" cy="512064"/>
          </a:xfrm>
          <a:prstGeom prst="roundRect">
            <a:avLst>
              <a:gd name="adj" fmla="val 8929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448" y="195681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2년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0" y="1956816"/>
            <a:ext cx="1463040" cy="512064"/>
          </a:xfrm>
          <a:prstGeom prst="roundRect">
            <a:avLst>
              <a:gd name="adj" fmla="val 8929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42816" y="1956816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본교 1년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1+2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70432" y="2578608"/>
            <a:ext cx="1463040" cy="512064"/>
          </a:xfrm>
          <a:prstGeom prst="roundRect">
            <a:avLst>
              <a:gd name="adj" fmla="val 8929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98448" y="257860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1년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0" y="2578608"/>
            <a:ext cx="2834640" cy="512064"/>
          </a:xfrm>
          <a:prstGeom prst="roundRect">
            <a:avLst>
              <a:gd name="adj" fmla="val 8929"/>
            </a:avLst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871216" y="2578608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본교 2년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1335024"/>
            <a:ext cx="2926080" cy="1755648"/>
          </a:xfrm>
          <a:prstGeom prst="roundRect">
            <a:avLst>
              <a:gd name="adj" fmla="val 3646"/>
            </a:avLst>
          </a:prstGeom>
          <a:solidFill>
            <a:srgbClr val="F5EED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4630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숫자의 뜻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1719072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숫자 = 말레이시아 체류 연수</a:t>
            </a:r>
            <a:endParaRPr lang="en-US" sz="11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 숫자 = 해외 본교 체류 연수</a:t>
            </a:r>
            <a:endParaRPr lang="en-US" sz="1100" dirty="0"/>
          </a:p>
          <a:p>
            <a:pPr algn="l" indent="0" marL="0">
              <a:lnSpc>
                <a:spcPct val="145000"/>
              </a:lnSpc>
              <a:buNone/>
            </a:pPr>
            <a:endParaRPr lang="en-US" sz="11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뒤로 갈수록 비용이 오르고, 해외 경험은 길어집니다.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18688"/>
            <a:ext cx="4023360" cy="1060704"/>
          </a:xfrm>
          <a:prstGeom prst="roundRect">
            <a:avLst>
              <a:gd name="adj" fmla="val 6034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33101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566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과정에서 1+2 이동 수학, 교환학생, 서머 프로그램을 운영합니다. 호주 빅토리아대 과정도 트위닝 형태로 제공됩니다.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218688"/>
            <a:ext cx="4023360" cy="1060704"/>
          </a:xfrm>
          <a:prstGeom prst="roundRect">
            <a:avLst>
              <a:gd name="adj" fmla="val 6034"/>
            </a:avLst>
          </a:prstGeom>
          <a:solidFill>
            <a:srgbClr val="F1ED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64608" y="33101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64608" y="3566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디킨·모나쉬·QUT·멜버른·남호주대, 영국 샐퍼드·UWE, 뉴질랜드 대학으로의 편입·트위닝 경로를 운영합니다.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Mobility opportunities for Sunway students · Taylor's University — Overseas Transfer Options / Partner Universities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384048" cy="38404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54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3840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— 학점만 들고 편입한다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American Degree Transfer Program · 말레이시아에서 미국 학점을 쌓은 뒤 미국 대학 3학년으로 편입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2377440" cy="676656"/>
          </a:xfrm>
          <a:prstGeom prst="roundRect">
            <a:avLst>
              <a:gd name="adj" fmla="val 8108"/>
            </a:avLst>
          </a:prstGeom>
          <a:solidFill>
            <a:srgbClr val="F1ED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85216" y="142646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6824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· 교양+기초전공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852928" y="15544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45536" y="1335024"/>
            <a:ext cx="2377440" cy="676656"/>
          </a:xfrm>
          <a:prstGeom prst="roundRect">
            <a:avLst>
              <a:gd name="adj" fmla="val 8108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73552" y="142646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편입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73552" y="16824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 · 전공 심화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41264" y="15544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33872" y="1335024"/>
            <a:ext cx="2377440" cy="676656"/>
          </a:xfrm>
          <a:prstGeom prst="roundRect">
            <a:avLst>
              <a:gd name="adj" fmla="val 8108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1888" y="142646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학위증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61888" y="16824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 1장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3225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ADTP 개설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59689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779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39년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16382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웨스턴미시간대와의 트위닝 프로그램으로 출발해, 2010~2012년에 여러 대학으로 편입할 수 있는 Transfer 방식으로 전환했습니다.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737360"/>
          </a:xfrm>
          <a:prstGeom prst="roundRect">
            <a:avLst>
              <a:gd name="adj" fmla="val 3684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3225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ADTP 개설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259689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2779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64608" y="316382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이래 미국·캐나다·호주 등으로 수천 명의 편입생을 배출했습니다. 전공 12개 계열로 폭이 넓습니다.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438912"/>
          </a:xfrm>
          <a:prstGeom prst="roundRect">
            <a:avLst>
              <a:gd name="adj" fmla="val 12500"/>
            </a:avLst>
          </a:prstGeom>
          <a:solidFill>
            <a:srgbClr val="F5EED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4059936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 — 선웨이의 미국 과정은 원래 트위닝이었다가 ADTP로 바뀌었습니다. 세 경로가 서로 다른 제도가 아니라 이어진 흐름이라는 증거입니다.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Center for American Education 연혁 자료 · Taylor's University — ADTP 소개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우리 아이는 어느 길인가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예산과 목표 학위 국가, 두 가지만 정하면 답이 좁혀집니다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804672"/>
          </a:xfrm>
          <a:prstGeom prst="roundRect">
            <a:avLst>
              <a:gd name="adj" fmla="val 6818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7160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해외에 나가지 않고 영국 학위를 받고 싶다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89120" y="1545336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1347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98848" y="1545336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듀얼 디그리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371600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822960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30428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영국·호주 학위를 받되 현지 경험도 원한다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478024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8848" y="2478024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트위닝 (2+1 / 1+2)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304288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파트너 대학군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8229600" cy="804672"/>
          </a:xfrm>
          <a:prstGeom prst="roundRect">
            <a:avLst>
              <a:gd name="adj" fmla="val 6818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323697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학위가 목표이고 예산을 아끼고 싶다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89120" y="3410712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C0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98848" y="341071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ADTP (2+2)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236976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· 테일러스 모두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경로든 검정고시·GED 출신은 파운데이션 1년을 먼저 거치는 것이 기본값입니다.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연혁과 파트너십은 교차 확인했고, 아래는 학교에 직접 물어야 하는 항목입니다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56032" cy="25603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35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389888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듀얼디그리·트위닝을 운영하는 정확한 학과 목록 (전 학과가 아님)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426464"/>
            <a:ext cx="256032" cy="25603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435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1389888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연간 학비와 총액 (연간인지 총액인지 반드시 구분)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56032" cy="25603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09397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04825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검정고시·GED로 각 경로에 진입 가능한지 (서면 회신 확보)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084832"/>
            <a:ext cx="256032" cy="25603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209397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04825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본교 이동 시 추가 비용과 장학 트랙 적용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9504"/>
            <a:ext cx="8229600" cy="1097280"/>
          </a:xfrm>
          <a:prstGeom prst="roundRect">
            <a:avLst>
              <a:gd name="adj" fmla="val 583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29809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218688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University — Center for American Education 연혁 / School of American Education  ·  Lancaster University — Sunway Partnership, Mobility Opportunities  ·  Taylor's University — Dual Awards, Overseas Transfer Options, Partner Universities, ADTP  ·  Sunway College 연혁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 환경의 네트워크 정책상 두 학교 공식 사이트를 직접 열람하지 못했습니다. 연혁·파트너십은 복수 출처로 교차 확인했으나, 학과 목록과 학비는 학교 확인 후 확정하십시오.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선웨이 · 테일러스 — 세 가지 해외 학위 경로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2026-09-21T04:05:34Z</dcterms:created>
  <dcterms:modified xsi:type="dcterms:W3CDTF">2026-09-21T04:05:34Z</dcterms:modified>
</cp:coreProperties>
</file>