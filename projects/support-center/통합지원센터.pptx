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fa9b05a1-73b4-c5ec-994b-acc572ebef80}">
          <p14:sldIdLst>
            <p14:sldId id="256"/>
            <p14:sldId id="257"/>
            <p14:sldId id="258"/>
            <p14:sldId id="259"/>
          </p14:sldIdLst>
        </p14:section>
        <p14:section name="Part 1 학원지원센터" id="{3d71fe56-7580-4ae9-204d-e118efa23add}">
          <p14:sldIdLst>
            <p14:sldId id="260"/>
            <p14:sldId id="261"/>
            <p14:sldId id="262"/>
            <p14:sldId id="263"/>
          </p14:sldIdLst>
        </p14:section>
        <p14:section name="Part 2 유학지원센터" id="{6ef276ed-74fa-e7ec-23d2-7141a1df615e}">
          <p14:sldIdLst>
            <p14:sldId id="264"/>
            <p14:sldId id="265"/>
            <p14:sldId id="266"/>
            <p14:sldId id="267"/>
          </p14:sldIdLst>
        </p14:section>
        <p14:section name="Part 3 비즈니스지원센터" id="{4a5b63cf-11fc-c20f-ef96-d5028ddf751a}">
          <p14:sldIdLst>
            <p14:sldId id="268"/>
            <p14:sldId id="269"/>
            <p14:sldId id="270"/>
            <p14:sldId id="271"/>
            <p14:sldId id="272"/>
          </p14:sldIdLst>
        </p14:section>
        <p14:section name="실행" id="{fab09074-a9a7-0780-ff93-661348c18b98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장에서 '세 개를 동시에 한다'로 들리지 않게 한다. 구조는 셋이지만 지금 여는 것은 둘이라고 뒤에서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표를 읽지 말고 '고객이 다르다'는 점만 말한다. 학원에 파는 것, 학부모에게 파는 것, 창업자에게 파는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기획의 핵심 논리다. 세 사업이 따로가 아니라 한 고객을 공유한다.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자랑과 경고를 한 장에 같이 둔다. 이게 솔직한 기획서로 보이게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B(한국 학원 연계)가 현금이 가장 빨리 도는 상품. 연계 학원 3곳이면 모객 문제는 끝난다.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주간 리듬은 월 소재선정 / 화·목 촬영 / 수 블로그 / 금 숏츠. 유튜브는 월 2편으로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1단계는 무료 시범으로 연다. 쓰게 만드는 것이 파는 것보다 먼저다.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전환율을 미리 알고 시작해야 첫 설명회에서 실망하지 않는다. 자료집 10쪽은 이미 만들어져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미성년자 가디언 요건과 한국 측 알선 규제는 착수 전 확인 항목이다.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단정하는 순간 책임이 생긴다. 이 원칙을 설명회 진행자 전원이 지켜야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투자자나 파트너가 'AI 앱 언제 하냐'고 물으면 이 장으로 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가맹비를 안 받기로 했으므로 반복 수익은 교재에서 나온다. 동시에 품질 통제 장치다.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학생비자 상태의 인턴십이 근로에 해당하는지는 반드시 자문을 받는다.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앱만 팔면 학원은 중개 수수료만 남는다. 앱 + 교실 결합이 핵심. 첫 반은 6명으로 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기획서 전체에서 가장 중요한 장이다. 욕심이 사업을 죽인다.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리스크 장을 마지막에서 두 번째에 둔다. 덮고 가지 않는다는 신호.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마지막은 '무엇을 지금 하는가' 세 가지로 닫는다.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FFFFF">
                    <a:alpha val="75000"/>
                  </a:srgbClr>
                </a:solidFill>
              </a:rPr>
              <a:t>INTEGRATED SUPPORT CENTER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874520"/>
            <a:ext cx="105156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 </a:t>
            </a: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3154680"/>
            <a:ext cx="9144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 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spc="300" kern="0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</a:rPr>
              <a:t> 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92608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 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300" b="1" dirty="0">
                <a:solidFill>
                  <a:srgbClr val="16202E"/>
                </a:solidFill>
              </a:defRPr>
            </a:lvl1pPr>
          </a:lstStyle>
          <a:p>
            <a:pPr algn="l" indent="0" marL="0">
              <a:buNone/>
            </a:pPr>
            <a:r>
              <a:rPr lang="en-US" sz="3300" b="1" dirty="0">
                <a:solidFill>
                  <a:srgbClr val="16202E"/>
                </a:solidFill>
              </a:rPr>
              <a:t> </a:t>
            </a:r>
            <a:endParaRPr lang="en-US" sz="3300" dirty="0"/>
          </a:p>
        </p:txBody>
      </p:sp>
      <p:sp>
        <p:nvSpPr>
          <p:cNvPr id="3" name="Text 0"/>
          <p:cNvSpPr txBox="1"/>
          <p:nvPr/>
        </p:nvSpPr>
        <p:spPr>
          <a:xfrm>
            <a:off x="685800" y="6263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585"/>
                </a:solidFill>
              </a:rPr>
              <a:t>통합 지원센터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5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 </a:t>
            </a: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5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874520"/>
            <a:ext cx="10515600" cy="1143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통합 지원센터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3154680"/>
            <a:ext cx="91440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세 개의 센터가 하나의 토대 위에 선다 — 학원 · 유학 · 비즈니스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</a:rPr>
              <a:t>3 센터 · 10 카테고리   ·   사업 구조 v2.0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202E"/>
                </a:solidFill>
              </a:rPr>
              <a:t>한 장으로 보는 구조</a:t>
            </a:r>
            <a:endParaRPr lang="en-US" sz="3300" dirty="0"/>
          </a:p>
        </p:txBody>
      </p:sp>
      <p:sp>
        <p:nvSpPr>
          <p:cNvPr id="3" name="band-0"/>
          <p:cNvSpPr/>
          <p:nvPr/>
        </p:nvSpPr>
        <p:spPr>
          <a:xfrm>
            <a:off x="685800" y="1371600"/>
            <a:ext cx="3429000" cy="713232"/>
          </a:xfrm>
          <a:prstGeom prst="roundRect">
            <a:avLst>
              <a:gd name="adj" fmla="val 7692"/>
            </a:avLst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4813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7007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학원지원센터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76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585"/>
                </a:solidFill>
              </a:rPr>
              <a:t>고객 · 학원 · 교회</a:t>
            </a:r>
            <a:endParaRPr lang="en-US" sz="1150" dirty="0"/>
          </a:p>
        </p:txBody>
      </p:sp>
      <p:sp>
        <p:nvSpPr>
          <p:cNvPr id="7" name="c-0-0"/>
          <p:cNvSpPr/>
          <p:nvPr/>
        </p:nvSpPr>
        <p:spPr>
          <a:xfrm>
            <a:off x="685800" y="2560320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6968" y="2743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99032" y="270662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</a:rPr>
              <a:t>어학캠프</a:t>
            </a:r>
            <a:endParaRPr lang="en-US" sz="1500" dirty="0"/>
          </a:p>
        </p:txBody>
      </p:sp>
      <p:sp>
        <p:nvSpPr>
          <p:cNvPr id="10" name="c-0-1"/>
          <p:cNvSpPr/>
          <p:nvPr/>
        </p:nvSpPr>
        <p:spPr>
          <a:xfrm>
            <a:off x="685800" y="3310128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" y="3493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99032" y="345643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</a:rPr>
              <a:t>홍보</a:t>
            </a:r>
            <a:endParaRPr lang="en-US" sz="1500" dirty="0"/>
          </a:p>
        </p:txBody>
      </p:sp>
      <p:sp>
        <p:nvSpPr>
          <p:cNvPr id="13" name="c-0-2"/>
          <p:cNvSpPr/>
          <p:nvPr/>
        </p:nvSpPr>
        <p:spPr>
          <a:xfrm>
            <a:off x="685800" y="4059936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4242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99032" y="420624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</a:rPr>
              <a:t>관리 시스템</a:t>
            </a:r>
            <a:endParaRPr lang="en-US" sz="1500" dirty="0"/>
          </a:p>
        </p:txBody>
      </p:sp>
      <p:sp>
        <p:nvSpPr>
          <p:cNvPr id="16" name="band-1"/>
          <p:cNvSpPr/>
          <p:nvPr/>
        </p:nvSpPr>
        <p:spPr>
          <a:xfrm>
            <a:off x="4389120" y="1371600"/>
            <a:ext cx="3429000" cy="713232"/>
          </a:xfrm>
          <a:prstGeom prst="roundRect">
            <a:avLst>
              <a:gd name="adj" fmla="val 7692"/>
            </a:avLst>
          </a:prstGeom>
          <a:solidFill>
            <a:srgbClr val="0F64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17720" y="14813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</a:rPr>
              <a:t>PART 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17007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유학지원센터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2176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585"/>
                </a:solidFill>
              </a:rPr>
              <a:t>고객 · 학부모 · 학생</a:t>
            </a:r>
            <a:endParaRPr lang="en-US" sz="1150" dirty="0"/>
          </a:p>
        </p:txBody>
      </p:sp>
      <p:sp>
        <p:nvSpPr>
          <p:cNvPr id="20" name="c-1-0"/>
          <p:cNvSpPr/>
          <p:nvPr/>
        </p:nvSpPr>
        <p:spPr>
          <a:xfrm>
            <a:off x="4389120" y="2560320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90288" y="2743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457"/>
                </a:solidFill>
              </a:rPr>
              <a:t>01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102352" y="270662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</a:rPr>
              <a:t>유학 설명 · 한국</a:t>
            </a:r>
            <a:endParaRPr lang="en-US" sz="1500" dirty="0"/>
          </a:p>
        </p:txBody>
      </p:sp>
      <p:sp>
        <p:nvSpPr>
          <p:cNvPr id="23" name="c-1-1"/>
          <p:cNvSpPr/>
          <p:nvPr/>
        </p:nvSpPr>
        <p:spPr>
          <a:xfrm>
            <a:off x="4389120" y="3310128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90288" y="3493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457"/>
                </a:solidFill>
              </a:rPr>
              <a:t>02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102352" y="345643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</a:rPr>
              <a:t>유학 지원 · 현지</a:t>
            </a:r>
            <a:endParaRPr lang="en-US" sz="1500" dirty="0"/>
          </a:p>
        </p:txBody>
      </p:sp>
      <p:sp>
        <p:nvSpPr>
          <p:cNvPr id="26" name="c-1-2"/>
          <p:cNvSpPr/>
          <p:nvPr/>
        </p:nvSpPr>
        <p:spPr>
          <a:xfrm>
            <a:off x="4389120" y="4059936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242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457"/>
                </a:solidFill>
              </a:rPr>
              <a:t>03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102352" y="420624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</a:rPr>
              <a:t>말레이시아 &amp; 싱가포르</a:t>
            </a:r>
            <a:endParaRPr lang="en-US" sz="1500" dirty="0"/>
          </a:p>
        </p:txBody>
      </p:sp>
      <p:sp>
        <p:nvSpPr>
          <p:cNvPr id="29" name="band-2"/>
          <p:cNvSpPr/>
          <p:nvPr/>
        </p:nvSpPr>
        <p:spPr>
          <a:xfrm>
            <a:off x="8092440" y="1371600"/>
            <a:ext cx="3429000" cy="713232"/>
          </a:xfrm>
          <a:prstGeom prst="roundRect">
            <a:avLst>
              <a:gd name="adj" fmla="val 7692"/>
            </a:avLst>
          </a:prstGeom>
          <a:solidFill>
            <a:srgbClr val="8A5A1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21040" y="14813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</a:rPr>
              <a:t>PART 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17007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비즈니스지원센터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2176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585"/>
                </a:solidFill>
              </a:rPr>
              <a:t>프랜차이즈</a:t>
            </a:r>
            <a:endParaRPr lang="en-US" sz="1150" dirty="0"/>
          </a:p>
        </p:txBody>
      </p:sp>
      <p:sp>
        <p:nvSpPr>
          <p:cNvPr id="33" name="c-2-0"/>
          <p:cNvSpPr/>
          <p:nvPr/>
        </p:nvSpPr>
        <p:spPr>
          <a:xfrm>
            <a:off x="8092440" y="2560320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93608" y="2743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14"/>
                </a:solidFill>
              </a:rPr>
              <a:t>01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805672" y="270662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</a:rPr>
              <a:t>IT 비즈니스</a:t>
            </a:r>
            <a:endParaRPr lang="en-US" sz="1500" dirty="0"/>
          </a:p>
        </p:txBody>
      </p:sp>
      <p:sp>
        <p:nvSpPr>
          <p:cNvPr id="36" name="c-2-1"/>
          <p:cNvSpPr/>
          <p:nvPr/>
        </p:nvSpPr>
        <p:spPr>
          <a:xfrm>
            <a:off x="8092440" y="3310128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93608" y="3493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14"/>
                </a:solidFill>
              </a:rPr>
              <a:t>02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05672" y="345643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</a:rPr>
              <a:t>출판</a:t>
            </a:r>
            <a:endParaRPr lang="en-US" sz="1500" dirty="0"/>
          </a:p>
        </p:txBody>
      </p:sp>
      <p:sp>
        <p:nvSpPr>
          <p:cNvPr id="39" name="c-2-2"/>
          <p:cNvSpPr/>
          <p:nvPr/>
        </p:nvSpPr>
        <p:spPr>
          <a:xfrm>
            <a:off x="8092440" y="4059936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93608" y="4242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14"/>
                </a:solidFill>
              </a:rPr>
              <a:t>03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805672" y="420624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</a:rPr>
              <a:t>리크루팅 · 교육</a:t>
            </a:r>
            <a:endParaRPr lang="en-US" sz="1500" dirty="0"/>
          </a:p>
        </p:txBody>
      </p:sp>
      <p:sp>
        <p:nvSpPr>
          <p:cNvPr id="42" name="c-2-3"/>
          <p:cNvSpPr/>
          <p:nvPr/>
        </p:nvSpPr>
        <p:spPr>
          <a:xfrm>
            <a:off x="8092440" y="4809744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F5EADA"/>
          </a:solidFill>
          <a:ln w="25400">
            <a:solidFill>
              <a:srgbClr val="8A5A1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93608" y="49926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14"/>
                </a:solidFill>
              </a:rPr>
              <a:t>04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8805672" y="495604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</a:rPr>
              <a:t>한글 플랫폼</a:t>
            </a:r>
            <a:endParaRPr lang="en-US" sz="1500" dirty="0"/>
          </a:p>
        </p:txBody>
      </p:sp>
      <p:sp>
        <p:nvSpPr>
          <p:cNvPr id="45" name="found"/>
          <p:cNvSpPr/>
          <p:nvPr/>
        </p:nvSpPr>
        <p:spPr>
          <a:xfrm>
            <a:off x="685800" y="5577840"/>
            <a:ext cx="10835640" cy="566928"/>
          </a:xfrm>
          <a:prstGeom prst="roundRect">
            <a:avLst>
              <a:gd name="adj" fmla="val 9677"/>
            </a:avLst>
          </a:prstGeom>
          <a:solidFill>
            <a:srgbClr val="ECEFF4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0120" y="57150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</a:rPr>
              <a:t>공통 토대 — 교육부 인가 어학원 · 학생비자 발급 권한 · 현지 네트워크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5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202E"/>
                </a:solidFill>
              </a:rPr>
              <a:t>세 센터는 이렇게 이어진다</a:t>
            </a:r>
            <a:endParaRPr lang="en-US" sz="3300" dirty="0"/>
          </a:p>
        </p:txBody>
      </p:sp>
      <p:sp>
        <p:nvSpPr>
          <p:cNvPr id="3" name="flow-0"/>
          <p:cNvSpPr/>
          <p:nvPr/>
        </p:nvSpPr>
        <p:spPr>
          <a:xfrm>
            <a:off x="685800" y="1645920"/>
            <a:ext cx="32918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Part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E"/>
                </a:solidFill>
              </a:rPr>
              <a:t>입구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26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7585"/>
                </a:solidFill>
              </a:rPr>
              <a:t>캠프로 학생과 학부모를 만난다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069080" y="2743200"/>
            <a:ext cx="292608" cy="237744"/>
          </a:xfrm>
          <a:prstGeom prst="rightArrow">
            <a:avLst/>
          </a:prstGeom>
          <a:solidFill>
            <a:srgbClr val="6A7585"/>
          </a:solidFill>
          <a:ln/>
        </p:spPr>
      </p:sp>
      <p:sp>
        <p:nvSpPr>
          <p:cNvPr id="8" name="flow-1"/>
          <p:cNvSpPr/>
          <p:nvPr/>
        </p:nvSpPr>
        <p:spPr>
          <a:xfrm>
            <a:off x="4526280" y="1645920"/>
            <a:ext cx="32918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25400">
            <a:solidFill>
              <a:srgbClr val="0F64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457"/>
                </a:solidFill>
              </a:rPr>
              <a:t>Part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E"/>
                </a:solidFill>
              </a:rPr>
              <a:t>전환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926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7585"/>
                </a:solidFill>
              </a:rPr>
              <a:t>현지를 아는 학부모가 유학을 결정한다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09560" y="2743200"/>
            <a:ext cx="292608" cy="237744"/>
          </a:xfrm>
          <a:prstGeom prst="rightArrow">
            <a:avLst/>
          </a:prstGeom>
          <a:solidFill>
            <a:srgbClr val="6A7585"/>
          </a:solidFill>
          <a:ln/>
        </p:spPr>
      </p:sp>
      <p:sp>
        <p:nvSpPr>
          <p:cNvPr id="13" name="flow-2"/>
          <p:cNvSpPr/>
          <p:nvPr/>
        </p:nvSpPr>
        <p:spPr>
          <a:xfrm>
            <a:off x="8366760" y="1645920"/>
            <a:ext cx="32918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25400">
            <a:solidFill>
              <a:srgbClr val="8A5A1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4108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14"/>
                </a:solidFill>
              </a:rPr>
              <a:t>Part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E"/>
                </a:solidFill>
              </a:rPr>
              <a:t>복제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2926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7585"/>
                </a:solidFill>
              </a:rPr>
              <a:t>학원이 늘면 교재 · 시스템 · 교사가 팔린다</a:t>
            </a:r>
            <a:endParaRPr lang="en-US" sz="1350" dirty="0"/>
          </a:p>
        </p:txBody>
      </p:sp>
      <p:sp>
        <p:nvSpPr>
          <p:cNvPr id="17" name="loop"/>
          <p:cNvSpPr/>
          <p:nvPr/>
        </p:nvSpPr>
        <p:spPr>
          <a:xfrm>
            <a:off x="685800" y="4343400"/>
            <a:ext cx="10835640" cy="1463040"/>
          </a:xfrm>
          <a:prstGeom prst="roundRect">
            <a:avLst>
              <a:gd name="adj" fmla="val 3750"/>
            </a:avLst>
          </a:prstGeom>
          <a:solidFill>
            <a:srgbClr val="ECEFF4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45720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6B"/>
                </a:solidFill>
              </a:rPr>
              <a:t>캠프로 만난 학생이 유학생이 되고, 유학 수요가 학원을 늘린다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50292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</a:rPr>
              <a:t>같은 가족을 두 번 세 번 만나는 구조입니다. 새 고객을 계속 찾는 사업보다 비용이 훨씬 적게 듭니다.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5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202E"/>
                </a:solidFill>
              </a:rPr>
              <a:t>토대 — 돈으로 살 수 없는 것</a:t>
            </a:r>
            <a:endParaRPr lang="en-US" sz="3300" dirty="0"/>
          </a:p>
        </p:txBody>
      </p:sp>
      <p:sp>
        <p:nvSpPr>
          <p:cNvPr id="3" name="moat"/>
          <p:cNvSpPr/>
          <p:nvPr/>
        </p:nvSpPr>
        <p:spPr>
          <a:xfrm>
            <a:off x="685800" y="1463040"/>
            <a:ext cx="10835640" cy="1371600"/>
          </a:xfrm>
          <a:prstGeom prst="roundRect">
            <a:avLst>
              <a:gd name="adj" fmla="val 4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7830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교육부 인가 어학원 · 학생비자 발급 권한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</a:rPr>
              <a:t>교재도 시스템도 광고도 돈으로 살 수 있습니다. 이것만은 못 삽니다.</a:t>
            </a:r>
            <a:endParaRPr lang="en-US" sz="1500" dirty="0"/>
          </a:p>
        </p:txBody>
      </p:sp>
      <p:sp>
        <p:nvSpPr>
          <p:cNvPr id="6" name="moat-0"/>
          <p:cNvSpPr/>
          <p:nvPr/>
        </p:nvSpPr>
        <p:spPr>
          <a:xfrm>
            <a:off x="685800" y="306324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3291840"/>
            <a:ext cx="365760" cy="36576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</a:rPr>
              <a:t>교사 공급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206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585"/>
                </a:solidFill>
              </a:rPr>
              <a:t>사람을 데려와 합법적으로 체류시키며 기를 수 있다</a:t>
            </a:r>
            <a:endParaRPr lang="en-US" sz="1300" dirty="0"/>
          </a:p>
        </p:txBody>
      </p:sp>
      <p:sp>
        <p:nvSpPr>
          <p:cNvPr id="11" name="moat-1"/>
          <p:cNvSpPr/>
          <p:nvPr/>
        </p:nvSpPr>
        <p:spPr>
          <a:xfrm>
            <a:off x="4389120" y="306324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3291840"/>
            <a:ext cx="365760" cy="36576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</a:rPr>
              <a:t>캠프 장기화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206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585"/>
                </a:solidFill>
              </a:rPr>
              <a:t>3개월을 넘는 프로그램도 설계할 수 있다</a:t>
            </a:r>
            <a:endParaRPr lang="en-US" sz="1300" dirty="0"/>
          </a:p>
        </p:txBody>
      </p:sp>
      <p:sp>
        <p:nvSpPr>
          <p:cNvPr id="16" name="moat-2"/>
          <p:cNvSpPr/>
          <p:nvPr/>
        </p:nvSpPr>
        <p:spPr>
          <a:xfrm>
            <a:off x="8092440" y="306324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3291840"/>
            <a:ext cx="365760" cy="36576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667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</a:rPr>
              <a:t>가맹 유인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4206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585"/>
                </a:solidFill>
              </a:rPr>
              <a:t>학원이 가장 아쉬워하는 것이 교사다. 본부가 보내 준다면 연회비는 싸다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12064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3F23"/>
                </a:solidFill>
              </a:rPr>
              <a:t>다만 학생비자 상태의 인턴십이 근로에 해당하는지는 착수 전 자문이 필요합니다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5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</a:rPr>
              <a:t>PART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92608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학원지원센터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</a:rPr>
              <a:t>어학캠프 · 홍보 · 관리 시스템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202E"/>
                </a:solidFill>
              </a:rPr>
              <a:t>어학캠프 — 세 가지 상품</a:t>
            </a:r>
            <a:endParaRPr lang="en-US" sz="3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10835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017520"/>
                <a:gridCol w="3291840"/>
                <a:gridCol w="3063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· 말·싱 (IM 선교회)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· 말·싱 (한국 학원)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· 미국 (IM 선교회)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선교회 · 교회 자녀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 · 중 · 고 일반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 · 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교회 · 선교 네트워크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 학원 제휴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교회 + 설명회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낮게 (실비 중심)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450만원대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프로그램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어학 + 신앙 + 봉사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어학 + 한국 수학 + 대학 탐방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어학 + 미국 문화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+ 현지 어학원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+ 현지 어학원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IM USA 현지 운영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실비 + 소액 마진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1인 마진 약 161만원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송출 수수료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mp-note"/>
          <p:cNvSpPr/>
          <p:nvPr/>
        </p:nvSpPr>
        <p:spPr>
          <a:xfrm>
            <a:off x="685800" y="4114800"/>
            <a:ext cx="108356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9E3F2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43434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3F23"/>
                </a:solidFill>
              </a:rPr>
              <a:t>A와 B는 기수를 분리합니다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47548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</a:rPr>
              <a:t>섞으면 둘 다 잃습니다. 교회 학부모는 “왜 이렇게 비싸냐”, 일반 학부모는 “왜 예배를 드리냐”고 합니다.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</a:rPr>
              <a:t>다만 현지 운영 · 숙소 · 교재는 공유해 원가를 낮춥니다.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5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202E"/>
                </a:solidFill>
              </a:rPr>
              <a:t>홍보 — 채널마다 역할이 다르다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</a:rPr>
              <a:t>홈페이지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14447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</a:rPr>
              <a:t>허브 · 신뢰의 근거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585"/>
                </a:solidFill>
              </a:rPr>
              <a:t>문의 폼 전환율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039112"/>
            <a:ext cx="10698480" cy="0"/>
          </a:xfrm>
          <a:prstGeom prst="line">
            <a:avLst/>
          </a:prstGeom>
          <a:noFill/>
          <a:ln w="12700">
            <a:solidFill>
              <a:srgbClr val="D5DA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</a:rPr>
              <a:t>블로그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2219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</a:rPr>
              <a:t>검색 유입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585"/>
                </a:solidFill>
              </a:rPr>
              <a:t>상위 노출 키워드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816352"/>
            <a:ext cx="10698480" cy="0"/>
          </a:xfrm>
          <a:prstGeom prst="line">
            <a:avLst/>
          </a:prstGeom>
          <a:noFill/>
          <a:ln w="12700">
            <a:solidFill>
              <a:srgbClr val="D5DA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</a:rPr>
              <a:t>인스타그램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999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</a:rPr>
              <a:t>굴러간다는 증거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585"/>
                </a:solidFill>
              </a:rPr>
              <a:t>DM 문의 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593592"/>
            <a:ext cx="10698480" cy="0"/>
          </a:xfrm>
          <a:prstGeom prst="line">
            <a:avLst/>
          </a:prstGeom>
          <a:noFill/>
          <a:ln w="12700">
            <a:solidFill>
              <a:srgbClr val="D5DA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</a:rPr>
              <a:t>유튜브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3776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</a:rPr>
              <a:t>긴 설득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585"/>
                </a:solidFill>
              </a:rPr>
              <a:t>시청 지속시간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4370832"/>
            <a:ext cx="10698480" cy="0"/>
          </a:xfrm>
          <a:prstGeom prst="line">
            <a:avLst/>
          </a:prstGeom>
          <a:noFill/>
          <a:ln w="12700">
            <a:solidFill>
              <a:srgbClr val="D5DA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</a:rPr>
              <a:t>숏츠 · 릴스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0" y="45537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</a:rPr>
              <a:t>모르는 사람에게 도달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572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585"/>
                </a:solidFill>
              </a:rPr>
              <a:t>조회수 · 저장</a:t>
            </a:r>
            <a:endParaRPr lang="en-US" sz="1250" dirty="0"/>
          </a:p>
        </p:txBody>
      </p:sp>
      <p:sp>
        <p:nvSpPr>
          <p:cNvPr id="22" name="kpi"/>
          <p:cNvSpPr/>
          <p:nvPr/>
        </p:nvSpPr>
        <p:spPr>
          <a:xfrm>
            <a:off x="685800" y="5394960"/>
            <a:ext cx="10835640" cy="868680"/>
          </a:xfrm>
          <a:prstGeom prst="roundRect">
            <a:avLst>
              <a:gd name="adj" fmla="val 6316"/>
            </a:avLst>
          </a:prstGeom>
          <a:solidFill>
            <a:srgbClr val="ECEFF4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56235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KPI는 팔로워가 아니라 문의 수입니다 — 팔로워 1만 명보다 월 문의 20건이 낫습니다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5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202E"/>
                </a:solidFill>
              </a:rPr>
              <a:t>관리 시스템 — 설치 없는 온라인 서비스</a:t>
            </a:r>
            <a:endParaRPr lang="en-US" sz="3300" dirty="0"/>
          </a:p>
        </p:txBody>
      </p:sp>
      <p:sp>
        <p:nvSpPr>
          <p:cNvPr id="3" name="sys-0"/>
          <p:cNvSpPr/>
          <p:nvPr/>
        </p:nvSpPr>
        <p:spPr>
          <a:xfrm>
            <a:off x="685800" y="1463040"/>
            <a:ext cx="10835640" cy="960120"/>
          </a:xfrm>
          <a:prstGeom prst="roundRect">
            <a:avLst>
              <a:gd name="adj" fmla="val 5714"/>
            </a:avLst>
          </a:prstGeom>
          <a:solidFill>
            <a:srgbClr val="ECEFF4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</a:rPr>
              <a:t>1단계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75564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E"/>
                </a:solidFill>
              </a:rPr>
              <a:t>출결 + 학부모 자동 알림 + 학생 마스터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784080" y="1764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A7585"/>
                </a:solidFill>
              </a:rPr>
              <a:t>4~6주</a:t>
            </a:r>
            <a:endParaRPr lang="en-US" sz="1400" dirty="0"/>
          </a:p>
        </p:txBody>
      </p:sp>
      <p:sp>
        <p:nvSpPr>
          <p:cNvPr id="7" name="sys-1"/>
          <p:cNvSpPr/>
          <p:nvPr/>
        </p:nvSpPr>
        <p:spPr>
          <a:xfrm>
            <a:off x="685800" y="2606040"/>
            <a:ext cx="10835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</a:rPr>
              <a:t>2단계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89864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E"/>
                </a:solidFill>
              </a:rPr>
              <a:t>수납 · 미납 + 성적 이력 + 월말 리포트 자동화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784080" y="2907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A7585"/>
                </a:solidFill>
              </a:rPr>
              <a:t>6~8주</a:t>
            </a:r>
            <a:endParaRPr lang="en-US" sz="1400" dirty="0"/>
          </a:p>
        </p:txBody>
      </p:sp>
      <p:sp>
        <p:nvSpPr>
          <p:cNvPr id="11" name="sys-2"/>
          <p:cNvSpPr/>
          <p:nvPr/>
        </p:nvSpPr>
        <p:spPr>
          <a:xfrm>
            <a:off x="685800" y="3749040"/>
            <a:ext cx="10835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023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</a:rPr>
              <a:t>3단계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404164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E"/>
                </a:solidFill>
              </a:rPr>
              <a:t>캠프 운영 모듈 + 강사 시수 · 급여 + 본부 대시보드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784080" y="4050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A7585"/>
                </a:solidFill>
              </a:rPr>
              <a:t>8~10주</a:t>
            </a:r>
            <a:endParaRPr lang="en-US" sz="1400" dirty="0"/>
          </a:p>
        </p:txBody>
      </p:sp>
      <p:sp>
        <p:nvSpPr>
          <p:cNvPr id="15" name="camp-mod"/>
          <p:cNvSpPr/>
          <p:nvPr/>
        </p:nvSpPr>
        <p:spPr>
          <a:xfrm>
            <a:off x="685800" y="4983480"/>
            <a:ext cx="10835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51663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</a:rPr>
              <a:t>차별점은 캠프 운영 모듈입니다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5595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</a:rPr>
              <a:t>여권 정보 · 숙소 배정 · 투약 기록 · 액티비티 출결 · 일일 사진 전송 — 캠프를 해 본 사람만 만들 수 있는 기능입니다.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5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64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</a:rPr>
              <a:t>PART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92608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유학지원센터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</a:rPr>
              <a:t>Part 1이 만든 신뢰를 돈으로 바꾸는 곳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202E"/>
                </a:solidFill>
              </a:rPr>
              <a:t>유학 설명회 — 100명을 만나야 3~5명이 간다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6642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6202E"/>
                </a:solidFill>
              </a:rPr>
              <a:t>설명회 참석</a:t>
            </a:r>
            <a:endParaRPr lang="en-US" sz="1550" dirty="0"/>
          </a:p>
        </p:txBody>
      </p:sp>
      <p:sp>
        <p:nvSpPr>
          <p:cNvPr id="4" name="fun-0"/>
          <p:cNvSpPr/>
          <p:nvPr/>
        </p:nvSpPr>
        <p:spPr>
          <a:xfrm>
            <a:off x="2743200" y="1508760"/>
            <a:ext cx="7132320" cy="658368"/>
          </a:xfrm>
          <a:prstGeom prst="roundRect">
            <a:avLst>
              <a:gd name="adj" fmla="val 8333"/>
            </a:avLst>
          </a:prstGeom>
          <a:solidFill>
            <a:srgbClr val="E0EE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76688" y="16642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A7585"/>
                </a:solidFill>
              </a:rPr>
              <a:t>100명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786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6202E"/>
                </a:solidFill>
              </a:rPr>
              <a:t>개별 상담</a:t>
            </a:r>
            <a:endParaRPr lang="en-US" sz="1550" dirty="0"/>
          </a:p>
        </p:txBody>
      </p:sp>
      <p:sp>
        <p:nvSpPr>
          <p:cNvPr id="7" name="fun-1"/>
          <p:cNvSpPr/>
          <p:nvPr/>
        </p:nvSpPr>
        <p:spPr>
          <a:xfrm>
            <a:off x="2743200" y="2423160"/>
            <a:ext cx="4297680" cy="658368"/>
          </a:xfrm>
          <a:prstGeom prst="roundRect">
            <a:avLst>
              <a:gd name="adj" fmla="val 8333"/>
            </a:avLst>
          </a:prstGeom>
          <a:solidFill>
            <a:srgbClr val="E0EE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42048" y="2578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A7585"/>
                </a:solidFill>
              </a:rPr>
              <a:t>30명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4930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6202E"/>
                </a:solidFill>
              </a:rPr>
              <a:t>현지 탐방</a:t>
            </a:r>
            <a:endParaRPr lang="en-US" sz="1550" dirty="0"/>
          </a:p>
        </p:txBody>
      </p:sp>
      <p:sp>
        <p:nvSpPr>
          <p:cNvPr id="10" name="fun-2"/>
          <p:cNvSpPr/>
          <p:nvPr/>
        </p:nvSpPr>
        <p:spPr>
          <a:xfrm>
            <a:off x="2743200" y="333756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E0EE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30368" y="34930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A7585"/>
                </a:solidFill>
              </a:rPr>
              <a:t>10명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07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6202E"/>
                </a:solidFill>
              </a:rPr>
              <a:t>실제 유학</a:t>
            </a:r>
            <a:endParaRPr lang="en-US" sz="1550" dirty="0"/>
          </a:p>
        </p:txBody>
      </p:sp>
      <p:sp>
        <p:nvSpPr>
          <p:cNvPr id="13" name="fun-3"/>
          <p:cNvSpPr/>
          <p:nvPr/>
        </p:nvSpPr>
        <p:spPr>
          <a:xfrm>
            <a:off x="2743200" y="425196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0F64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15968" y="44074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457"/>
                </a:solidFill>
              </a:rPr>
              <a:t>3~5명</a:t>
            </a:r>
            <a:endParaRPr lang="en-US" sz="1700" dirty="0"/>
          </a:p>
        </p:txBody>
      </p:sp>
      <p:sp>
        <p:nvSpPr>
          <p:cNvPr id="15" name="semi"/>
          <p:cNvSpPr/>
          <p:nvPr/>
        </p:nvSpPr>
        <p:spPr>
          <a:xfrm>
            <a:off x="685800" y="5257800"/>
            <a:ext cx="10835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F64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54864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6457"/>
                </a:solidFill>
              </a:rPr>
              <a:t>설명회 90분의 심장은 0:30–0:50 — 비용 구조입니다. 학부모는 “얼마 드나”를 들으러 옵니다.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5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202E"/>
                </a:solidFill>
              </a:rPr>
              <a:t>유학 지원 — 7단계와 수수료</a:t>
            </a:r>
            <a:endParaRPr lang="en-US" sz="3300" dirty="0"/>
          </a:p>
        </p:txBody>
      </p:sp>
      <p:sp>
        <p:nvSpPr>
          <p:cNvPr id="3" name="st-0"/>
          <p:cNvSpPr/>
          <p:nvPr/>
        </p:nvSpPr>
        <p:spPr>
          <a:xfrm>
            <a:off x="685800" y="146304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184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457"/>
                </a:solidFill>
              </a:rPr>
              <a:t>01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</a:rPr>
              <a:t>사전 상담</a:t>
            </a:r>
            <a:endParaRPr lang="en-US" sz="1500" dirty="0"/>
          </a:p>
        </p:txBody>
      </p:sp>
      <p:sp>
        <p:nvSpPr>
          <p:cNvPr id="6" name="st-1"/>
          <p:cNvSpPr/>
          <p:nvPr/>
        </p:nvSpPr>
        <p:spPr>
          <a:xfrm>
            <a:off x="3474720" y="146304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E0EEEA"/>
          </a:solidFill>
          <a:ln w="25400">
            <a:solidFill>
              <a:srgbClr val="0F64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03320" y="16184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457"/>
                </a:solidFill>
              </a:rPr>
              <a:t>02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19385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</a:rPr>
              <a:t>학교 탐방 투어</a:t>
            </a:r>
            <a:endParaRPr lang="en-US" sz="1500" dirty="0"/>
          </a:p>
        </p:txBody>
      </p:sp>
      <p:sp>
        <p:nvSpPr>
          <p:cNvPr id="9" name="st-2"/>
          <p:cNvSpPr/>
          <p:nvPr/>
        </p:nvSpPr>
        <p:spPr>
          <a:xfrm>
            <a:off x="6263640" y="146304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6184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457"/>
                </a:solidFill>
              </a:rPr>
              <a:t>03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9385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</a:rPr>
              <a:t>입학 상담 동행</a:t>
            </a:r>
            <a:endParaRPr lang="en-US" sz="1500" dirty="0"/>
          </a:p>
        </p:txBody>
      </p:sp>
      <p:sp>
        <p:nvSpPr>
          <p:cNvPr id="12" name="st-3"/>
          <p:cNvSpPr/>
          <p:nvPr/>
        </p:nvSpPr>
        <p:spPr>
          <a:xfrm>
            <a:off x="9052560" y="146304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16184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457"/>
                </a:solidFill>
              </a:rPr>
              <a:t>04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19385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</a:rPr>
              <a:t>서류 지원</a:t>
            </a:r>
            <a:endParaRPr lang="en-US" sz="1500" dirty="0"/>
          </a:p>
        </p:txBody>
      </p:sp>
      <p:sp>
        <p:nvSpPr>
          <p:cNvPr id="15" name="st-4"/>
          <p:cNvSpPr/>
          <p:nvPr/>
        </p:nvSpPr>
        <p:spPr>
          <a:xfrm>
            <a:off x="685800" y="278892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E0EEEA"/>
          </a:solidFill>
          <a:ln w="25400">
            <a:solidFill>
              <a:srgbClr val="0F64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457"/>
                </a:solidFill>
              </a:rPr>
              <a:t>05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2644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</a:rPr>
              <a:t>학생비자 동행</a:t>
            </a:r>
            <a:endParaRPr lang="en-US" sz="1500" dirty="0"/>
          </a:p>
        </p:txBody>
      </p:sp>
      <p:sp>
        <p:nvSpPr>
          <p:cNvPr id="18" name="st-5"/>
          <p:cNvSpPr/>
          <p:nvPr/>
        </p:nvSpPr>
        <p:spPr>
          <a:xfrm>
            <a:off x="3474720" y="278892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03320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457"/>
                </a:solidFill>
              </a:rPr>
              <a:t>06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703320" y="32644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</a:rPr>
              <a:t>정착 지원</a:t>
            </a:r>
            <a:endParaRPr lang="en-US" sz="1500" dirty="0"/>
          </a:p>
        </p:txBody>
      </p:sp>
      <p:sp>
        <p:nvSpPr>
          <p:cNvPr id="21" name="st-6"/>
          <p:cNvSpPr/>
          <p:nvPr/>
        </p:nvSpPr>
        <p:spPr>
          <a:xfrm>
            <a:off x="6263640" y="278892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457"/>
                </a:solidFill>
              </a:rPr>
              <a:t>07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2644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</a:rPr>
              <a:t>사후 관리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206240"/>
          <a:ext cx="54864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수수료 가안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(RM)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학교 탐방 투어 (3박4일, 1가족)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2,500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입학 지원 패키지 (1~5단계)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6,000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정착 지원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2,500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사후 관리 (연)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1,200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fee-note"/>
          <p:cNvSpPr/>
          <p:nvPr/>
        </p:nvSpPr>
        <p:spPr>
          <a:xfrm>
            <a:off x="6492240" y="4206240"/>
            <a:ext cx="50292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9E3F2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12280" y="4407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3F23"/>
                </a:solidFill>
              </a:rPr>
              <a:t>소개 수수료는 먼저 밝힙니다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812280" y="48006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</a:rPr>
              <a:t>학교로부터 커미션을 받는 경우 학부모에게 사전에 알립니다. 숨기면 신뢰가 무너지고, 밝히면 전문가로 보입니다.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5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202E"/>
                </a:solidFill>
              </a:rPr>
              <a:t>말레이시아 &amp; 싱가포르 진학</a:t>
            </a:r>
            <a:endParaRPr lang="en-US" sz="3300" dirty="0"/>
          </a:p>
        </p:txBody>
      </p:sp>
      <p:sp>
        <p:nvSpPr>
          <p:cNvPr id="3" name="sch-0"/>
          <p:cNvSpPr/>
          <p:nvPr/>
        </p:nvSpPr>
        <p:spPr>
          <a:xfrm>
            <a:off x="685800" y="14630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F64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457"/>
                </a:solidFill>
              </a:rPr>
              <a:t>영국식 국제학교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585"/>
                </a:solidFill>
              </a:rPr>
              <a:t>IGCSE → A-Level</a:t>
            </a:r>
            <a:endParaRPr lang="en-US" sz="1250" dirty="0"/>
          </a:p>
        </p:txBody>
      </p:sp>
      <p:sp>
        <p:nvSpPr>
          <p:cNvPr id="6" name="sch-1"/>
          <p:cNvSpPr/>
          <p:nvPr/>
        </p:nvSpPr>
        <p:spPr>
          <a:xfrm>
            <a:off x="3474720" y="14630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03320" y="1691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</a:rPr>
              <a:t>미국식 국제학교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585"/>
                </a:solidFill>
              </a:rPr>
              <a:t>AP · 미국 고교</a:t>
            </a:r>
            <a:endParaRPr lang="en-US" sz="1250" dirty="0"/>
          </a:p>
        </p:txBody>
      </p:sp>
      <p:sp>
        <p:nvSpPr>
          <p:cNvPr id="9" name="sch-2"/>
          <p:cNvSpPr/>
          <p:nvPr/>
        </p:nvSpPr>
        <p:spPr>
          <a:xfrm>
            <a:off x="6263640" y="14630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8A5A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691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4"/>
                </a:solidFill>
              </a:rPr>
              <a:t>IB 학교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585"/>
                </a:solidFill>
              </a:rPr>
              <a:t>IB Diploma</a:t>
            </a:r>
            <a:endParaRPr lang="en-US" sz="1250" dirty="0"/>
          </a:p>
        </p:txBody>
      </p:sp>
      <p:sp>
        <p:nvSpPr>
          <p:cNvPr id="12" name="sch-3"/>
          <p:cNvSpPr/>
          <p:nvPr/>
        </p:nvSpPr>
        <p:spPr>
          <a:xfrm>
            <a:off x="9052560" y="14630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6A75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1691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7585"/>
                </a:solidFill>
              </a:rPr>
              <a:t>현지 사립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585"/>
                </a:solidFill>
              </a:rPr>
              <a:t>말레이시아 과정 + 영어</a:t>
            </a:r>
            <a:endParaRPr lang="en-US" sz="1250" dirty="0"/>
          </a:p>
        </p:txBody>
      </p:sp>
      <p:sp>
        <p:nvSpPr>
          <p:cNvPr id="15" name="branch"/>
          <p:cNvSpPr/>
          <p:nvPr/>
        </p:nvSpPr>
        <p:spPr>
          <a:xfrm>
            <a:off x="685800" y="3063240"/>
            <a:ext cx="10835640" cy="1463040"/>
          </a:xfrm>
          <a:prstGeom prst="roundRect">
            <a:avLst>
              <a:gd name="adj" fmla="val 3750"/>
            </a:avLst>
          </a:prstGeom>
          <a:solidFill>
            <a:srgbClr val="E0EEEA"/>
          </a:solidFill>
          <a:ln w="25400">
            <a:solidFill>
              <a:srgbClr val="0F64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32918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457"/>
                </a:solidFill>
              </a:rPr>
              <a:t>핵심 셀링포인트 — 모나쉬 · 노팅엄 말레이시아 캠퍼스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7490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02E"/>
                </a:solidFill>
              </a:rPr>
              <a:t>영국 · 호주 본교 학위를 현지 비용으로 받는 구조를 한국 학부모 다수가 모릅니다. 자료집 한 쪽을 여기에 씁니다.</a:t>
            </a:r>
            <a:endParaRPr lang="en-US" sz="1450" dirty="0"/>
          </a:p>
        </p:txBody>
      </p:sp>
      <p:sp>
        <p:nvSpPr>
          <p:cNvPr id="18" name="cost-warn2"/>
          <p:cNvSpPr/>
          <p:nvPr/>
        </p:nvSpPr>
        <p:spPr>
          <a:xfrm>
            <a:off x="685800" y="4709160"/>
            <a:ext cx="10835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9E3F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4892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3F23"/>
                </a:solidFill>
              </a:rPr>
              <a:t>비용은 범위로만 말합니다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2852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</a:rPr>
              <a:t>학교 공식 fee schedule(연도 표기) · 입학처 서면 · 거주 가정 2곳 인터뷰로 확인한 뒤, 출처와 날짜를 함께 말합니다.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5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8A5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</a:rPr>
              <a:t>PART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92608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비즈니스지원센터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</a:rPr>
              <a:t>IT · 출판 · 리크루팅 · 한글 플랫폼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202E"/>
                </a:solidFill>
              </a:rPr>
              <a:t>IT 비즈니스</a:t>
            </a:r>
            <a:endParaRPr lang="en-US" sz="3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108356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  <a:gridCol w="3154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과금 가안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홈페이지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학원 소개 · 상담 신청 · 모바일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구축 RM 3,500 + 월 250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블로그 · SNS 운영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 제작 · 업로드 · 리포트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RM 800~1,500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유튜브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 · 편집 · 썸네일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편당 RM 400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학원 관리 시스템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출결 · 수납 · 알림 · 대시보드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RM 300~600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i-note"/>
          <p:cNvSpPr/>
          <p:nvPr/>
        </p:nvSpPr>
        <p:spPr>
          <a:xfrm>
            <a:off x="685800" y="3886200"/>
            <a:ext cx="108356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9E3F2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41148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3F23"/>
                </a:solidFill>
              </a:rPr>
              <a:t>AI 영어 앱은 가장 나중입니다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457200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</a:rPr>
              <a:t>개발비와 기간이 가장 크고(6~9개월) 경쟁이 가장 치열합니다. 학생이 없는 상태에서 앱을 만들면 쓸 사람이 없습니다.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</a:rPr>
              <a:t>가맹 학원 3곳 + 학생 300명이 모인 뒤에 시작합니다. 먼저 할 일은 관리 시스템에 말하기 연습 기능 하나만 웹으로 붙여 보는 것입니다.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</a:rPr>
              <a:t>우리의 무기는 AI 기술이 아니라 교실과 교사와 학생입니다.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5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202E"/>
                </a:solidFill>
              </a:rPr>
              <a:t>출판 — 반복 수익이자 품질 통제 장치</a:t>
            </a:r>
            <a:endParaRPr lang="en-US" sz="3300" dirty="0"/>
          </a:p>
        </p:txBody>
      </p:sp>
      <p:sp>
        <p:nvSpPr>
          <p:cNvPr id="3" name="pub-0"/>
          <p:cNvSpPr/>
          <p:nvPr/>
        </p:nvSpPr>
        <p:spPr>
          <a:xfrm>
            <a:off x="685800" y="1463040"/>
            <a:ext cx="34290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</a:rPr>
              <a:t>캠프 4주 완성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585"/>
                </a:solidFill>
              </a:rPr>
              <a:t>캠프 참가자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42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14"/>
                </a:solidFill>
              </a:rPr>
              <a:t>1권 + 단어장</a:t>
            </a:r>
            <a:endParaRPr lang="en-US" sz="1300" dirty="0"/>
          </a:p>
        </p:txBody>
      </p:sp>
      <p:sp>
        <p:nvSpPr>
          <p:cNvPr id="7" name="pub-1"/>
          <p:cNvSpPr/>
          <p:nvPr/>
        </p:nvSpPr>
        <p:spPr>
          <a:xfrm>
            <a:off x="4389120" y="1463040"/>
            <a:ext cx="34290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</a:rPr>
              <a:t>정규 영어 레벨 1~6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585"/>
                </a:solidFill>
              </a:rPr>
              <a:t>초등 ~ 중등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542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14"/>
                </a:solidFill>
              </a:rPr>
              <a:t>레벨당 2권</a:t>
            </a:r>
            <a:endParaRPr lang="en-US" sz="1300" dirty="0"/>
          </a:p>
        </p:txBody>
      </p:sp>
      <p:sp>
        <p:nvSpPr>
          <p:cNvPr id="11" name="pub-2"/>
          <p:cNvSpPr/>
          <p:nvPr/>
        </p:nvSpPr>
        <p:spPr>
          <a:xfrm>
            <a:off x="8092440" y="1463040"/>
            <a:ext cx="3429000" cy="1463040"/>
          </a:xfrm>
          <a:prstGeom prst="roundRect">
            <a:avLst>
              <a:gd name="adj" fmla="val 3750"/>
            </a:avLst>
          </a:prstGeom>
          <a:solidFill>
            <a:srgbClr val="F5EADA"/>
          </a:solidFill>
          <a:ln w="25400">
            <a:solidFill>
              <a:srgbClr val="8A5A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676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</a:rPr>
              <a:t>교사용 지도서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585"/>
                </a:solidFill>
              </a:rPr>
              <a:t>전 교사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542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14"/>
                </a:solidFill>
              </a:rPr>
              <a:t>교재별 1권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200400"/>
          <a:ext cx="5394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단가 구조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(RM)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 원가 (인쇄 · 물류)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공급가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권당 본부 마진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학원 1곳(150명) 연 600권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4,200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pub-note"/>
          <p:cNvSpPr/>
          <p:nvPr/>
        </p:nvSpPr>
        <p:spPr>
          <a:xfrm>
            <a:off x="6400800" y="3200400"/>
            <a:ext cx="5120640" cy="1828800"/>
          </a:xfrm>
          <a:prstGeom prst="roundRect">
            <a:avLst>
              <a:gd name="adj" fmla="val 3000"/>
            </a:avLst>
          </a:prstGeom>
          <a:solidFill>
            <a:srgbClr val="F5EADA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2084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5A14"/>
                </a:solidFill>
              </a:rPr>
              <a:t>교사용 지도서를 반드시 같이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38404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2E"/>
                </a:solidFill>
              </a:rPr>
              <a:t>교재만 주면 안 씁니다. 교사가 준비 없이 들어가도 수업이 되는 1쪽 요약이 있어야 실제로 쓰입니다.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5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202E"/>
                </a:solidFill>
              </a:rPr>
              <a:t>리크루팅 · 교육 — 확장의 병목은 사람</a:t>
            </a:r>
            <a:endParaRPr lang="en-US" sz="3300" dirty="0"/>
          </a:p>
        </p:txBody>
      </p:sp>
      <p:sp>
        <p:nvSpPr>
          <p:cNvPr id="3" name="rc-0"/>
          <p:cNvSpPr/>
          <p:nvPr/>
        </p:nvSpPr>
        <p:spPr>
          <a:xfrm>
            <a:off x="685800" y="1463040"/>
            <a:ext cx="1664208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276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14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3852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</a:rPr>
              <a:t>모집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86584" y="2029968"/>
            <a:ext cx="109728" cy="201168"/>
          </a:xfrm>
          <a:prstGeom prst="rightArrow">
            <a:avLst/>
          </a:prstGeom>
          <a:solidFill>
            <a:srgbClr val="8A5A14"/>
          </a:solidFill>
          <a:ln/>
        </p:spPr>
      </p:sp>
      <p:sp>
        <p:nvSpPr>
          <p:cNvPr id="7" name="rc-1"/>
          <p:cNvSpPr/>
          <p:nvPr/>
        </p:nvSpPr>
        <p:spPr>
          <a:xfrm>
            <a:off x="2514600" y="1463040"/>
            <a:ext cx="1664208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6276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14"/>
                </a:solidFill>
              </a:rPr>
              <a:t>02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3852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</a:rPr>
              <a:t>선발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15384" y="2029968"/>
            <a:ext cx="109728" cy="201168"/>
          </a:xfrm>
          <a:prstGeom prst="rightArrow">
            <a:avLst/>
          </a:prstGeom>
          <a:solidFill>
            <a:srgbClr val="8A5A14"/>
          </a:solidFill>
          <a:ln/>
        </p:spPr>
      </p:sp>
      <p:sp>
        <p:nvSpPr>
          <p:cNvPr id="11" name="rc-2"/>
          <p:cNvSpPr/>
          <p:nvPr/>
        </p:nvSpPr>
        <p:spPr>
          <a:xfrm>
            <a:off x="4343400" y="1463040"/>
            <a:ext cx="1664208" cy="1280160"/>
          </a:xfrm>
          <a:prstGeom prst="roundRect">
            <a:avLst>
              <a:gd name="adj" fmla="val 4286"/>
            </a:avLst>
          </a:prstGeom>
          <a:solidFill>
            <a:srgbClr val="F5EADA"/>
          </a:solidFill>
          <a:ln w="25400">
            <a:solidFill>
              <a:srgbClr val="8A5A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16276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14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193852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</a:rPr>
              <a:t>학생비자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44184" y="2029968"/>
            <a:ext cx="109728" cy="201168"/>
          </a:xfrm>
          <a:prstGeom prst="rightArrow">
            <a:avLst/>
          </a:prstGeom>
          <a:solidFill>
            <a:srgbClr val="8A5A14"/>
          </a:solidFill>
          <a:ln/>
        </p:spPr>
      </p:sp>
      <p:sp>
        <p:nvSpPr>
          <p:cNvPr id="15" name="rc-3"/>
          <p:cNvSpPr/>
          <p:nvPr/>
        </p:nvSpPr>
        <p:spPr>
          <a:xfrm>
            <a:off x="6172200" y="1463040"/>
            <a:ext cx="1664208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6276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14"/>
                </a:solidFill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193852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</a:rPr>
              <a:t>인턴십 3개월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872984" y="2029968"/>
            <a:ext cx="109728" cy="201168"/>
          </a:xfrm>
          <a:prstGeom prst="rightArrow">
            <a:avLst/>
          </a:prstGeom>
          <a:solidFill>
            <a:srgbClr val="8A5A14"/>
          </a:solidFill>
          <a:ln/>
        </p:spPr>
      </p:sp>
      <p:sp>
        <p:nvSpPr>
          <p:cNvPr id="19" name="rc-4"/>
          <p:cNvSpPr/>
          <p:nvPr/>
        </p:nvSpPr>
        <p:spPr>
          <a:xfrm>
            <a:off x="8001000" y="1463040"/>
            <a:ext cx="1664208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16276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14"/>
                </a:solidFill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193852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</a:rPr>
              <a:t>커리큘럼 교육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701784" y="2029968"/>
            <a:ext cx="109728" cy="201168"/>
          </a:xfrm>
          <a:prstGeom prst="rightArrow">
            <a:avLst/>
          </a:prstGeom>
          <a:solidFill>
            <a:srgbClr val="8A5A14"/>
          </a:solidFill>
          <a:ln/>
        </p:spPr>
      </p:sp>
      <p:sp>
        <p:nvSpPr>
          <p:cNvPr id="23" name="rc-5"/>
          <p:cNvSpPr/>
          <p:nvPr/>
        </p:nvSpPr>
        <p:spPr>
          <a:xfrm>
            <a:off x="9829800" y="1463040"/>
            <a:ext cx="1664208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12680" y="16276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14"/>
                </a:solidFill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012680" y="193852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</a:rPr>
              <a:t>채용 · 배치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017520"/>
          <a:ext cx="108356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520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대학 연계 형태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대학 측 이점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현장실습 · 학점 인정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방학 중 4~8주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해외 실습 실적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어학연수 + 인턴십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학기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취업률 지표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복수 파견 협약(MOU)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2회 정기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국제화 지표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mou-note"/>
          <p:cNvSpPr/>
          <p:nvPr/>
        </p:nvSpPr>
        <p:spPr>
          <a:xfrm>
            <a:off x="685800" y="4846320"/>
            <a:ext cx="10835640" cy="1051560"/>
          </a:xfrm>
          <a:prstGeom prst="roundRect">
            <a:avLst>
              <a:gd name="adj" fmla="val 5217"/>
            </a:avLst>
          </a:prstGeom>
          <a:solidFill>
            <a:srgbClr val="F5EADA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05840" y="50749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5A14"/>
                </a:solidFill>
              </a:rPr>
              <a:t>대학 MOU 하나면 매 학기 사람이 옵니다 — 개별 모집은 1명씩 설득해야 합니다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1005840" y="54864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2E"/>
                </a:solidFill>
              </a:rPr>
              <a:t>접촉 대상 — 영어교육과 · 국제학부 · 사회봉사센터 · 취업지원처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5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202E"/>
                </a:solidFill>
              </a:rPr>
              <a:t>한글 플랫폼 — 소중한글</a:t>
            </a:r>
            <a:endParaRPr lang="en-US" sz="3300" dirty="0"/>
          </a:p>
        </p:txBody>
      </p:sp>
      <p:sp>
        <p:nvSpPr>
          <p:cNvPr id="3" name="kr-lead"/>
          <p:cNvSpPr/>
          <p:nvPr/>
        </p:nvSpPr>
        <p:spPr>
          <a:xfrm>
            <a:off x="685800" y="1371600"/>
            <a:ext cx="10835640" cy="1051560"/>
          </a:xfrm>
          <a:prstGeom prst="roundRect">
            <a:avLst>
              <a:gd name="adj" fmla="val 5217"/>
            </a:avLst>
          </a:prstGeom>
          <a:solidFill>
            <a:srgbClr val="F5EADA"/>
          </a:solidFill>
          <a:ln w="25400">
            <a:solidFill>
              <a:srgbClr val="8A5A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5727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5A14"/>
                </a:solidFill>
              </a:rPr>
              <a:t>학원이 빈 시간대를 매출로 바꾸는 가장 빠른 방법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9933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</a:rPr>
              <a:t>캠프는 1년에 두 번이지만 한글 수업은 매달 들어옵니다. 오전 · 이른 오후를 쓰므로 공간 비용이 추가되지 않습니다.</a:t>
            </a:r>
            <a:endParaRPr lang="en-US" sz="1400" dirty="0"/>
          </a:p>
        </p:txBody>
      </p:sp>
      <p:sp>
        <p:nvSpPr>
          <p:cNvPr id="6" name="kr-0"/>
          <p:cNvSpPr/>
          <p:nvPr/>
        </p:nvSpPr>
        <p:spPr>
          <a:xfrm>
            <a:off x="685800" y="260604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</a:rPr>
              <a:t>소중한글이란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918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A7585"/>
                </a:solidFill>
              </a:rPr>
              <a:t>H2K Research 개발 한글 학습 앱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A7585"/>
                </a:solidFill>
              </a:rPr>
              <a:t>2~4세용 · 5~7세용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A7585"/>
                </a:solidFill>
              </a:rPr>
              <a:t>AI 진단 기반 개인화 커리큘럼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A7585"/>
                </a:solidFill>
              </a:rPr>
              <a:t>파닉스 방식 · 콘텐츠 300개 이상</a:t>
            </a:r>
            <a:endParaRPr lang="en-US" sz="1250" dirty="0"/>
          </a:p>
        </p:txBody>
      </p:sp>
      <p:sp>
        <p:nvSpPr>
          <p:cNvPr id="9" name="kr-1"/>
          <p:cNvSpPr/>
          <p:nvPr/>
        </p:nvSpPr>
        <p:spPr>
          <a:xfrm>
            <a:off x="4389120" y="260604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</a:rPr>
              <a:t>수업 모델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2918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A7585"/>
                </a:solidFill>
              </a:rPr>
              <a:t>교실 주 2회 × 50분 (1반 6~8명)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A7585"/>
                </a:solidFill>
              </a:rPr>
              <a:t>앱 홈러닝 주 5일 하루 10분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A7585"/>
                </a:solidFill>
              </a:rPr>
              <a:t>월 1회 학부모 리포트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A7585"/>
                </a:solidFill>
              </a:rPr>
              <a:t>교사는 리크루팅 파이프라인에서</a:t>
            </a:r>
            <a:endParaRPr lang="en-US" sz="1250" dirty="0"/>
          </a:p>
        </p:txBody>
      </p:sp>
      <p:sp>
        <p:nvSpPr>
          <p:cNvPr id="12" name="kr-2"/>
          <p:cNvSpPr/>
          <p:nvPr/>
        </p:nvSpPr>
        <p:spPr>
          <a:xfrm>
            <a:off x="8092440" y="260604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25400">
            <a:solidFill>
              <a:srgbClr val="8A5A1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14"/>
                </a:solidFill>
              </a:rPr>
              <a:t>숫자 가안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2918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A7585"/>
                </a:solidFill>
              </a:rPr>
              <a:t>학생 월 RM 200~250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A7585"/>
                </a:solidFill>
              </a:rPr>
              <a:t>본부 몫 학생당 월 RM 50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A7585"/>
                </a:solidFill>
              </a:rPr>
              <a:t>학원 30명 → 월 RM 6,000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A7585"/>
                </a:solidFill>
              </a:rPr>
              <a:t>가맹 10곳 → 본부 월 RM 15,000</a:t>
            </a:r>
            <a:endParaRPr lang="en-US" sz="1250" dirty="0"/>
          </a:p>
        </p:txBody>
      </p:sp>
      <p:sp>
        <p:nvSpPr>
          <p:cNvPr id="15" name="kr-warn"/>
          <p:cNvSpPr/>
          <p:nvPr/>
        </p:nvSpPr>
        <p:spPr>
          <a:xfrm>
            <a:off x="685800" y="5074920"/>
            <a:ext cx="108356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E3F2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52578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3F23"/>
                </a:solidFill>
              </a:rPr>
              <a:t>MOU 전에 확인 — 지역 독점권 · 라이선스 단가 · 오프라인 수업 결합 허용 범위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63270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2E"/>
                </a:solidFill>
              </a:rPr>
              <a:t>우리는 재판매자가 아니라 해외 오프라인 거점입니다. 말레이시아 교실 데이터는 상대에게 해외 진출 레퍼런스가 됩니다.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5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202E"/>
                </a:solidFill>
              </a:rPr>
              <a:t>10개를 동시에 하면 하나도 안 된다</a:t>
            </a:r>
            <a:endParaRPr lang="en-US" sz="3300" dirty="0"/>
          </a:p>
        </p:txBody>
      </p:sp>
      <p:sp>
        <p:nvSpPr>
          <p:cNvPr id="3" name="pri-0"/>
          <p:cNvSpPr/>
          <p:nvPr/>
        </p:nvSpPr>
        <p:spPr>
          <a:xfrm>
            <a:off x="685800" y="1371600"/>
            <a:ext cx="5257800" cy="804672"/>
          </a:xfrm>
          <a:prstGeom prst="roundRect">
            <a:avLst>
              <a:gd name="adj" fmla="val 6818"/>
            </a:avLst>
          </a:prstGeom>
          <a:solidFill>
            <a:srgbClr val="ECEFF4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86968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630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</a:rPr>
              <a:t>어학캠프 (한국 학원 연계)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922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85"/>
                </a:solidFill>
              </a:rPr>
              <a:t>현금이 가장 빨리 돈다</a:t>
            </a:r>
            <a:endParaRPr lang="en-US" sz="1200" dirty="0"/>
          </a:p>
        </p:txBody>
      </p:sp>
      <p:sp>
        <p:nvSpPr>
          <p:cNvPr id="7" name="pri-1"/>
          <p:cNvSpPr/>
          <p:nvPr/>
        </p:nvSpPr>
        <p:spPr>
          <a:xfrm>
            <a:off x="6217920" y="1371600"/>
            <a:ext cx="5257800" cy="804672"/>
          </a:xfrm>
          <a:prstGeom prst="roundRect">
            <a:avLst>
              <a:gd name="adj" fmla="val 6818"/>
            </a:avLst>
          </a:prstGeom>
          <a:solidFill>
            <a:srgbClr val="ECEFF4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9088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14630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</a:rPr>
              <a:t>관리 시스템 1단계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17922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85"/>
                </a:solidFill>
              </a:rPr>
              <a:t>학원과의 관계를 여는 열쇠</a:t>
            </a:r>
            <a:endParaRPr lang="en-US" sz="1200" dirty="0"/>
          </a:p>
        </p:txBody>
      </p:sp>
      <p:sp>
        <p:nvSpPr>
          <p:cNvPr id="11" name="pri-2"/>
          <p:cNvSpPr/>
          <p:nvPr/>
        </p:nvSpPr>
        <p:spPr>
          <a:xfrm>
            <a:off x="685800" y="2313432"/>
            <a:ext cx="5257800" cy="804672"/>
          </a:xfrm>
          <a:prstGeom prst="roundRect">
            <a:avLst>
              <a:gd name="adj" fmla="val 6818"/>
            </a:avLst>
          </a:prstGeom>
          <a:solidFill>
            <a:srgbClr val="ECEFF4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25328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4048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</a:rPr>
              <a:t>유학 설명회 (한국)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73405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85"/>
                </a:solidFill>
              </a:rPr>
              <a:t>설명회 2회로 시장을 확인한다</a:t>
            </a:r>
            <a:endParaRPr lang="en-US" sz="1200" dirty="0"/>
          </a:p>
        </p:txBody>
      </p:sp>
      <p:sp>
        <p:nvSpPr>
          <p:cNvPr id="15" name="pri-3"/>
          <p:cNvSpPr/>
          <p:nvPr/>
        </p:nvSpPr>
        <p:spPr>
          <a:xfrm>
            <a:off x="6217920" y="2313432"/>
            <a:ext cx="5257800" cy="804672"/>
          </a:xfrm>
          <a:prstGeom prst="roundRect">
            <a:avLst>
              <a:gd name="adj" fmla="val 6818"/>
            </a:avLst>
          </a:prstGeom>
          <a:solidFill>
            <a:srgbClr val="ECEFF4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19088" y="25328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24048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</a:rPr>
              <a:t>한글 플랫폼 (소중한글)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273405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85"/>
                </a:solidFill>
              </a:rPr>
              <a:t>접촉은 지금, 개설은 캠프 뒤</a:t>
            </a:r>
            <a:endParaRPr lang="en-US" sz="1200" dirty="0"/>
          </a:p>
        </p:txBody>
      </p:sp>
      <p:sp>
        <p:nvSpPr>
          <p:cNvPr id="19" name="pri-4"/>
          <p:cNvSpPr/>
          <p:nvPr/>
        </p:nvSpPr>
        <p:spPr>
          <a:xfrm>
            <a:off x="685800" y="3255264"/>
            <a:ext cx="52578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7585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34670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</a:rPr>
              <a:t>홍보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6758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85"/>
                </a:solidFill>
              </a:rPr>
              <a:t>위의 결과물이 콘텐츠가 된다</a:t>
            </a:r>
            <a:endParaRPr lang="en-US" sz="1200" dirty="0"/>
          </a:p>
        </p:txBody>
      </p:sp>
      <p:sp>
        <p:nvSpPr>
          <p:cNvPr id="23" name="pri-5"/>
          <p:cNvSpPr/>
          <p:nvPr/>
        </p:nvSpPr>
        <p:spPr>
          <a:xfrm>
            <a:off x="6217920" y="3255264"/>
            <a:ext cx="52578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19088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7585"/>
                </a:solidFill>
              </a:rPr>
              <a:t>6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334670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</a:rPr>
              <a:t>리크루팅 (대학 MOU)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36758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85"/>
                </a:solidFill>
              </a:rPr>
              <a:t>사람이 있어야 확장한다</a:t>
            </a:r>
            <a:endParaRPr lang="en-US" sz="1200" dirty="0"/>
          </a:p>
        </p:txBody>
      </p:sp>
      <p:sp>
        <p:nvSpPr>
          <p:cNvPr id="27" name="pri-6"/>
          <p:cNvSpPr/>
          <p:nvPr/>
        </p:nvSpPr>
        <p:spPr>
          <a:xfrm>
            <a:off x="685800" y="4197096"/>
            <a:ext cx="52578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6968" y="4416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7585"/>
                </a:solidFill>
              </a:rPr>
              <a:t>7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463040" y="428853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</a:rPr>
              <a:t>출판 (캠프 교재)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1463040" y="46177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85"/>
                </a:solidFill>
              </a:rPr>
              <a:t>캠프 1기 직후</a:t>
            </a:r>
            <a:endParaRPr lang="en-US" sz="1200" dirty="0"/>
          </a:p>
        </p:txBody>
      </p:sp>
      <p:sp>
        <p:nvSpPr>
          <p:cNvPr id="31" name="pri-7"/>
          <p:cNvSpPr/>
          <p:nvPr/>
        </p:nvSpPr>
        <p:spPr>
          <a:xfrm>
            <a:off x="6217920" y="4197096"/>
            <a:ext cx="52578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19088" y="4416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7585"/>
                </a:solidFill>
              </a:rPr>
              <a:t>8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428853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</a:rPr>
              <a:t>유학 지원 (현지 · 진학)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6995160" y="46177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85"/>
                </a:solidFill>
              </a:rPr>
              <a:t>설명회 수요가 확인된 뒤</a:t>
            </a:r>
            <a:endParaRPr lang="en-US" sz="1200" dirty="0"/>
          </a:p>
        </p:txBody>
      </p:sp>
      <p:sp>
        <p:nvSpPr>
          <p:cNvPr id="35" name="pri-8"/>
          <p:cNvSpPr/>
          <p:nvPr/>
        </p:nvSpPr>
        <p:spPr>
          <a:xfrm>
            <a:off x="685800" y="5138928"/>
            <a:ext cx="52578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86968" y="53583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7585"/>
                </a:solidFill>
              </a:rPr>
              <a:t>9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463040" y="52303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</a:rPr>
              <a:t>IT 서비스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1463040" y="55595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85"/>
                </a:solidFill>
              </a:rPr>
              <a:t>가맹 학원이 생긴 뒤</a:t>
            </a:r>
            <a:endParaRPr lang="en-US" sz="1200" dirty="0"/>
          </a:p>
        </p:txBody>
      </p:sp>
      <p:sp>
        <p:nvSpPr>
          <p:cNvPr id="39" name="pri-9"/>
          <p:cNvSpPr/>
          <p:nvPr/>
        </p:nvSpPr>
        <p:spPr>
          <a:xfrm>
            <a:off x="6217920" y="5138928"/>
            <a:ext cx="52578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19088" y="53583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7585"/>
                </a:solidFill>
              </a:rPr>
              <a:t>10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995160" y="52303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</a:rPr>
              <a:t>AI 영어 앱</a:t>
            </a:r>
            <a:endParaRPr lang="en-US" sz="1450" dirty="0"/>
          </a:p>
        </p:txBody>
      </p:sp>
      <p:sp>
        <p:nvSpPr>
          <p:cNvPr id="42" name="Text 40"/>
          <p:cNvSpPr txBox="1"/>
          <p:nvPr/>
        </p:nvSpPr>
        <p:spPr>
          <a:xfrm>
            <a:off x="6995160" y="55595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85"/>
                </a:solidFill>
              </a:rPr>
              <a:t>학생 300명이 모인 뒤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589788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</a:rPr>
              <a:t>분기당 2개만 엽니다. 나머지는 문서로만 존재해도 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5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202E"/>
                </a:solidFill>
              </a:rPr>
              <a:t>90일 로드맵과 선결 과제</a:t>
            </a:r>
            <a:endParaRPr lang="en-US" sz="3300" dirty="0"/>
          </a:p>
        </p:txBody>
      </p:sp>
      <p:sp>
        <p:nvSpPr>
          <p:cNvPr id="3" name="rm-0"/>
          <p:cNvSpPr/>
          <p:nvPr/>
        </p:nvSpPr>
        <p:spPr>
          <a:xfrm>
            <a:off x="685800" y="1417320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27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D+1~30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0574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7585"/>
                </a:solidFill>
              </a:rPr>
              <a:t>어학원 합의 · 시스템 1단계 착수 · 한국 학원 3곳 접촉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7585"/>
                </a:solidFill>
              </a:rPr>
              <a:t>변호사 · 이민 자문 2건 · 소중한글 접촉 메일</a:t>
            </a:r>
            <a:endParaRPr lang="en-US" sz="1300" dirty="0"/>
          </a:p>
        </p:txBody>
      </p:sp>
      <p:sp>
        <p:nvSpPr>
          <p:cNvPr id="6" name="rm-1"/>
          <p:cNvSpPr/>
          <p:nvPr/>
        </p:nvSpPr>
        <p:spPr>
          <a:xfrm>
            <a:off x="4389120" y="1417320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627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D+31~60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0574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7585"/>
                </a:solidFill>
              </a:rPr>
              <a:t>겨울캠프 모객 (11월 중순 마감) · 시스템 1단계 가동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7585"/>
                </a:solidFill>
              </a:rPr>
              <a:t>유학 설명회 1회</a:t>
            </a:r>
            <a:endParaRPr lang="en-US" sz="1300" dirty="0"/>
          </a:p>
        </p:txBody>
      </p:sp>
      <p:sp>
        <p:nvSpPr>
          <p:cNvPr id="9" name="rm-2"/>
          <p:cNvSpPr/>
          <p:nvPr/>
        </p:nvSpPr>
        <p:spPr>
          <a:xfrm>
            <a:off x="8092440" y="1417320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66760" y="1627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D+61~90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0574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7585"/>
                </a:solidFill>
              </a:rPr>
              <a:t>캠프 1기 운영 · 콘텐츠 축적 · 대학 MOU 1곳 접촉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7585"/>
                </a:solidFill>
              </a:rPr>
              <a:t>교재 기획 착수</a:t>
            </a:r>
            <a:endParaRPr lang="en-US" sz="1300" dirty="0"/>
          </a:p>
        </p:txBody>
      </p:sp>
      <p:sp>
        <p:nvSpPr>
          <p:cNvPr id="12" name="risk"/>
          <p:cNvSpPr/>
          <p:nvPr/>
        </p:nvSpPr>
        <p:spPr>
          <a:xfrm>
            <a:off x="685800" y="3566160"/>
            <a:ext cx="108356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25400">
            <a:solidFill>
              <a:srgbClr val="9E3F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749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3F23"/>
                </a:solidFill>
              </a:rPr>
              <a:t>착수 전에 반드시 풀어야 할 두 가지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251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</a:rPr>
              <a:t>프랜차이즈법 (1998)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4270248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585"/>
                </a:solidFill>
              </a:rPr>
              <a:t>가맹비가 없어도 등록 의무 대상일 수 있습니다. MyFEX 2.0 등록 여부를 1호점 모집 전에 변호사와 확정합니다. 미등록 시 법인 벌금 최대 RM 250,000.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</a:rPr>
              <a:t>학생비자 인턴십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5047488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585"/>
                </a:solidFill>
              </a:rPr>
              <a:t>보수를 받는 수업 보조는 근로로 볼 여지가 있습니다. 인턴십을 교육과정의 일부로 설계하고 보수 지급 전 자문을 받습니다.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5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Part 1 입구 · Part 2 전환 · Part 3 복제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14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>
                    <a:alpha val="90000"/>
                  </a:srgbClr>
                </a:solidFill>
              </a:rPr>
              <a:t>세 센터가 같은 토대를 씁니다 — 하나를 세우면 나머지 둘이 쉬워집니다</a:t>
            </a:r>
            <a:endParaRPr lang="en-US" sz="1900" dirty="0"/>
          </a:p>
        </p:txBody>
      </p:sp>
      <p:sp>
        <p:nvSpPr>
          <p:cNvPr id="4" name="end-0"/>
          <p:cNvSpPr/>
          <p:nvPr/>
        </p:nvSpPr>
        <p:spPr>
          <a:xfrm>
            <a:off x="822960" y="3474720"/>
            <a:ext cx="32918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지금 여는 것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7585"/>
                </a:solidFill>
              </a:rPr>
              <a:t>어학캠프 · 관리 시스템</a:t>
            </a:r>
            <a:endParaRPr lang="en-US" sz="1350" dirty="0"/>
          </a:p>
        </p:txBody>
      </p:sp>
      <p:sp>
        <p:nvSpPr>
          <p:cNvPr id="7" name="end-1"/>
          <p:cNvSpPr/>
          <p:nvPr/>
        </p:nvSpPr>
        <p:spPr>
          <a:xfrm>
            <a:off x="4389120" y="3474720"/>
            <a:ext cx="32918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지금 접촉할 것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7585"/>
                </a:solidFill>
              </a:rPr>
              <a:t>소중한글 · 한국 학원 3곳</a:t>
            </a:r>
            <a:endParaRPr lang="en-US" sz="1350" dirty="0"/>
          </a:p>
        </p:txBody>
      </p:sp>
      <p:sp>
        <p:nvSpPr>
          <p:cNvPr id="10" name="end-2"/>
          <p:cNvSpPr/>
          <p:nvPr/>
        </p:nvSpPr>
        <p:spPr>
          <a:xfrm>
            <a:off x="7955280" y="3474720"/>
            <a:ext cx="32918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지금 받을 자문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7585"/>
                </a:solidFill>
              </a:rPr>
              <a:t>프랜차이즈법 · 학생비자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</a:rPr>
              <a:t>통합 지원센터 사업 구조 v2.0   ·   금액은 모두 가안이며 실제 단가 확인 후 갱신합니다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grated Support Center">
  <a:themeElements>
    <a:clrScheme name="Integrated Support Center">
      <a:dk1>
        <a:srgbClr val="16202E"/>
      </a:dk1>
      <a:lt1>
        <a:srgbClr val="FFFFFF"/>
      </a:lt1>
      <a:dk2>
        <a:srgbClr val="1B3A6B"/>
      </a:dk2>
      <a:lt2>
        <a:srgbClr val="ECEFF4"/>
      </a:lt2>
      <a:accent1>
        <a:srgbClr val="1B3A6B"/>
      </a:accent1>
      <a:accent2>
        <a:srgbClr val="0F6457"/>
      </a:accent2>
      <a:accent3>
        <a:srgbClr val="8A5A14"/>
      </a:accent3>
      <a:accent4>
        <a:srgbClr val="45B49E"/>
      </a:accent4>
      <a:accent5>
        <a:srgbClr val="9E3F23"/>
      </a:accent5>
      <a:accent6>
        <a:srgbClr val="6A7585"/>
      </a:accent6>
      <a:hlink>
        <a:srgbClr val="1B3A6B"/>
      </a:hlink>
      <a:folHlink>
        <a:srgbClr val="6A7585"/>
      </a:folHlink>
    </a:clrScheme>
    <a:fontScheme name="Integrated Support Cente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통합 지원센터 사업 구조</dc:title>
  <dc:subject>PptxGenJS Presentation</dc:subject>
  <dc:creator>통합 지원센터</dc:creator>
  <cp:lastModifiedBy>통합 지원센터</cp:lastModifiedBy>
  <cp:revision>1</cp:revision>
  <dcterms:created xsi:type="dcterms:W3CDTF">2026-10-05T09:53:50Z</dcterms:created>
  <dcterms:modified xsi:type="dcterms:W3CDTF">2026-10-05T09:53:50Z</dcterms:modified>
</cp:coreProperties>
</file>