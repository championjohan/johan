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36e9ca6-ed94-e107-308e-b3c2427667b9}">
          <p14:sldIdLst>
            <p14:sldId id="256"/>
            <p14:sldId id="257"/>
          </p14:sldIdLst>
        </p14:section>
        <p14:section name="왜 말레이시아인가" id="{be580854-0e5b-da14-20ff-044402c950ab}">
          <p14:sldIdLst>
            <p14:sldId id="258"/>
            <p14:sldId id="259"/>
            <p14:sldId id="260"/>
            <p14:sldId id="261"/>
          </p14:sldIdLst>
        </p14:section>
        <p14:section name="학교와 학년" id="{ac3cd7cc-c097-53b6-2375-318f54e98c1f}">
          <p14:sldIdLst>
            <p14:sldId id="262"/>
            <p14:sldId id="263"/>
            <p14:sldId id="264"/>
          </p14:sldIdLst>
        </p14:section>
        <p14:section name="비용과 비자" id="{f459afbc-d8ad-53fe-8d4a-88d27ca1aa8d}">
          <p14:sldIdLst>
            <p14:sldId id="265"/>
            <p14:sldId id="266"/>
            <p14:sldId id="267"/>
          </p14:sldIdLst>
        </p14:section>
        <p14:section name="준비와 상담" id="{7fb040a4-ee6e-7d26-96f7-270f960e118b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1분. 오늘 90분 동안 무엇을 다루는지 먼저 말하고 시작한다. 숫자는 뒤에서 자세히 다룬다고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6개를 다 말하지 말고 '비용과 비자' 두 가지가 오늘의 핵심이라고 짚어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3번(분교)을 가장 강조한다. 모르는 학부모가 많다. 영국·호주 본교 학위를 현지 비용으로 받는다는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거리와 시차를 체감으로 설명. 금요일 저녁에 출발해 일요일에 돌아올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설명회의 신뢰를 만든다. 단점을 먼저 말하는 쪽이 믿음을 얻는다. 어차피 검색하면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가장 많이 묻는 것은 '어느 학교가 좋나'. 좋은 학교가 아니라 '우리 아이에게 맞는 학교'로 돌려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학년이 내려갈 수 있다는 점을 미리 말해 두면 나중에 불만이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절대 '대략 얼마'라고 말하지 않는다. '○○학교 2026학년도 공식 자료 기준, 확인 날짜 ○월 ○일'로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D-4개월만 기억하시라고 반복한다. 이 숫자 하나가 설명회에서 가장 실용적인 정보다.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자료집 8쪽에 체크박스 형태로 들어 있다고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캠프를 먼저 권하는 것이 신뢰를 만든다. 당장 유학을 결정하라고 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신청서는 그 자리에서 걷는다. 집에 가져가면 돌아오지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6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>
                    <a:alpha val="75000"/>
                  </a:srgbClr>
                </a:solidFill>
              </a:rPr>
              <a:t>STUDY IN MALAYSIA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 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 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6221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6F"/>
                </a:solidFill>
              </a:rPr>
              <a:t>말레이시아 유학 설명회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6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말레이시아 유학 설명회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영어와 중국어를 함께, 한국 비용의 절반으로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2026년 ____월 ____일 ____시   ·   장소 ____________   ·   주최 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오늘 말씀드릴 것</a:t>
            </a:r>
            <a:endParaRPr lang="en-US" sz="3400" dirty="0"/>
          </a:p>
        </p:txBody>
      </p:sp>
      <p:sp>
        <p:nvSpPr>
          <p:cNvPr id="3" name="agenda-0"/>
          <p:cNvSpPr/>
          <p:nvPr/>
        </p:nvSpPr>
        <p:spPr>
          <a:xfrm>
            <a:off x="685800" y="146304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84708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00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왜 말레이시아인가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장점과 단점을 함께</a:t>
            </a:r>
            <a:endParaRPr lang="en-US" sz="1300" dirty="0"/>
          </a:p>
        </p:txBody>
      </p:sp>
      <p:sp>
        <p:nvSpPr>
          <p:cNvPr id="8" name="agenda-1"/>
          <p:cNvSpPr/>
          <p:nvPr/>
        </p:nvSpPr>
        <p:spPr>
          <a:xfrm>
            <a:off x="6263640" y="146304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700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학교 종류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국제학교 · IB · 현지 사립</a:t>
            </a:r>
            <a:endParaRPr lang="en-US" sz="1300" dirty="0"/>
          </a:p>
        </p:txBody>
      </p:sp>
      <p:sp>
        <p:nvSpPr>
          <p:cNvPr id="13" name="agenda-2"/>
          <p:cNvSpPr/>
          <p:nvPr/>
        </p:nvSpPr>
        <p:spPr>
          <a:xfrm>
            <a:off x="685800" y="28803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26440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학년과 가는 시기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502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언제 보내는 것이 좋은가</a:t>
            </a:r>
            <a:endParaRPr lang="en-US" sz="1300" dirty="0"/>
          </a:p>
        </p:txBody>
      </p:sp>
      <p:sp>
        <p:nvSpPr>
          <p:cNvPr id="18" name="agenda-3"/>
          <p:cNvSpPr/>
          <p:nvPr/>
        </p:nvSpPr>
        <p:spPr>
          <a:xfrm>
            <a:off x="6263640" y="28803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26440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비용 구조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02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학비 외에 무엇이 더 드는가</a:t>
            </a:r>
            <a:endParaRPr lang="en-US" sz="1300" dirty="0"/>
          </a:p>
        </p:txBody>
      </p:sp>
      <p:sp>
        <p:nvSpPr>
          <p:cNvPr id="23" name="agenda-4"/>
          <p:cNvSpPr/>
          <p:nvPr/>
        </p:nvSpPr>
        <p:spPr>
          <a:xfrm>
            <a:off x="685800" y="429768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68172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35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비자와 준비 절차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194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D-4개월이 기준입니다</a:t>
            </a:r>
            <a:endParaRPr lang="en-US" sz="1300" dirty="0"/>
          </a:p>
        </p:txBody>
      </p:sp>
      <p:sp>
        <p:nvSpPr>
          <p:cNvPr id="28" name="agenda-5"/>
          <p:cNvSpPr/>
          <p:nvPr/>
        </p:nvSpPr>
        <p:spPr>
          <a:xfrm>
            <a:off x="6263640" y="429768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468172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535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상담 신청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9194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오늘 신청서를 받습니다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왜 말레이시아인가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다섯 가지 이유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영어 + 중국어를 함께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4447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수업은 영어, 생활에서 중국어와 말레이어를 듣습니다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67128"/>
            <a:ext cx="10698480" cy="0"/>
          </a:xfrm>
          <a:prstGeom prst="line">
            <a:avLst/>
          </a:prstGeom>
          <a:noFill/>
          <a:ln w="12700">
            <a:solidFill>
              <a:srgbClr val="D7D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4144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비용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591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같은 커리큘럼(IGCSE · A-Level · IB)을 더 적은 비용으로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081528"/>
            <a:ext cx="10698480" cy="0"/>
          </a:xfrm>
          <a:prstGeom prst="line">
            <a:avLst/>
          </a:prstGeom>
          <a:noFill/>
          <a:ln w="12700">
            <a:solidFill>
              <a:srgbClr val="D7D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55848"/>
            <a:ext cx="384048" cy="384048"/>
          </a:xfrm>
          <a:prstGeom prst="ellipse">
            <a:avLst/>
          </a:prstGeom>
          <a:solidFill>
            <a:srgbClr val="8A6A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해외 대학 분교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735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모나쉬(호주) · 노팅엄(영국) 본교 학위를 현지에서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995928"/>
            <a:ext cx="10698480" cy="0"/>
          </a:xfrm>
          <a:prstGeom prst="line">
            <a:avLst/>
          </a:prstGeom>
          <a:noFill/>
          <a:ln w="12700">
            <a:solidFill>
              <a:srgbClr val="D7DE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거리와 시차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187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직항 6시간 30분, 시차 1시간 — 부모가 자주 갈 수 있습니다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910328"/>
            <a:ext cx="10698480" cy="0"/>
          </a:xfrm>
          <a:prstGeom prst="line">
            <a:avLst/>
          </a:prstGeom>
          <a:noFill/>
          <a:ln w="12700">
            <a:solidFill>
              <a:srgbClr val="D7DE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184648"/>
            <a:ext cx="384048" cy="384048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074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F"/>
                </a:solidFill>
              </a:rPr>
              <a:t>생활 환경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51023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한인 커뮤니티 · 한국 식료품 · 의료 인프라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숫자로 보는 말레이시아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685800" y="17373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EAF0EE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457"/>
                </a:solidFill>
              </a:rPr>
              <a:t>6시간 30분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인천 → 쿠알라룸푸르 직항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3474720" y="17373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457"/>
                </a:solidFill>
              </a:rPr>
              <a:t>1시간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한국과의 시차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6263640" y="17373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457"/>
                </a:solidFill>
              </a:rPr>
              <a:t>3개 언어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영어 · 중국어 · 말레이어 환경</a:t>
            </a:r>
            <a:endParaRPr lang="en-US" sz="1300" dirty="0"/>
          </a:p>
        </p:txBody>
      </p:sp>
      <p:sp>
        <p:nvSpPr>
          <p:cNvPr id="12" name="stat-3"/>
          <p:cNvSpPr/>
          <p:nvPr/>
        </p:nvSpPr>
        <p:spPr>
          <a:xfrm>
            <a:off x="9052560" y="17373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457"/>
                </a:solidFill>
              </a:rPr>
              <a:t>2곳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모나쉬 · 노팅엄 분교</a:t>
            </a:r>
            <a:endParaRPr lang="en-US" sz="1300" dirty="0"/>
          </a:p>
        </p:txBody>
      </p:sp>
      <p:sp>
        <p:nvSpPr>
          <p:cNvPr id="15" name="stat-note"/>
          <p:cNvSpPr/>
          <p:nvPr/>
        </p:nvSpPr>
        <p:spPr>
          <a:xfrm>
            <a:off x="685800" y="4343400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617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457"/>
                </a:solidFill>
              </a:rPr>
              <a:t>부모가 주말에 다녀올 수 있는 거리입니다. 이것이 미국 · 캐나다 유학과 가장 다른 점입니다.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솔직하게 말씀드릴 것</a:t>
            </a:r>
            <a:endParaRPr lang="en-US" sz="3400" dirty="0"/>
          </a:p>
        </p:txBody>
      </p:sp>
      <p:sp>
        <p:nvSpPr>
          <p:cNvPr id="3" name="honest-0"/>
          <p:cNvSpPr/>
          <p:nvPr/>
        </p:nvSpPr>
        <p:spPr>
          <a:xfrm>
            <a:off x="685800" y="160020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029968"/>
            <a:ext cx="365760" cy="365760"/>
          </a:xfrm>
          <a:prstGeom prst="ellipse">
            <a:avLst/>
          </a:prstGeom>
          <a:solidFill>
            <a:srgbClr val="9E3F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288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F"/>
                </a:solidFill>
              </a:rPr>
              <a:t>영어 원어민 국가가 아닙니다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585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학교 밖에서는 말레이어 · 중국어가 더 많이 들립니다</a:t>
            </a:r>
            <a:endParaRPr lang="en-US" sz="1400" dirty="0"/>
          </a:p>
        </p:txBody>
      </p:sp>
      <p:sp>
        <p:nvSpPr>
          <p:cNvPr id="8" name="honest-1"/>
          <p:cNvSpPr/>
          <p:nvPr/>
        </p:nvSpPr>
        <p:spPr>
          <a:xfrm>
            <a:off x="685800" y="306324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493008"/>
            <a:ext cx="365760" cy="365760"/>
          </a:xfrm>
          <a:prstGeom prst="ellipse">
            <a:avLst/>
          </a:prstGeom>
          <a:solidFill>
            <a:srgbClr val="9E3F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918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F"/>
                </a:solidFill>
              </a:rPr>
              <a:t>학교 편차가 큽니다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7216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“말레이시아 유학”이 아니라 “어느 학교냐”가 전부입니다</a:t>
            </a:r>
            <a:endParaRPr lang="en-US" sz="1400" dirty="0"/>
          </a:p>
        </p:txBody>
      </p:sp>
      <p:sp>
        <p:nvSpPr>
          <p:cNvPr id="13" name="honest-2"/>
          <p:cNvSpPr/>
          <p:nvPr/>
        </p:nvSpPr>
        <p:spPr>
          <a:xfrm>
            <a:off x="685800" y="452628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956048"/>
            <a:ext cx="365760" cy="365760"/>
          </a:xfrm>
          <a:prstGeom prst="ellipse">
            <a:avLst/>
          </a:prstGeom>
          <a:solidFill>
            <a:srgbClr val="9E3F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754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F"/>
                </a:solidFill>
              </a:rPr>
              <a:t>한국 학적은 가정마다 다릅니다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1846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교육청과 재학 학교에 직접 확인하셔야 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학교 종류와 가는 시기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학교는 네 가지로 나뉩니다</a:t>
            </a:r>
            <a:endParaRPr lang="en-US" sz="3400" dirty="0"/>
          </a:p>
        </p:txBody>
      </p:sp>
      <p:sp>
        <p:nvSpPr>
          <p:cNvPr id="3" name="school-0"/>
          <p:cNvSpPr/>
          <p:nvPr/>
        </p:nvSpPr>
        <p:spPr>
          <a:xfrm>
            <a:off x="685800" y="146304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457"/>
                </a:solidFill>
              </a:rPr>
              <a:t>영국식 국제학교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762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1F"/>
                </a:solidFill>
              </a:rPr>
              <a:t>IGCSE → A-Level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786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학교 수가 가장 많고 선택지가 넓다</a:t>
            </a:r>
            <a:endParaRPr lang="en-US" sz="1300" dirty="0"/>
          </a:p>
        </p:txBody>
      </p:sp>
      <p:sp>
        <p:nvSpPr>
          <p:cNvPr id="7" name="school-1"/>
          <p:cNvSpPr/>
          <p:nvPr/>
        </p:nvSpPr>
        <p:spPr>
          <a:xfrm>
            <a:off x="6263640" y="146304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</a:rPr>
              <a:t>미국식 국제학교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762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1F"/>
                </a:solidFill>
              </a:rPr>
              <a:t>AP · 미국 고교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786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미국 대학 목표에 유리</a:t>
            </a:r>
            <a:endParaRPr lang="en-US" sz="1300" dirty="0"/>
          </a:p>
        </p:txBody>
      </p:sp>
      <p:sp>
        <p:nvSpPr>
          <p:cNvPr id="11" name="school-2"/>
          <p:cNvSpPr/>
          <p:nvPr/>
        </p:nvSpPr>
        <p:spPr>
          <a:xfrm>
            <a:off x="685800" y="361188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8A6A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A1E"/>
                </a:solidFill>
              </a:rPr>
              <a:t>IB 학교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325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1F"/>
                </a:solidFill>
              </a:rPr>
              <a:t>IB Diploma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7274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학비가 높고 학업 강도가 세다</a:t>
            </a:r>
            <a:endParaRPr lang="en-US" sz="1300" dirty="0"/>
          </a:p>
        </p:txBody>
      </p:sp>
      <p:sp>
        <p:nvSpPr>
          <p:cNvPr id="15" name="school-3"/>
          <p:cNvSpPr/>
          <p:nvPr/>
        </p:nvSpPr>
        <p:spPr>
          <a:xfrm>
            <a:off x="6263640" y="361188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6675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756F"/>
                </a:solidFill>
              </a:rPr>
              <a:t>현지 사립학교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25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1F"/>
                </a:solidFill>
              </a:rPr>
              <a:t>말레이시아 과정 + 영어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7274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6F"/>
                </a:solidFill>
              </a:rPr>
              <a:t>학비가 낮다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학교를 고를 때 보는 것 — 한국 학생 비율 · ESL 프로그램 · 학급당 인원 · 최근 3년 진학 실적 · 통학 거리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학년 매칭과 가는 시기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영국식 (Year)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미국식 (Grade)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 1~3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2~4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1~3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 4~6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5~7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4~6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입학 적기 구간 시작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중학 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중학 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IGCSE 직전 — 늦어도 이때까지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중학 3 ~ 고등 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10~11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9~10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IGCSE 과정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고등 2~3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Year 12~13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 11~12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A-Level 과정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year-note"/>
          <p:cNvSpPr/>
          <p:nvPr/>
        </p:nvSpPr>
        <p:spPr>
          <a:xfrm>
            <a:off x="685800" y="466344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4846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한국 학년을 그대로 가져가지 않습니다. </a:t>
            </a:r>
            <a:pPr indent="0" marL="0">
              <a:buNone/>
            </a:pPr>
            <a:r>
              <a:rPr lang="en-US" sz="1500" dirty="0">
                <a:solidFill>
                  <a:srgbClr val="66756F"/>
                </a:solidFill>
              </a:rPr>
              <a:t>학교가 영어 수준을 보고 한 학년 아래로 배정하는 경우가 흔합니다.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52303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457"/>
                </a:solidFill>
              </a:rPr>
              <a:t>가장 권하는 시기 — 중학 1~2학년. IGCSE 시작 전 2년의 준비 기간이 생깁니다.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비용 구조와 비자 절차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학비 외에 무엇이 더 드는가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범위 (RM)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금액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학비 — 보급형 / 중급 / 프리미엄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20,000 ~ 130,000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입학금 (환급 없음)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 ~ 20,000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교복 · 교재 · 활동비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 ~ 6,000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통학버스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~ 6,000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주거 (콘도 2~3룸)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2,500 ~ 5,000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생활비 (보호자 1 + 학생 1)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~ 5,000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 · 비자 · 항공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가정별 상이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st-warn"/>
          <p:cNvSpPr/>
          <p:nvPr/>
        </p:nvSpPr>
        <p:spPr>
          <a:xfrm>
            <a:off x="685800" y="48463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5074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3F23"/>
                </a:solidFill>
              </a:rPr>
              <a:t>위 금액은 공개 자료 기준의 일반 범위입니다. </a:t>
            </a:r>
            <a:pPr indent="0" marL="0">
              <a:buNone/>
            </a:pPr>
            <a:r>
              <a:rPr lang="en-US" sz="1450" dirty="0">
                <a:solidFill>
                  <a:srgbClr val="16221F"/>
                </a:solidFill>
              </a:rPr>
              <a:t>오늘 안내드리는 학교의 공식 자료 기준 금액은 자료집 5쪽에 적어 드립니다.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학생비자는 학교가 대행합니다</a:t>
            </a:r>
            <a:endParaRPr lang="en-US" sz="3400" dirty="0"/>
          </a:p>
        </p:txBody>
      </p:sp>
      <p:sp>
        <p:nvSpPr>
          <p:cNvPr id="3" name="visa-0"/>
          <p:cNvSpPr/>
          <p:nvPr/>
        </p:nvSpPr>
        <p:spPr>
          <a:xfrm>
            <a:off x="685800" y="16002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학교 지원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입학 허가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2~4주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52344" y="2606040"/>
            <a:ext cx="146304" cy="274320"/>
          </a:xfrm>
          <a:prstGeom prst="rightArrow">
            <a:avLst/>
          </a:prstGeom>
          <a:solidFill>
            <a:srgbClr val="0F6457"/>
          </a:solidFill>
          <a:ln/>
        </p:spPr>
      </p:sp>
      <p:sp>
        <p:nvSpPr>
          <p:cNvPr id="8" name="visa-1"/>
          <p:cNvSpPr/>
          <p:nvPr/>
        </p:nvSpPr>
        <p:spPr>
          <a:xfrm>
            <a:off x="2916936" y="16002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45536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45536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EMGS 신청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45536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학교 대행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접수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2606040"/>
            <a:ext cx="146304" cy="274320"/>
          </a:xfrm>
          <a:prstGeom prst="rightArrow">
            <a:avLst/>
          </a:prstGeom>
          <a:solidFill>
            <a:srgbClr val="0F6457"/>
          </a:solidFill>
          <a:ln/>
        </p:spPr>
      </p:sp>
      <p:sp>
        <p:nvSpPr>
          <p:cNvPr id="13" name="visa-2"/>
          <p:cNvSpPr/>
          <p:nvPr/>
        </p:nvSpPr>
        <p:spPr>
          <a:xfrm>
            <a:off x="5148072" y="16002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76672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서류 심사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건강검진 서류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4~8주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14616" y="2606040"/>
            <a:ext cx="146304" cy="274320"/>
          </a:xfrm>
          <a:prstGeom prst="rightArrow">
            <a:avLst/>
          </a:prstGeom>
          <a:solidFill>
            <a:srgbClr val="0F6457"/>
          </a:solidFill>
          <a:ln/>
        </p:spPr>
      </p:sp>
      <p:sp>
        <p:nvSpPr>
          <p:cNvPr id="18" name="visa-3"/>
          <p:cNvSpPr/>
          <p:nvPr/>
        </p:nvSpPr>
        <p:spPr>
          <a:xfrm>
            <a:off x="7379208" y="16002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AF0EE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07808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07808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VAL 발급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07808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비자 승인서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승인 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45752" y="2606040"/>
            <a:ext cx="146304" cy="274320"/>
          </a:xfrm>
          <a:prstGeom prst="rightArrow">
            <a:avLst/>
          </a:prstGeom>
          <a:solidFill>
            <a:srgbClr val="0F6457"/>
          </a:solidFill>
          <a:ln/>
        </p:spPr>
      </p:sp>
      <p:sp>
        <p:nvSpPr>
          <p:cNvPr id="23" name="visa-4"/>
          <p:cNvSpPr/>
          <p:nvPr/>
        </p:nvSpPr>
        <p:spPr>
          <a:xfrm>
            <a:off x="9610344" y="16002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38944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457"/>
                </a:solidFill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38944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입국 · 부착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38944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Student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6F"/>
                </a:solidFill>
              </a:rPr>
              <a:t>2~4주</a:t>
            </a:r>
            <a:endParaRPr lang="en-US" sz="1200" dirty="0"/>
          </a:p>
        </p:txBody>
      </p:sp>
      <p:sp>
        <p:nvSpPr>
          <p:cNvPr id="27" name="visa-warn"/>
          <p:cNvSpPr/>
          <p:nvPr/>
        </p:nvSpPr>
        <p:spPr>
          <a:xfrm>
            <a:off x="685800" y="4206240"/>
            <a:ext cx="107899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F23"/>
                </a:solidFill>
              </a:rPr>
              <a:t>가장 흔한 실수 — 비자 신청을 늦게 시작합니다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1F"/>
                </a:solidFill>
              </a:rPr>
              <a:t>학기 시작에 못 맞춰 한 학기를 늦추는 경우가 매년 나옵니다. 입학 희망일 4~6개월 전에 시작하십시오.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21F"/>
                </a:solidFill>
              </a:rPr>
              <a:t>미성년자의 보호자 · 가디언 요건은 학교와 이민국 기준이 다를 수 있어 개별 확인이 필요합니다.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준비 일정과 저희가 하는 일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준비는 6개월 전부터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417320" y="1600200"/>
            <a:ext cx="0" cy="4023360"/>
          </a:xfrm>
          <a:prstGeom prst="line">
            <a:avLst/>
          </a:prstGeom>
          <a:noFill/>
          <a:ln w="25400">
            <a:solidFill>
              <a:srgbClr val="D7DE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2728" y="1554480"/>
            <a:ext cx="329184" cy="329184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30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D-6개월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490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학교 후보 3~5곳 선정 · 공식 학비표 받기 · 가족 회의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52728" y="2267712"/>
            <a:ext cx="329184" cy="329184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3080" y="21762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D-5개월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20370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현지 학교 탐방 (3박4일) · 영문 서류 준비 시작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52728" y="2980944"/>
            <a:ext cx="329184" cy="329184"/>
          </a:xfrm>
          <a:prstGeom prst="ellipse">
            <a:avLst/>
          </a:prstGeom>
          <a:solidFill>
            <a:srgbClr val="9E3F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83080" y="2889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F23"/>
                </a:solidFill>
              </a:rPr>
              <a:t>D-4개월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91693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학교 지원 · 레벨 테스트 · 입학 허가 · 학생비자 신청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52728" y="3694176"/>
            <a:ext cx="329184" cy="329184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83080" y="36027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D-3개월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6301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주거 탐색 · 건강검진 · 예방접종 기록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4407408"/>
            <a:ext cx="329184" cy="329184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783080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D-2개월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343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보험 · 항공 · 한국 학교 처리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52728" y="5120640"/>
            <a:ext cx="329184" cy="329184"/>
          </a:xfrm>
          <a:prstGeom prst="ellipse">
            <a:avLst/>
          </a:prstGeom>
          <a:solidFill>
            <a:srgbClr val="0F64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783080" y="5029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1F"/>
                </a:solidFill>
              </a:rPr>
              <a:t>D-1개월 ~ 출국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50566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6F"/>
                </a:solidFill>
              </a:rPr>
              <a:t>주거 계약 · 통신 · 은행 · 교복 · VAL 원본 지참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5806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3F23"/>
                </a:solidFill>
              </a:rPr>
              <a:t>붉은 점이 비자 신청 시점입니다 — 여기가 밀리면 전부 밀립니다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21F"/>
                </a:solidFill>
              </a:rPr>
              <a:t>저희가 하는 일</a:t>
            </a:r>
            <a:endParaRPr lang="en-US" sz="3400" dirty="0"/>
          </a:p>
        </p:txBody>
      </p:sp>
      <p:sp>
        <p:nvSpPr>
          <p:cNvPr id="3" name="svc-0"/>
          <p:cNvSpPr/>
          <p:nvPr/>
        </p:nvSpPr>
        <p:spPr>
          <a:xfrm>
            <a:off x="685800" y="1508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73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사전 상담</a:t>
            </a:r>
            <a:endParaRPr lang="en-US" sz="1500" dirty="0"/>
          </a:p>
        </p:txBody>
      </p:sp>
      <p:sp>
        <p:nvSpPr>
          <p:cNvPr id="6" name="svc-1"/>
          <p:cNvSpPr/>
          <p:nvPr/>
        </p:nvSpPr>
        <p:spPr>
          <a:xfrm>
            <a:off x="3474720" y="1508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AF0EE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673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학교 탐방 투어</a:t>
            </a:r>
            <a:endParaRPr lang="en-US" sz="1500" dirty="0"/>
          </a:p>
        </p:txBody>
      </p:sp>
      <p:sp>
        <p:nvSpPr>
          <p:cNvPr id="9" name="svc-2"/>
          <p:cNvSpPr/>
          <p:nvPr/>
        </p:nvSpPr>
        <p:spPr>
          <a:xfrm>
            <a:off x="6263640" y="1508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73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입학 상담 동행</a:t>
            </a:r>
            <a:endParaRPr lang="en-US" sz="1500" dirty="0"/>
          </a:p>
        </p:txBody>
      </p:sp>
      <p:sp>
        <p:nvSpPr>
          <p:cNvPr id="12" name="svc-3"/>
          <p:cNvSpPr/>
          <p:nvPr/>
        </p:nvSpPr>
        <p:spPr>
          <a:xfrm>
            <a:off x="9052560" y="1508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73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서류 지원</a:t>
            </a:r>
            <a:endParaRPr lang="en-US" sz="1500" dirty="0"/>
          </a:p>
        </p:txBody>
      </p:sp>
      <p:sp>
        <p:nvSpPr>
          <p:cNvPr id="15" name="svc-4"/>
          <p:cNvSpPr/>
          <p:nvPr/>
        </p:nvSpPr>
        <p:spPr>
          <a:xfrm>
            <a:off x="685800" y="2880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AF0EE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학생비자 동행</a:t>
            </a:r>
            <a:endParaRPr lang="en-US" sz="1500" dirty="0"/>
          </a:p>
        </p:txBody>
      </p:sp>
      <p:sp>
        <p:nvSpPr>
          <p:cNvPr id="18" name="svc-5"/>
          <p:cNvSpPr/>
          <p:nvPr/>
        </p:nvSpPr>
        <p:spPr>
          <a:xfrm>
            <a:off x="3474720" y="2880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정착 지원</a:t>
            </a:r>
            <a:endParaRPr lang="en-US" sz="1500" dirty="0"/>
          </a:p>
        </p:txBody>
      </p:sp>
      <p:sp>
        <p:nvSpPr>
          <p:cNvPr id="21" name="svc-6"/>
          <p:cNvSpPr/>
          <p:nvPr/>
        </p:nvSpPr>
        <p:spPr>
          <a:xfrm>
            <a:off x="6263640" y="2880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F"/>
                </a:solidFill>
              </a:rPr>
              <a:t>사후 관리</a:t>
            </a:r>
            <a:endParaRPr lang="en-US" sz="1500" dirty="0"/>
          </a:p>
        </p:txBody>
      </p:sp>
      <p:sp>
        <p:nvSpPr>
          <p:cNvPr id="24" name="camp-note"/>
          <p:cNvSpPr/>
          <p:nvPr/>
        </p:nvSpPr>
        <p:spPr>
          <a:xfrm>
            <a:off x="685800" y="4343400"/>
            <a:ext cx="10789920" cy="1417320"/>
          </a:xfrm>
          <a:prstGeom prst="roundRect">
            <a:avLst>
              <a:gd name="adj" fmla="val 3871"/>
            </a:avLst>
          </a:prstGeom>
          <a:solidFill>
            <a:srgbClr val="EAF0EE"/>
          </a:solidFill>
          <a:ln w="12700">
            <a:solidFill>
              <a:srgbClr val="D7DE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572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457"/>
                </a:solidFill>
              </a:rPr>
              <a:t>먼저 경험해 보고 싶으시다면 — 방학 어학캠프 4주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029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1F"/>
                </a:solidFill>
              </a:rPr>
              <a:t>아이가 적응하는지, 가족이 감당할 수 있는지를 적은 비용으로 미리 확인할 수 있습니다.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21F"/>
                </a:solidFill>
              </a:rPr>
              <a:t>학교로부터 소개 수수료를 받는 경우 사전에 밝힙니다. 숨기지 않는 것이 저희 원칙입니다.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오늘 하실 일은 하나입니다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</a:rPr>
              <a:t>자료집 10쪽의 상담 신청서를 작성해 주십시오</a:t>
            </a:r>
            <a:endParaRPr lang="en-US" sz="2000" dirty="0"/>
          </a:p>
        </p:txBody>
      </p:sp>
      <p:sp>
        <p:nvSpPr>
          <p:cNvPr id="4" name="cta-0"/>
          <p:cNvSpPr/>
          <p:nvPr/>
        </p:nvSpPr>
        <p:spPr>
          <a:xfrm>
            <a:off x="822960" y="356616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457"/>
                </a:solidFill>
              </a:rPr>
              <a:t>개별 상담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56F"/>
                </a:solidFill>
              </a:rPr>
              <a:t>전화 · 온라인 · 현지 방문</a:t>
            </a:r>
            <a:endParaRPr lang="en-US" sz="1250" dirty="0"/>
          </a:p>
        </p:txBody>
      </p:sp>
      <p:sp>
        <p:nvSpPr>
          <p:cNvPr id="7" name="cta-1"/>
          <p:cNvSpPr/>
          <p:nvPr/>
        </p:nvSpPr>
        <p:spPr>
          <a:xfrm>
            <a:off x="4389120" y="356616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457"/>
                </a:solidFill>
              </a:rPr>
              <a:t>학교 탐방 투어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56F"/>
                </a:solidFill>
              </a:rPr>
              <a:t>____월 ____일 출발 · 정원 ____가족</a:t>
            </a:r>
            <a:endParaRPr lang="en-US" sz="1250" dirty="0"/>
          </a:p>
        </p:txBody>
      </p:sp>
      <p:sp>
        <p:nvSpPr>
          <p:cNvPr id="10" name="cta-2"/>
          <p:cNvSpPr/>
          <p:nvPr/>
        </p:nvSpPr>
        <p:spPr>
          <a:xfrm>
            <a:off x="7955280" y="356616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457"/>
                </a:solidFill>
              </a:rPr>
              <a:t>어학캠프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56F"/>
                </a:solidFill>
              </a:rPr>
              <a:t>방학 4주 · 먼저 경험해 보기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</a:rPr>
              <a:t>문의 ______________   ·   ______________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Malaysia">
  <a:themeElements>
    <a:clrScheme name="Study Malaysia">
      <a:dk1>
        <a:srgbClr val="16221F"/>
      </a:dk1>
      <a:lt1>
        <a:srgbClr val="FFFFFF"/>
      </a:lt1>
      <a:dk2>
        <a:srgbClr val="0F6457"/>
      </a:dk2>
      <a:lt2>
        <a:srgbClr val="EAF0EE"/>
      </a:lt2>
      <a:accent1>
        <a:srgbClr val="0F6457"/>
      </a:accent1>
      <a:accent2>
        <a:srgbClr val="8A6A1E"/>
      </a:accent2>
      <a:accent3>
        <a:srgbClr val="1B3A6B"/>
      </a:accent3>
      <a:accent4>
        <a:srgbClr val="45B49E"/>
      </a:accent4>
      <a:accent5>
        <a:srgbClr val="9E3F23"/>
      </a:accent5>
      <a:accent6>
        <a:srgbClr val="66756F"/>
      </a:accent6>
      <a:hlink>
        <a:srgbClr val="0F6457"/>
      </a:hlink>
      <a:folHlink>
        <a:srgbClr val="66756F"/>
      </a:folHlink>
    </a:clrScheme>
    <a:fontScheme name="Study Malaysi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유학 설명회</dc:title>
  <dc:subject>PptxGenJS Presentation</dc:subject>
  <dc:creator>유학지원센터</dc:creator>
  <cp:lastModifiedBy>유학지원센터</cp:lastModifiedBy>
  <cp:revision>1</cp:revision>
  <dcterms:created xsi:type="dcterms:W3CDTF">2026-10-05T09:44:16Z</dcterms:created>
  <dcterms:modified xsi:type="dcterms:W3CDTF">2026-10-05T09:44:16Z</dcterms:modified>
</cp:coreProperties>
</file>